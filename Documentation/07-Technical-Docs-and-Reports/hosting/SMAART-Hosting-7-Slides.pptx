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884"/>
        </a:solidFill>
      </p:bgPr>
    </p:bg>
    <p:spTree>
      <p:nvGrpSpPr>
        <p:cNvPr id="1" name=""/>
        <p:cNvGrpSpPr/>
        <p:nvPr/>
      </p:nvGrpSpPr>
      <p:grpSpPr>
        <a:xfrm>
          <a:off x="0" y="0"/>
          <a:ext cx="0" cy="0"/>
          <a:chOff x="0" y="0"/>
          <a:chExt cx="0" cy="0"/>
        </a:xfrm>
      </p:grpSpPr>
      <p:sp>
        <p:nvSpPr>
          <p:cNvPr id="2" name="Text 0"/>
          <p:cNvSpPr/>
          <p:nvPr/>
        </p:nvSpPr>
        <p:spPr>
          <a:xfrm>
            <a:off x="548640" y="914400"/>
            <a:ext cx="7315200" cy="320040"/>
          </a:xfrm>
          <a:prstGeom prst="rect">
            <a:avLst/>
          </a:prstGeom>
          <a:noFill/>
          <a:ln/>
        </p:spPr>
        <p:txBody>
          <a:bodyPr wrap="square" lIns="0" tIns="0" rIns="0" bIns="0" rtlCol="0" anchor="ctr"/>
          <a:lstStyle/>
          <a:p>
            <a:pPr indent="0" marL="0">
              <a:buNone/>
            </a:pPr>
            <a:r>
              <a:rPr lang="en-US" sz="1200" b="1" spc="300" kern="0" dirty="0">
                <a:solidFill>
                  <a:srgbClr val="8FD3D6"/>
                </a:solidFill>
                <a:latin typeface="Calibri" pitchFamily="34" charset="0"/>
                <a:ea typeface="Calibri" pitchFamily="34" charset="-122"/>
                <a:cs typeface="Calibri" pitchFamily="34" charset="-120"/>
              </a:rPr>
              <a:t>SMAART INSTITUTE · DEPLOYMENT · 22 AUGUST 2026</a:t>
            </a:r>
            <a:endParaRPr lang="en-US" sz="1200" dirty="0"/>
          </a:p>
        </p:txBody>
      </p:sp>
      <p:sp>
        <p:nvSpPr>
          <p:cNvPr id="3" name="Text 1"/>
          <p:cNvSpPr/>
          <p:nvPr/>
        </p:nvSpPr>
        <p:spPr>
          <a:xfrm>
            <a:off x="548640" y="1280160"/>
            <a:ext cx="804672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How we put the websites live</a:t>
            </a:r>
            <a:endParaRPr lang="en-US" sz="4000" dirty="0"/>
          </a:p>
        </p:txBody>
      </p:sp>
      <p:sp>
        <p:nvSpPr>
          <p:cNvPr id="4" name="Text 2"/>
          <p:cNvSpPr/>
          <p:nvPr/>
        </p:nvSpPr>
        <p:spPr>
          <a:xfrm>
            <a:off x="548640" y="2148840"/>
            <a:ext cx="7680960" cy="6400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End-to-end: what we had to do, the tools we used, the plan, what we did, and the proper way we deploy now.</a:t>
            </a:r>
            <a:endParaRPr lang="en-US" sz="1600" dirty="0"/>
          </a:p>
        </p:txBody>
      </p:sp>
      <p:sp>
        <p:nvSpPr>
          <p:cNvPr id="5" name="Shape 3"/>
          <p:cNvSpPr/>
          <p:nvPr/>
        </p:nvSpPr>
        <p:spPr>
          <a:xfrm>
            <a:off x="548640" y="3200400"/>
            <a:ext cx="1874520" cy="731520"/>
          </a:xfrm>
          <a:prstGeom prst="roundRect">
            <a:avLst>
              <a:gd name="adj" fmla="val 10000"/>
            </a:avLst>
          </a:prstGeom>
          <a:solidFill>
            <a:srgbClr val="25428F"/>
          </a:solidFill>
          <a:ln w="12700">
            <a:solidFill>
              <a:srgbClr val="3A5AAE"/>
            </a:solidFill>
            <a:prstDash val="solid"/>
          </a:ln>
        </p:spPr>
      </p:sp>
      <p:sp>
        <p:nvSpPr>
          <p:cNvPr id="6" name="Text 4"/>
          <p:cNvSpPr/>
          <p:nvPr/>
        </p:nvSpPr>
        <p:spPr>
          <a:xfrm>
            <a:off x="658368" y="3255264"/>
            <a:ext cx="1691640" cy="274320"/>
          </a:xfrm>
          <a:prstGeom prst="rect">
            <a:avLst/>
          </a:prstGeom>
          <a:noFill/>
          <a:ln/>
        </p:spPr>
        <p:txBody>
          <a:bodyPr wrap="square" lIns="0" tIns="0" rIns="0" bIns="0" rtlCol="0" anchor="ctr"/>
          <a:lstStyle/>
          <a:p>
            <a:pPr indent="0" marL="0">
              <a:buNone/>
            </a:pPr>
            <a:r>
              <a:rPr lang="en-US" sz="950" dirty="0">
                <a:solidFill>
                  <a:srgbClr val="8FD3D6"/>
                </a:solidFill>
                <a:latin typeface="Calibri" pitchFamily="34" charset="0"/>
                <a:ea typeface="Calibri" pitchFamily="34" charset="-122"/>
                <a:cs typeface="Calibri" pitchFamily="34" charset="-120"/>
              </a:rPr>
              <a:t>Student site</a:t>
            </a:r>
            <a:endParaRPr lang="en-US" sz="950" dirty="0"/>
          </a:p>
        </p:txBody>
      </p:sp>
      <p:sp>
        <p:nvSpPr>
          <p:cNvPr id="7" name="Text 5"/>
          <p:cNvSpPr/>
          <p:nvPr/>
        </p:nvSpPr>
        <p:spPr>
          <a:xfrm>
            <a:off x="658368" y="3493008"/>
            <a:ext cx="1691640" cy="3657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smaartinstitute.com</a:t>
            </a:r>
            <a:endParaRPr lang="en-US" sz="1150" dirty="0"/>
          </a:p>
        </p:txBody>
      </p:sp>
      <p:sp>
        <p:nvSpPr>
          <p:cNvPr id="8" name="Shape 6"/>
          <p:cNvSpPr/>
          <p:nvPr/>
        </p:nvSpPr>
        <p:spPr>
          <a:xfrm>
            <a:off x="2560320" y="3200400"/>
            <a:ext cx="1874520" cy="731520"/>
          </a:xfrm>
          <a:prstGeom prst="roundRect">
            <a:avLst>
              <a:gd name="adj" fmla="val 10000"/>
            </a:avLst>
          </a:prstGeom>
          <a:solidFill>
            <a:srgbClr val="25428F"/>
          </a:solidFill>
          <a:ln w="12700">
            <a:solidFill>
              <a:srgbClr val="3A5AAE"/>
            </a:solidFill>
            <a:prstDash val="solid"/>
          </a:ln>
        </p:spPr>
      </p:sp>
      <p:sp>
        <p:nvSpPr>
          <p:cNvPr id="9" name="Text 7"/>
          <p:cNvSpPr/>
          <p:nvPr/>
        </p:nvSpPr>
        <p:spPr>
          <a:xfrm>
            <a:off x="2670048" y="3255264"/>
            <a:ext cx="1691640" cy="274320"/>
          </a:xfrm>
          <a:prstGeom prst="rect">
            <a:avLst/>
          </a:prstGeom>
          <a:noFill/>
          <a:ln/>
        </p:spPr>
        <p:txBody>
          <a:bodyPr wrap="square" lIns="0" tIns="0" rIns="0" bIns="0" rtlCol="0" anchor="ctr"/>
          <a:lstStyle/>
          <a:p>
            <a:pPr indent="0" marL="0">
              <a:buNone/>
            </a:pPr>
            <a:r>
              <a:rPr lang="en-US" sz="950" dirty="0">
                <a:solidFill>
                  <a:srgbClr val="8FD3D6"/>
                </a:solidFill>
                <a:latin typeface="Calibri" pitchFamily="34" charset="0"/>
                <a:ea typeface="Calibri" pitchFamily="34" charset="-122"/>
                <a:cs typeface="Calibri" pitchFamily="34" charset="-120"/>
              </a:rPr>
              <a:t>Admin site</a:t>
            </a:r>
            <a:endParaRPr lang="en-US" sz="950" dirty="0"/>
          </a:p>
        </p:txBody>
      </p:sp>
      <p:sp>
        <p:nvSpPr>
          <p:cNvPr id="10" name="Text 8"/>
          <p:cNvSpPr/>
          <p:nvPr/>
        </p:nvSpPr>
        <p:spPr>
          <a:xfrm>
            <a:off x="2670048" y="3493008"/>
            <a:ext cx="1691640" cy="3657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admin.smaartinstitute.com</a:t>
            </a:r>
            <a:endParaRPr lang="en-US" sz="1150" dirty="0"/>
          </a:p>
        </p:txBody>
      </p:sp>
      <p:sp>
        <p:nvSpPr>
          <p:cNvPr id="11" name="Shape 9"/>
          <p:cNvSpPr/>
          <p:nvPr/>
        </p:nvSpPr>
        <p:spPr>
          <a:xfrm>
            <a:off x="4572000" y="3200400"/>
            <a:ext cx="1874520" cy="731520"/>
          </a:xfrm>
          <a:prstGeom prst="roundRect">
            <a:avLst>
              <a:gd name="adj" fmla="val 10000"/>
            </a:avLst>
          </a:prstGeom>
          <a:solidFill>
            <a:srgbClr val="25428F"/>
          </a:solidFill>
          <a:ln w="12700">
            <a:solidFill>
              <a:srgbClr val="3A5AAE"/>
            </a:solidFill>
            <a:prstDash val="solid"/>
          </a:ln>
        </p:spPr>
      </p:sp>
      <p:sp>
        <p:nvSpPr>
          <p:cNvPr id="12" name="Text 10"/>
          <p:cNvSpPr/>
          <p:nvPr/>
        </p:nvSpPr>
        <p:spPr>
          <a:xfrm>
            <a:off x="4681728" y="3255264"/>
            <a:ext cx="1691640" cy="274320"/>
          </a:xfrm>
          <a:prstGeom prst="rect">
            <a:avLst/>
          </a:prstGeom>
          <a:noFill/>
          <a:ln/>
        </p:spPr>
        <p:txBody>
          <a:bodyPr wrap="square" lIns="0" tIns="0" rIns="0" bIns="0" rtlCol="0" anchor="ctr"/>
          <a:lstStyle/>
          <a:p>
            <a:pPr indent="0" marL="0">
              <a:buNone/>
            </a:pPr>
            <a:r>
              <a:rPr lang="en-US" sz="950" dirty="0">
                <a:solidFill>
                  <a:srgbClr val="8FD3D6"/>
                </a:solidFill>
                <a:latin typeface="Calibri" pitchFamily="34" charset="0"/>
                <a:ea typeface="Calibri" pitchFamily="34" charset="-122"/>
                <a:cs typeface="Calibri" pitchFamily="34" charset="-120"/>
              </a:rPr>
              <a:t>Server</a:t>
            </a:r>
            <a:endParaRPr lang="en-US" sz="950" dirty="0"/>
          </a:p>
        </p:txBody>
      </p:sp>
      <p:sp>
        <p:nvSpPr>
          <p:cNvPr id="13" name="Text 11"/>
          <p:cNvSpPr/>
          <p:nvPr/>
        </p:nvSpPr>
        <p:spPr>
          <a:xfrm>
            <a:off x="4681728" y="3493008"/>
            <a:ext cx="1691640" cy="3657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AWS EC2 · Mumbai</a:t>
            </a:r>
            <a:endParaRPr lang="en-US" sz="1150" dirty="0"/>
          </a:p>
        </p:txBody>
      </p:sp>
      <p:sp>
        <p:nvSpPr>
          <p:cNvPr id="14" name="Shape 12"/>
          <p:cNvSpPr/>
          <p:nvPr/>
        </p:nvSpPr>
        <p:spPr>
          <a:xfrm>
            <a:off x="6583680" y="3200400"/>
            <a:ext cx="1874520" cy="731520"/>
          </a:xfrm>
          <a:prstGeom prst="roundRect">
            <a:avLst>
              <a:gd name="adj" fmla="val 10000"/>
            </a:avLst>
          </a:prstGeom>
          <a:solidFill>
            <a:srgbClr val="25428F"/>
          </a:solidFill>
          <a:ln w="12700">
            <a:solidFill>
              <a:srgbClr val="3A5AAE"/>
            </a:solidFill>
            <a:prstDash val="solid"/>
          </a:ln>
        </p:spPr>
      </p:sp>
      <p:sp>
        <p:nvSpPr>
          <p:cNvPr id="15" name="Text 13"/>
          <p:cNvSpPr/>
          <p:nvPr/>
        </p:nvSpPr>
        <p:spPr>
          <a:xfrm>
            <a:off x="6693408" y="3255264"/>
            <a:ext cx="1691640" cy="274320"/>
          </a:xfrm>
          <a:prstGeom prst="rect">
            <a:avLst/>
          </a:prstGeom>
          <a:noFill/>
          <a:ln/>
        </p:spPr>
        <p:txBody>
          <a:bodyPr wrap="square" lIns="0" tIns="0" rIns="0" bIns="0" rtlCol="0" anchor="ctr"/>
          <a:lstStyle/>
          <a:p>
            <a:pPr indent="0" marL="0">
              <a:buNone/>
            </a:pPr>
            <a:r>
              <a:rPr lang="en-US" sz="950" dirty="0">
                <a:solidFill>
                  <a:srgbClr val="8FD3D6"/>
                </a:solidFill>
                <a:latin typeface="Calibri" pitchFamily="34" charset="0"/>
                <a:ea typeface="Calibri" pitchFamily="34" charset="-122"/>
                <a:cs typeface="Calibri" pitchFamily="34" charset="-120"/>
              </a:rPr>
              <a:t>Status</a:t>
            </a:r>
            <a:endParaRPr lang="en-US" sz="950" dirty="0"/>
          </a:p>
        </p:txBody>
      </p:sp>
      <p:sp>
        <p:nvSpPr>
          <p:cNvPr id="16" name="Text 14"/>
          <p:cNvSpPr/>
          <p:nvPr/>
        </p:nvSpPr>
        <p:spPr>
          <a:xfrm>
            <a:off x="6693408" y="3493008"/>
            <a:ext cx="1691640" cy="3657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LIVE on HTTPS</a:t>
            </a:r>
            <a:endParaRPr lang="en-US" sz="1150" dirty="0"/>
          </a:p>
        </p:txBody>
      </p:sp>
      <p:sp>
        <p:nvSpPr>
          <p:cNvPr id="17" name="Text 15"/>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rgbClr val="A9B7DC"/>
                </a:solidFill>
                <a:latin typeface="Calibri" pitchFamily="34" charset="0"/>
                <a:ea typeface="Calibri" pitchFamily="34" charset="-122"/>
                <a:cs typeface="Calibri" pitchFamily="34" charset="-120"/>
              </a:rPr>
              <a:t>SMAART Institute · How we put it live</a:t>
            </a:r>
            <a:endParaRPr lang="en-US" sz="900" dirty="0"/>
          </a:p>
        </p:txBody>
      </p:sp>
      <p:sp>
        <p:nvSpPr>
          <p:cNvPr id="18" name="Text 16"/>
          <p:cNvSpPr/>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A9B7DC"/>
                </a:solidFill>
                <a:latin typeface="Calibri" pitchFamily="34" charset="0"/>
                <a:ea typeface="Calibri" pitchFamily="34" charset="-122"/>
                <a:cs typeface="Calibri" pitchFamily="34" charset="-120"/>
              </a:rPr>
              <a:t>1 / 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A3884"/>
                </a:solidFill>
                <a:latin typeface="Calibri" pitchFamily="34" charset="0"/>
                <a:ea typeface="Calibri" pitchFamily="34" charset="-122"/>
                <a:cs typeface="Calibri" pitchFamily="34" charset="-120"/>
              </a:rPr>
              <a:t>1. What we had to do</a:t>
            </a:r>
            <a:endParaRPr lang="en-US" sz="2800" dirty="0"/>
          </a:p>
        </p:txBody>
      </p:sp>
      <p:sp>
        <p:nvSpPr>
          <p:cNvPr id="3" name="Text 1"/>
          <p:cNvSpPr/>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782"/>
                </a:solidFill>
                <a:latin typeface="Calibri" pitchFamily="34" charset="0"/>
                <a:ea typeface="Calibri" pitchFamily="34" charset="-122"/>
                <a:cs typeface="Calibri" pitchFamily="34" charset="-120"/>
              </a:rPr>
              <a:t>Two separate websites, from two separate code repositories, on one server</a:t>
            </a:r>
            <a:endParaRPr lang="en-US" sz="1300" dirty="0"/>
          </a:p>
        </p:txBody>
      </p:sp>
      <p:sp>
        <p:nvSpPr>
          <p:cNvPr id="4" name="Shape 2"/>
          <p:cNvSpPr/>
          <p:nvPr/>
        </p:nvSpPr>
        <p:spPr>
          <a:xfrm>
            <a:off x="457200" y="1280160"/>
            <a:ext cx="3840480" cy="1005840"/>
          </a:xfrm>
          <a:prstGeom prst="roundRect">
            <a:avLst>
              <a:gd name="adj" fmla="val 7273"/>
            </a:avLst>
          </a:prstGeom>
          <a:solidFill>
            <a:srgbClr val="DFF2F2"/>
          </a:solidFill>
          <a:ln w="12700">
            <a:solidFill>
              <a:srgbClr val="DFF2F2"/>
            </a:solidFill>
            <a:prstDash val="solid"/>
          </a:ln>
        </p:spPr>
      </p:sp>
      <p:sp>
        <p:nvSpPr>
          <p:cNvPr id="5" name="Shape 3"/>
          <p:cNvSpPr/>
          <p:nvPr/>
        </p:nvSpPr>
        <p:spPr>
          <a:xfrm>
            <a:off x="594360" y="141732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08660" y="1531620"/>
            <a:ext cx="228600" cy="228600"/>
          </a:xfrm>
          <a:prstGeom prst="rect">
            <a:avLst/>
          </a:prstGeom>
        </p:spPr>
      </p:pic>
      <p:sp>
        <p:nvSpPr>
          <p:cNvPr id="7" name="Text 4"/>
          <p:cNvSpPr/>
          <p:nvPr/>
        </p:nvSpPr>
        <p:spPr>
          <a:xfrm>
            <a:off x="1188720" y="1371600"/>
            <a:ext cx="3017520" cy="274320"/>
          </a:xfrm>
          <a:prstGeom prst="rect">
            <a:avLst/>
          </a:prstGeom>
          <a:noFill/>
          <a:ln/>
        </p:spPr>
        <p:txBody>
          <a:bodyPr wrap="square" lIns="0" tIns="0" rIns="0" bIns="0" rtlCol="0" anchor="ctr"/>
          <a:lstStyle/>
          <a:p>
            <a:pPr indent="0" marL="0">
              <a:buNone/>
            </a:pPr>
            <a:r>
              <a:rPr lang="en-US" sz="1300" b="1" dirty="0">
                <a:solidFill>
                  <a:srgbClr val="0F1B33"/>
                </a:solidFill>
                <a:latin typeface="Calibri" pitchFamily="34" charset="0"/>
                <a:ea typeface="Calibri" pitchFamily="34" charset="-122"/>
                <a:cs typeface="Calibri" pitchFamily="34" charset="-120"/>
              </a:rPr>
              <a:t>Student dashboard</a:t>
            </a:r>
            <a:endParaRPr lang="en-US" sz="1300" dirty="0"/>
          </a:p>
        </p:txBody>
      </p:sp>
      <p:sp>
        <p:nvSpPr>
          <p:cNvPr id="8" name="Text 5"/>
          <p:cNvSpPr/>
          <p:nvPr/>
        </p:nvSpPr>
        <p:spPr>
          <a:xfrm>
            <a:off x="1188720" y="1627632"/>
            <a:ext cx="3017520" cy="256032"/>
          </a:xfrm>
          <a:prstGeom prst="rect">
            <a:avLst/>
          </a:prstGeom>
          <a:noFill/>
          <a:ln/>
        </p:spPr>
        <p:txBody>
          <a:bodyPr wrap="square" lIns="0" tIns="0" rIns="0" bIns="0" rtlCol="0" anchor="ctr"/>
          <a:lstStyle/>
          <a:p>
            <a:pPr indent="0" marL="0">
              <a:buNone/>
            </a:pPr>
            <a:r>
              <a:rPr lang="en-US" sz="1050" dirty="0">
                <a:solidFill>
                  <a:srgbClr val="0B7A80"/>
                </a:solidFill>
                <a:latin typeface="Consolas" pitchFamily="34" charset="0"/>
                <a:ea typeface="Consolas" pitchFamily="34" charset="-122"/>
                <a:cs typeface="Consolas" pitchFamily="34" charset="-120"/>
              </a:rPr>
              <a:t>smaartinstitute.com</a:t>
            </a:r>
            <a:endParaRPr lang="en-US" sz="1050" dirty="0"/>
          </a:p>
        </p:txBody>
      </p:sp>
      <p:sp>
        <p:nvSpPr>
          <p:cNvPr id="9" name="Text 6"/>
          <p:cNvSpPr/>
          <p:nvPr/>
        </p:nvSpPr>
        <p:spPr>
          <a:xfrm>
            <a:off x="1188720" y="1883664"/>
            <a:ext cx="3017520" cy="365760"/>
          </a:xfrm>
          <a:prstGeom prst="rect">
            <a:avLst/>
          </a:prstGeom>
          <a:noFill/>
          <a:ln/>
        </p:spPr>
        <p:txBody>
          <a:bodyPr wrap="square" lIns="0" tIns="0" rIns="0" bIns="0" rtlCol="0" anchor="t"/>
          <a:lstStyle/>
          <a:p>
            <a:pPr indent="0" marL="0">
              <a:buNone/>
            </a:pPr>
            <a:r>
              <a:rPr lang="en-US" sz="1000" dirty="0">
                <a:solidFill>
                  <a:srgbClr val="5A6782"/>
                </a:solidFill>
                <a:latin typeface="Calibri" pitchFamily="34" charset="0"/>
                <a:ea typeface="Calibri" pitchFamily="34" charset="-122"/>
                <a:cs typeface="Calibri" pitchFamily="34" charset="-120"/>
              </a:rPr>
              <a:t>Vite + React frontend · Express backend (port 5000)</a:t>
            </a:r>
            <a:endParaRPr lang="en-US" sz="1000" dirty="0"/>
          </a:p>
        </p:txBody>
      </p:sp>
      <p:sp>
        <p:nvSpPr>
          <p:cNvPr id="10" name="Shape 7"/>
          <p:cNvSpPr/>
          <p:nvPr/>
        </p:nvSpPr>
        <p:spPr>
          <a:xfrm>
            <a:off x="457200" y="2423160"/>
            <a:ext cx="3840480" cy="1005840"/>
          </a:xfrm>
          <a:prstGeom prst="roundRect">
            <a:avLst>
              <a:gd name="adj" fmla="val 7273"/>
            </a:avLst>
          </a:prstGeom>
          <a:solidFill>
            <a:srgbClr val="E7ECF8"/>
          </a:solidFill>
          <a:ln w="12700">
            <a:solidFill>
              <a:srgbClr val="E7ECF8"/>
            </a:solidFill>
            <a:prstDash val="solid"/>
          </a:ln>
        </p:spPr>
      </p:sp>
      <p:sp>
        <p:nvSpPr>
          <p:cNvPr id="11" name="Shape 8"/>
          <p:cNvSpPr/>
          <p:nvPr/>
        </p:nvSpPr>
        <p:spPr>
          <a:xfrm>
            <a:off x="594360" y="2560320"/>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708660" y="2674620"/>
            <a:ext cx="228600" cy="228600"/>
          </a:xfrm>
          <a:prstGeom prst="rect">
            <a:avLst/>
          </a:prstGeom>
        </p:spPr>
      </p:pic>
      <p:sp>
        <p:nvSpPr>
          <p:cNvPr id="13" name="Text 9"/>
          <p:cNvSpPr/>
          <p:nvPr/>
        </p:nvSpPr>
        <p:spPr>
          <a:xfrm>
            <a:off x="1188720" y="2514600"/>
            <a:ext cx="3017520" cy="274320"/>
          </a:xfrm>
          <a:prstGeom prst="rect">
            <a:avLst/>
          </a:prstGeom>
          <a:noFill/>
          <a:ln/>
        </p:spPr>
        <p:txBody>
          <a:bodyPr wrap="square" lIns="0" tIns="0" rIns="0" bIns="0" rtlCol="0" anchor="ctr"/>
          <a:lstStyle/>
          <a:p>
            <a:pPr indent="0" marL="0">
              <a:buNone/>
            </a:pPr>
            <a:r>
              <a:rPr lang="en-US" sz="1300" b="1" dirty="0">
                <a:solidFill>
                  <a:srgbClr val="0F1B33"/>
                </a:solidFill>
                <a:latin typeface="Calibri" pitchFamily="34" charset="0"/>
                <a:ea typeface="Calibri" pitchFamily="34" charset="-122"/>
                <a:cs typeface="Calibri" pitchFamily="34" charset="-120"/>
              </a:rPr>
              <a:t>Admin panel</a:t>
            </a:r>
            <a:endParaRPr lang="en-US" sz="1300" dirty="0"/>
          </a:p>
        </p:txBody>
      </p:sp>
      <p:sp>
        <p:nvSpPr>
          <p:cNvPr id="14" name="Text 10"/>
          <p:cNvSpPr/>
          <p:nvPr/>
        </p:nvSpPr>
        <p:spPr>
          <a:xfrm>
            <a:off x="1188720" y="2770632"/>
            <a:ext cx="3017520" cy="256032"/>
          </a:xfrm>
          <a:prstGeom prst="rect">
            <a:avLst/>
          </a:prstGeom>
          <a:noFill/>
          <a:ln/>
        </p:spPr>
        <p:txBody>
          <a:bodyPr wrap="square" lIns="0" tIns="0" rIns="0" bIns="0" rtlCol="0" anchor="ctr"/>
          <a:lstStyle/>
          <a:p>
            <a:pPr indent="0" marL="0">
              <a:buNone/>
            </a:pPr>
            <a:r>
              <a:rPr lang="en-US" sz="1050" dirty="0">
                <a:solidFill>
                  <a:srgbClr val="1A3884"/>
                </a:solidFill>
                <a:latin typeface="Consolas" pitchFamily="34" charset="0"/>
                <a:ea typeface="Consolas" pitchFamily="34" charset="-122"/>
                <a:cs typeface="Consolas" pitchFamily="34" charset="-120"/>
              </a:rPr>
              <a:t>admin.smaartinstitute.com</a:t>
            </a:r>
            <a:endParaRPr lang="en-US" sz="1050" dirty="0"/>
          </a:p>
        </p:txBody>
      </p:sp>
      <p:sp>
        <p:nvSpPr>
          <p:cNvPr id="15" name="Text 11"/>
          <p:cNvSpPr/>
          <p:nvPr/>
        </p:nvSpPr>
        <p:spPr>
          <a:xfrm>
            <a:off x="1188720" y="3026664"/>
            <a:ext cx="3017520" cy="365760"/>
          </a:xfrm>
          <a:prstGeom prst="rect">
            <a:avLst/>
          </a:prstGeom>
          <a:noFill/>
          <a:ln/>
        </p:spPr>
        <p:txBody>
          <a:bodyPr wrap="square" lIns="0" tIns="0" rIns="0" bIns="0" rtlCol="0" anchor="t"/>
          <a:lstStyle/>
          <a:p>
            <a:pPr indent="0" marL="0">
              <a:buNone/>
            </a:pPr>
            <a:r>
              <a:rPr lang="en-US" sz="1000" dirty="0">
                <a:solidFill>
                  <a:srgbClr val="5A6782"/>
                </a:solidFill>
                <a:latin typeface="Calibri" pitchFamily="34" charset="0"/>
                <a:ea typeface="Calibri" pitchFamily="34" charset="-122"/>
                <a:cs typeface="Calibri" pitchFamily="34" charset="-120"/>
              </a:rPr>
              <a:t>Create React App frontend · Express backend (port 5001)</a:t>
            </a:r>
            <a:endParaRPr lang="en-US" sz="1000" dirty="0"/>
          </a:p>
        </p:txBody>
      </p:sp>
      <p:sp>
        <p:nvSpPr>
          <p:cNvPr id="16" name="Text 12"/>
          <p:cNvSpPr/>
          <p:nvPr/>
        </p:nvSpPr>
        <p:spPr>
          <a:xfrm>
            <a:off x="457200" y="3611880"/>
            <a:ext cx="3840480" cy="274320"/>
          </a:xfrm>
          <a:prstGeom prst="rect">
            <a:avLst/>
          </a:prstGeom>
          <a:noFill/>
          <a:ln/>
        </p:spPr>
        <p:txBody>
          <a:bodyPr wrap="square" lIns="0" tIns="0" rIns="0" bIns="0" rtlCol="0" anchor="ctr"/>
          <a:lstStyle/>
          <a:p>
            <a:pPr indent="0" marL="0">
              <a:buNone/>
            </a:pPr>
            <a:r>
              <a:rPr lang="en-US" sz="1050" i="1" dirty="0">
                <a:solidFill>
                  <a:srgbClr val="5A6782"/>
                </a:solidFill>
                <a:latin typeface="Calibri" pitchFamily="34" charset="0"/>
                <a:ea typeface="Calibri" pitchFamily="34" charset="-122"/>
                <a:cs typeface="Calibri" pitchFamily="34" charset="-120"/>
              </a:rPr>
              <a:t>Both share one MongoDB Atlas database in the cloud.</a:t>
            </a:r>
            <a:endParaRPr lang="en-US" sz="1050" dirty="0"/>
          </a:p>
        </p:txBody>
      </p:sp>
      <p:pic>
        <p:nvPicPr>
          <p:cNvPr id="17" name="Image 2" descr="problem.png">    </p:cNvPr>
          <p:cNvPicPr>
            <a:picLocks noChangeAspect="1"/>
          </p:cNvPicPr>
          <p:nvPr/>
        </p:nvPicPr>
        <p:blipFill>
          <a:blip r:embed="rId3"/>
          <a:stretch>
            <a:fillRect/>
          </a:stretch>
        </p:blipFill>
        <p:spPr>
          <a:xfrm>
            <a:off x="4572000" y="1280160"/>
            <a:ext cx="4114800" cy="1179576"/>
          </a:xfrm>
          <a:prstGeom prst="rect">
            <a:avLst/>
          </a:prstGeom>
        </p:spPr>
      </p:pic>
      <p:sp>
        <p:nvSpPr>
          <p:cNvPr id="18" name="Shape 13"/>
          <p:cNvSpPr/>
          <p:nvPr/>
        </p:nvSpPr>
        <p:spPr>
          <a:xfrm>
            <a:off x="4572000" y="2606040"/>
            <a:ext cx="4114800" cy="2011680"/>
          </a:xfrm>
          <a:prstGeom prst="roundRect">
            <a:avLst>
              <a:gd name="adj" fmla="val 3636"/>
            </a:avLst>
          </a:prstGeom>
          <a:solidFill>
            <a:srgbClr val="FFF5DC"/>
          </a:solidFill>
          <a:ln w="12700">
            <a:solidFill>
              <a:srgbClr val="FFF5DC"/>
            </a:solidFill>
            <a:prstDash val="solid"/>
          </a:ln>
        </p:spPr>
      </p:sp>
      <p:sp>
        <p:nvSpPr>
          <p:cNvPr id="19" name="Text 14"/>
          <p:cNvSpPr/>
          <p:nvPr/>
        </p:nvSpPr>
        <p:spPr>
          <a:xfrm>
            <a:off x="4709160" y="2697480"/>
            <a:ext cx="3840480" cy="274320"/>
          </a:xfrm>
          <a:prstGeom prst="rect">
            <a:avLst/>
          </a:prstGeom>
          <a:noFill/>
          <a:ln/>
        </p:spPr>
        <p:txBody>
          <a:bodyPr wrap="square" lIns="0" tIns="0" rIns="0" bIns="0" rtlCol="0" anchor="ctr"/>
          <a:lstStyle/>
          <a:p>
            <a:pPr indent="0" marL="0">
              <a:buNone/>
            </a:pPr>
            <a:r>
              <a:rPr lang="en-US" sz="1250" b="1" dirty="0">
                <a:solidFill>
                  <a:srgbClr val="B97A00"/>
                </a:solidFill>
                <a:latin typeface="Calibri" pitchFamily="34" charset="0"/>
                <a:ea typeface="Calibri" pitchFamily="34" charset="-122"/>
                <a:cs typeface="Calibri" pitchFamily="34" charset="-120"/>
              </a:rPr>
              <a:t>The problem: both apps wanted port 80</a:t>
            </a:r>
            <a:endParaRPr lang="en-US" sz="1250" dirty="0"/>
          </a:p>
        </p:txBody>
      </p:sp>
      <p:sp>
        <p:nvSpPr>
          <p:cNvPr id="20" name="Text 15"/>
          <p:cNvSpPr/>
          <p:nvPr/>
        </p:nvSpPr>
        <p:spPr>
          <a:xfrm>
            <a:off x="4709160" y="2990088"/>
            <a:ext cx="3840480" cy="1600200"/>
          </a:xfrm>
          <a:prstGeom prst="rect">
            <a:avLst/>
          </a:prstGeom>
          <a:noFill/>
          <a:ln/>
        </p:spPr>
        <p:txBody>
          <a:bodyPr wrap="square" lIns="0" tIns="0" rIns="0" bIns="0" rtlCol="0" anchor="t"/>
          <a:lstStyle/>
          <a:p>
            <a:pPr indent="0" marL="0">
              <a:buNone/>
            </a:pPr>
            <a:r>
              <a:rPr lang="en-US" sz="1050" dirty="0">
                <a:solidFill>
                  <a:srgbClr val="0F1B33"/>
                </a:solidFill>
                <a:latin typeface="Calibri" pitchFamily="34" charset="0"/>
                <a:ea typeface="Calibri" pitchFamily="34" charset="-122"/>
                <a:cs typeface="Calibri" pitchFamily="34" charset="-120"/>
              </a:rPr>
              <a:t>Port 80 is the web port. Only one program can hold it, so running both apps as they came meant the second one simply failed to start.</a:t>
            </a:r>
            <a:endParaRPr lang="en-US" sz="1050" dirty="0"/>
          </a:p>
          <a:p>
            <a:pPr indent="0" marL="0">
              <a:buNone/>
            </a:pPr>
            <a:endParaRPr lang="en-US" sz="1050" dirty="0"/>
          </a:p>
          <a:p>
            <a:pPr indent="0" marL="0">
              <a:buNone/>
            </a:pPr>
            <a:r>
              <a:rPr lang="en-US" sz="1050" dirty="0">
                <a:solidFill>
                  <a:srgbClr val="0F1B33"/>
                </a:solidFill>
                <a:latin typeface="Calibri" pitchFamily="34" charset="0"/>
                <a:ea typeface="Calibri" pitchFamily="34" charset="-122"/>
                <a:cs typeface="Calibri" pitchFamily="34" charset="-120"/>
              </a:rPr>
              <a:t>Our answer: put one small "edge" nginx in front. It owns ports 80 and 443, reads the domain name in each request and sends it to the right app. The apps themselves are never exposed to the internet.</a:t>
            </a:r>
            <a:endParaRPr lang="en-US" sz="1050" dirty="0"/>
          </a:p>
        </p:txBody>
      </p:sp>
      <p:sp>
        <p:nvSpPr>
          <p:cNvPr id="21" name="Text 16"/>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rgbClr val="5A6782"/>
                </a:solidFill>
                <a:latin typeface="Calibri" pitchFamily="34" charset="0"/>
                <a:ea typeface="Calibri" pitchFamily="34" charset="-122"/>
                <a:cs typeface="Calibri" pitchFamily="34" charset="-120"/>
              </a:rPr>
              <a:t>SMAART Institute · How we put it live</a:t>
            </a:r>
            <a:endParaRPr lang="en-US" sz="900" dirty="0"/>
          </a:p>
        </p:txBody>
      </p:sp>
      <p:sp>
        <p:nvSpPr>
          <p:cNvPr id="22" name="Text 17"/>
          <p:cNvSpPr/>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A6782"/>
                </a:solidFill>
                <a:latin typeface="Calibri" pitchFamily="34" charset="0"/>
                <a:ea typeface="Calibri" pitchFamily="34" charset="-122"/>
                <a:cs typeface="Calibri" pitchFamily="34" charset="-120"/>
              </a:rPr>
              <a:t>2 / 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A3884"/>
                </a:solidFill>
                <a:latin typeface="Calibri" pitchFamily="34" charset="0"/>
                <a:ea typeface="Calibri" pitchFamily="34" charset="-122"/>
                <a:cs typeface="Calibri" pitchFamily="34" charset="-120"/>
              </a:rPr>
              <a:t>2. Tools and software we used</a:t>
            </a:r>
            <a:endParaRPr lang="en-US" sz="2800" dirty="0"/>
          </a:p>
        </p:txBody>
      </p:sp>
      <p:sp>
        <p:nvSpPr>
          <p:cNvPr id="3" name="Text 1"/>
          <p:cNvSpPr/>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782"/>
                </a:solidFill>
                <a:latin typeface="Calibri" pitchFamily="34" charset="0"/>
                <a:ea typeface="Calibri" pitchFamily="34" charset="-122"/>
                <a:cs typeface="Calibri" pitchFamily="34" charset="-120"/>
              </a:rPr>
              <a:t>Every tool has one clear job</a:t>
            </a:r>
            <a:endParaRPr lang="en-US" sz="1300" dirty="0"/>
          </a:p>
        </p:txBody>
      </p:sp>
      <p:sp>
        <p:nvSpPr>
          <p:cNvPr id="4" name="Shape 2"/>
          <p:cNvSpPr/>
          <p:nvPr/>
        </p:nvSpPr>
        <p:spPr>
          <a:xfrm>
            <a:off x="457200" y="1280160"/>
            <a:ext cx="2651760" cy="1024128"/>
          </a:xfrm>
          <a:prstGeom prst="roundRect">
            <a:avLst>
              <a:gd name="adj" fmla="val 7143"/>
            </a:avLst>
          </a:prstGeom>
          <a:solidFill>
            <a:srgbClr val="F4F6FB"/>
          </a:solidFill>
          <a:ln w="12700">
            <a:solidFill>
              <a:srgbClr val="F4F6FB"/>
            </a:solidFill>
            <a:prstDash val="solid"/>
          </a:ln>
        </p:spPr>
      </p:sp>
      <p:sp>
        <p:nvSpPr>
          <p:cNvPr id="5" name="Shape 3"/>
          <p:cNvSpPr/>
          <p:nvPr/>
        </p:nvSpPr>
        <p:spPr>
          <a:xfrm>
            <a:off x="594360" y="1417320"/>
            <a:ext cx="411480" cy="41148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97230" y="1520190"/>
            <a:ext cx="205740" cy="205740"/>
          </a:xfrm>
          <a:prstGeom prst="rect">
            <a:avLst/>
          </a:prstGeom>
        </p:spPr>
      </p:pic>
      <p:sp>
        <p:nvSpPr>
          <p:cNvPr id="7" name="Text 4"/>
          <p:cNvSpPr/>
          <p:nvPr/>
        </p:nvSpPr>
        <p:spPr>
          <a:xfrm>
            <a:off x="1097280" y="1389888"/>
            <a:ext cx="1920240" cy="45720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AWS EC2 (Mumbai)</a:t>
            </a:r>
            <a:endParaRPr lang="en-US" sz="1200" dirty="0"/>
          </a:p>
        </p:txBody>
      </p:sp>
      <p:sp>
        <p:nvSpPr>
          <p:cNvPr id="8" name="Text 5"/>
          <p:cNvSpPr/>
          <p:nvPr/>
        </p:nvSpPr>
        <p:spPr>
          <a:xfrm>
            <a:off x="594360" y="1874520"/>
            <a:ext cx="2377440" cy="41148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The rented virtual server. t3.medium, 40 GB disk, fixed Elastic IP 13.207.12.89</a:t>
            </a:r>
            <a:endParaRPr lang="en-US" sz="950" dirty="0"/>
          </a:p>
        </p:txBody>
      </p:sp>
      <p:sp>
        <p:nvSpPr>
          <p:cNvPr id="9" name="Shape 6"/>
          <p:cNvSpPr/>
          <p:nvPr/>
        </p:nvSpPr>
        <p:spPr>
          <a:xfrm>
            <a:off x="3246120" y="1280160"/>
            <a:ext cx="2651760" cy="1024128"/>
          </a:xfrm>
          <a:prstGeom prst="roundRect">
            <a:avLst>
              <a:gd name="adj" fmla="val 7143"/>
            </a:avLst>
          </a:prstGeom>
          <a:solidFill>
            <a:srgbClr val="F4F6FB"/>
          </a:solidFill>
          <a:ln w="12700">
            <a:solidFill>
              <a:srgbClr val="F4F6FB"/>
            </a:solidFill>
            <a:prstDash val="solid"/>
          </a:ln>
        </p:spPr>
      </p:sp>
      <p:sp>
        <p:nvSpPr>
          <p:cNvPr id="10" name="Shape 7"/>
          <p:cNvSpPr/>
          <p:nvPr/>
        </p:nvSpPr>
        <p:spPr>
          <a:xfrm>
            <a:off x="3383280" y="1417320"/>
            <a:ext cx="411480" cy="41148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486150" y="1520190"/>
            <a:ext cx="205740" cy="205740"/>
          </a:xfrm>
          <a:prstGeom prst="rect">
            <a:avLst/>
          </a:prstGeom>
        </p:spPr>
      </p:pic>
      <p:sp>
        <p:nvSpPr>
          <p:cNvPr id="12" name="Text 8"/>
          <p:cNvSpPr/>
          <p:nvPr/>
        </p:nvSpPr>
        <p:spPr>
          <a:xfrm>
            <a:off x="3886200" y="1389888"/>
            <a:ext cx="1920240" cy="45720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Ubuntu 26.04 LTS</a:t>
            </a:r>
            <a:endParaRPr lang="en-US" sz="1200" dirty="0"/>
          </a:p>
        </p:txBody>
      </p:sp>
      <p:sp>
        <p:nvSpPr>
          <p:cNvPr id="13" name="Text 9"/>
          <p:cNvSpPr/>
          <p:nvPr/>
        </p:nvSpPr>
        <p:spPr>
          <a:xfrm>
            <a:off x="3383280" y="1874520"/>
            <a:ext cx="2377440" cy="41148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The operating system on the server. Supported until 2031</a:t>
            </a:r>
            <a:endParaRPr lang="en-US" sz="950" dirty="0"/>
          </a:p>
        </p:txBody>
      </p:sp>
      <p:sp>
        <p:nvSpPr>
          <p:cNvPr id="14" name="Shape 10"/>
          <p:cNvSpPr/>
          <p:nvPr/>
        </p:nvSpPr>
        <p:spPr>
          <a:xfrm>
            <a:off x="6035040" y="1280160"/>
            <a:ext cx="2651760" cy="1024128"/>
          </a:xfrm>
          <a:prstGeom prst="roundRect">
            <a:avLst>
              <a:gd name="adj" fmla="val 7143"/>
            </a:avLst>
          </a:prstGeom>
          <a:solidFill>
            <a:srgbClr val="F4F6FB"/>
          </a:solidFill>
          <a:ln w="12700">
            <a:solidFill>
              <a:srgbClr val="F4F6FB"/>
            </a:solidFill>
            <a:prstDash val="solid"/>
          </a:ln>
        </p:spPr>
      </p:sp>
      <p:sp>
        <p:nvSpPr>
          <p:cNvPr id="15" name="Shape 11"/>
          <p:cNvSpPr/>
          <p:nvPr/>
        </p:nvSpPr>
        <p:spPr>
          <a:xfrm>
            <a:off x="6172200" y="1417320"/>
            <a:ext cx="411480" cy="41148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275070" y="1520190"/>
            <a:ext cx="205740" cy="205740"/>
          </a:xfrm>
          <a:prstGeom prst="rect">
            <a:avLst/>
          </a:prstGeom>
        </p:spPr>
      </p:pic>
      <p:sp>
        <p:nvSpPr>
          <p:cNvPr id="17" name="Text 12"/>
          <p:cNvSpPr/>
          <p:nvPr/>
        </p:nvSpPr>
        <p:spPr>
          <a:xfrm>
            <a:off x="6675120" y="1389888"/>
            <a:ext cx="1920240" cy="45720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Docker Engine + Compose</a:t>
            </a:r>
            <a:endParaRPr lang="en-US" sz="1200" dirty="0"/>
          </a:p>
        </p:txBody>
      </p:sp>
      <p:sp>
        <p:nvSpPr>
          <p:cNvPr id="18" name="Text 13"/>
          <p:cNvSpPr/>
          <p:nvPr/>
        </p:nvSpPr>
        <p:spPr>
          <a:xfrm>
            <a:off x="6172200" y="1874520"/>
            <a:ext cx="2377440" cy="41148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Packages each app so it runs the same everywhere. One file starts all 6 containers</a:t>
            </a:r>
            <a:endParaRPr lang="en-US" sz="950" dirty="0"/>
          </a:p>
        </p:txBody>
      </p:sp>
      <p:sp>
        <p:nvSpPr>
          <p:cNvPr id="19" name="Shape 14"/>
          <p:cNvSpPr/>
          <p:nvPr/>
        </p:nvSpPr>
        <p:spPr>
          <a:xfrm>
            <a:off x="457200" y="2423160"/>
            <a:ext cx="2651760" cy="1024128"/>
          </a:xfrm>
          <a:prstGeom prst="roundRect">
            <a:avLst>
              <a:gd name="adj" fmla="val 7143"/>
            </a:avLst>
          </a:prstGeom>
          <a:solidFill>
            <a:srgbClr val="F4F6FB"/>
          </a:solidFill>
          <a:ln w="12700">
            <a:solidFill>
              <a:srgbClr val="F4F6FB"/>
            </a:solidFill>
            <a:prstDash val="solid"/>
          </a:ln>
        </p:spPr>
      </p:sp>
      <p:sp>
        <p:nvSpPr>
          <p:cNvPr id="20" name="Shape 15"/>
          <p:cNvSpPr/>
          <p:nvPr/>
        </p:nvSpPr>
        <p:spPr>
          <a:xfrm>
            <a:off x="594360" y="2560320"/>
            <a:ext cx="411480" cy="411480"/>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697230" y="2663190"/>
            <a:ext cx="205740" cy="205740"/>
          </a:xfrm>
          <a:prstGeom prst="rect">
            <a:avLst/>
          </a:prstGeom>
        </p:spPr>
      </p:pic>
      <p:sp>
        <p:nvSpPr>
          <p:cNvPr id="22" name="Text 16"/>
          <p:cNvSpPr/>
          <p:nvPr/>
        </p:nvSpPr>
        <p:spPr>
          <a:xfrm>
            <a:off x="1097280" y="2532888"/>
            <a:ext cx="1920240" cy="45720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nginx (the "edge")</a:t>
            </a:r>
            <a:endParaRPr lang="en-US" sz="1200" dirty="0"/>
          </a:p>
        </p:txBody>
      </p:sp>
      <p:sp>
        <p:nvSpPr>
          <p:cNvPr id="23" name="Text 17"/>
          <p:cNvSpPr/>
          <p:nvPr/>
        </p:nvSpPr>
        <p:spPr>
          <a:xfrm>
            <a:off x="594360" y="3017520"/>
            <a:ext cx="2377440" cy="41148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Front door. Handles HTTPS and routes each domain to the right app</a:t>
            </a:r>
            <a:endParaRPr lang="en-US" sz="950" dirty="0"/>
          </a:p>
        </p:txBody>
      </p:sp>
      <p:sp>
        <p:nvSpPr>
          <p:cNvPr id="24" name="Shape 18"/>
          <p:cNvSpPr/>
          <p:nvPr/>
        </p:nvSpPr>
        <p:spPr>
          <a:xfrm>
            <a:off x="3246120" y="2423160"/>
            <a:ext cx="2651760" cy="1024128"/>
          </a:xfrm>
          <a:prstGeom prst="roundRect">
            <a:avLst>
              <a:gd name="adj" fmla="val 7143"/>
            </a:avLst>
          </a:prstGeom>
          <a:solidFill>
            <a:srgbClr val="F4F6FB"/>
          </a:solidFill>
          <a:ln w="12700">
            <a:solidFill>
              <a:srgbClr val="F4F6FB"/>
            </a:solidFill>
            <a:prstDash val="solid"/>
          </a:ln>
        </p:spPr>
      </p:sp>
      <p:sp>
        <p:nvSpPr>
          <p:cNvPr id="25" name="Shape 19"/>
          <p:cNvSpPr/>
          <p:nvPr/>
        </p:nvSpPr>
        <p:spPr>
          <a:xfrm>
            <a:off x="3383280" y="2560320"/>
            <a:ext cx="411480" cy="411480"/>
          </a:xfrm>
          <a:prstGeom prst="ellipse">
            <a:avLst/>
          </a:prstGeom>
          <a:solidFill>
            <a:srgbClr val="FFFFFF"/>
          </a:solidFill>
          <a:ln w="12700">
            <a:solidFill>
              <a:srgbClr val="FFFFFF"/>
            </a:solidFill>
            <a:prstDash val="solid"/>
          </a:ln>
        </p:spPr>
      </p:sp>
      <p:pic>
        <p:nvPicPr>
          <p:cNvPr id="26" name="Image 4" descr="preencoded.png">    </p:cNvPr>
          <p:cNvPicPr>
            <a:picLocks noChangeAspect="1"/>
          </p:cNvPicPr>
          <p:nvPr/>
        </p:nvPicPr>
        <p:blipFill>
          <a:blip r:embed="rId5"/>
          <a:stretch>
            <a:fillRect/>
          </a:stretch>
        </p:blipFill>
        <p:spPr>
          <a:xfrm>
            <a:off x="3486150" y="2663190"/>
            <a:ext cx="205740" cy="205740"/>
          </a:xfrm>
          <a:prstGeom prst="rect">
            <a:avLst/>
          </a:prstGeom>
        </p:spPr>
      </p:pic>
      <p:sp>
        <p:nvSpPr>
          <p:cNvPr id="27" name="Text 20"/>
          <p:cNvSpPr/>
          <p:nvPr/>
        </p:nvSpPr>
        <p:spPr>
          <a:xfrm>
            <a:off x="3886200" y="2532888"/>
            <a:ext cx="1920240" cy="45720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Let's Encrypt + certbot</a:t>
            </a:r>
            <a:endParaRPr lang="en-US" sz="1200" dirty="0"/>
          </a:p>
        </p:txBody>
      </p:sp>
      <p:sp>
        <p:nvSpPr>
          <p:cNvPr id="28" name="Text 21"/>
          <p:cNvSpPr/>
          <p:nvPr/>
        </p:nvSpPr>
        <p:spPr>
          <a:xfrm>
            <a:off x="3383280" y="3017520"/>
            <a:ext cx="2377440" cy="41148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Free HTTPS certificate for both domains, renewed automatically</a:t>
            </a:r>
            <a:endParaRPr lang="en-US" sz="950" dirty="0"/>
          </a:p>
        </p:txBody>
      </p:sp>
      <p:sp>
        <p:nvSpPr>
          <p:cNvPr id="29" name="Shape 22"/>
          <p:cNvSpPr/>
          <p:nvPr/>
        </p:nvSpPr>
        <p:spPr>
          <a:xfrm>
            <a:off x="6035040" y="2423160"/>
            <a:ext cx="2651760" cy="1024128"/>
          </a:xfrm>
          <a:prstGeom prst="roundRect">
            <a:avLst>
              <a:gd name="adj" fmla="val 7143"/>
            </a:avLst>
          </a:prstGeom>
          <a:solidFill>
            <a:srgbClr val="F4F6FB"/>
          </a:solidFill>
          <a:ln w="12700">
            <a:solidFill>
              <a:srgbClr val="F4F6FB"/>
            </a:solidFill>
            <a:prstDash val="solid"/>
          </a:ln>
        </p:spPr>
      </p:sp>
      <p:sp>
        <p:nvSpPr>
          <p:cNvPr id="30" name="Shape 23"/>
          <p:cNvSpPr/>
          <p:nvPr/>
        </p:nvSpPr>
        <p:spPr>
          <a:xfrm>
            <a:off x="6172200" y="2560320"/>
            <a:ext cx="411480" cy="411480"/>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6275070" y="2663190"/>
            <a:ext cx="205740" cy="205740"/>
          </a:xfrm>
          <a:prstGeom prst="rect">
            <a:avLst/>
          </a:prstGeom>
        </p:spPr>
      </p:pic>
      <p:sp>
        <p:nvSpPr>
          <p:cNvPr id="32" name="Text 24"/>
          <p:cNvSpPr/>
          <p:nvPr/>
        </p:nvSpPr>
        <p:spPr>
          <a:xfrm>
            <a:off x="6675120" y="2532888"/>
            <a:ext cx="1920240" cy="45720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GitHub + deploy keys</a:t>
            </a:r>
            <a:endParaRPr lang="en-US" sz="1200" dirty="0"/>
          </a:p>
        </p:txBody>
      </p:sp>
      <p:sp>
        <p:nvSpPr>
          <p:cNvPr id="33" name="Text 25"/>
          <p:cNvSpPr/>
          <p:nvPr/>
        </p:nvSpPr>
        <p:spPr>
          <a:xfrm>
            <a:off x="6172200" y="3017520"/>
            <a:ext cx="2377440" cy="41148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Code lives in two private repos. Read-only keys let the server clone them</a:t>
            </a:r>
            <a:endParaRPr lang="en-US" sz="950" dirty="0"/>
          </a:p>
        </p:txBody>
      </p:sp>
      <p:sp>
        <p:nvSpPr>
          <p:cNvPr id="34" name="Shape 26"/>
          <p:cNvSpPr/>
          <p:nvPr/>
        </p:nvSpPr>
        <p:spPr>
          <a:xfrm>
            <a:off x="457200" y="3566160"/>
            <a:ext cx="2651760" cy="1024128"/>
          </a:xfrm>
          <a:prstGeom prst="roundRect">
            <a:avLst>
              <a:gd name="adj" fmla="val 7143"/>
            </a:avLst>
          </a:prstGeom>
          <a:solidFill>
            <a:srgbClr val="F4F6FB"/>
          </a:solidFill>
          <a:ln w="12700">
            <a:solidFill>
              <a:srgbClr val="F4F6FB"/>
            </a:solidFill>
            <a:prstDash val="solid"/>
          </a:ln>
        </p:spPr>
      </p:sp>
      <p:sp>
        <p:nvSpPr>
          <p:cNvPr id="35" name="Shape 27"/>
          <p:cNvSpPr/>
          <p:nvPr/>
        </p:nvSpPr>
        <p:spPr>
          <a:xfrm>
            <a:off x="594360" y="3703320"/>
            <a:ext cx="411480" cy="411480"/>
          </a:xfrm>
          <a:prstGeom prst="ellipse">
            <a:avLst/>
          </a:prstGeom>
          <a:solidFill>
            <a:srgbClr val="FFFFFF"/>
          </a:solidFill>
          <a:ln w="12700">
            <a:solidFill>
              <a:srgbClr val="FFFFFF"/>
            </a:solidFill>
            <a:prstDash val="solid"/>
          </a:ln>
        </p:spPr>
      </p:sp>
      <p:pic>
        <p:nvPicPr>
          <p:cNvPr id="36" name="Image 6" descr="preencoded.png">    </p:cNvPr>
          <p:cNvPicPr>
            <a:picLocks noChangeAspect="1"/>
          </p:cNvPicPr>
          <p:nvPr/>
        </p:nvPicPr>
        <p:blipFill>
          <a:blip r:embed="rId7"/>
          <a:stretch>
            <a:fillRect/>
          </a:stretch>
        </p:blipFill>
        <p:spPr>
          <a:xfrm>
            <a:off x="697230" y="3806190"/>
            <a:ext cx="205740" cy="205740"/>
          </a:xfrm>
          <a:prstGeom prst="rect">
            <a:avLst/>
          </a:prstGeom>
        </p:spPr>
      </p:pic>
      <p:sp>
        <p:nvSpPr>
          <p:cNvPr id="37" name="Text 28"/>
          <p:cNvSpPr/>
          <p:nvPr/>
        </p:nvSpPr>
        <p:spPr>
          <a:xfrm>
            <a:off x="1097280" y="3675888"/>
            <a:ext cx="1920240" cy="45720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GitHub Actions + GHCR</a:t>
            </a:r>
            <a:endParaRPr lang="en-US" sz="1200" dirty="0"/>
          </a:p>
        </p:txBody>
      </p:sp>
      <p:sp>
        <p:nvSpPr>
          <p:cNvPr id="38" name="Text 29"/>
          <p:cNvSpPr/>
          <p:nvPr/>
        </p:nvSpPr>
        <p:spPr>
          <a:xfrm>
            <a:off x="594360" y="4160520"/>
            <a:ext cx="2377440" cy="41148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Builds the Docker images automatically and stores them; one button deploys</a:t>
            </a:r>
            <a:endParaRPr lang="en-US" sz="950" dirty="0"/>
          </a:p>
        </p:txBody>
      </p:sp>
      <p:sp>
        <p:nvSpPr>
          <p:cNvPr id="39" name="Shape 30"/>
          <p:cNvSpPr/>
          <p:nvPr/>
        </p:nvSpPr>
        <p:spPr>
          <a:xfrm>
            <a:off x="3246120" y="3566160"/>
            <a:ext cx="2651760" cy="1024128"/>
          </a:xfrm>
          <a:prstGeom prst="roundRect">
            <a:avLst>
              <a:gd name="adj" fmla="val 7143"/>
            </a:avLst>
          </a:prstGeom>
          <a:solidFill>
            <a:srgbClr val="F4F6FB"/>
          </a:solidFill>
          <a:ln w="12700">
            <a:solidFill>
              <a:srgbClr val="F4F6FB"/>
            </a:solidFill>
            <a:prstDash val="solid"/>
          </a:ln>
        </p:spPr>
      </p:sp>
      <p:sp>
        <p:nvSpPr>
          <p:cNvPr id="40" name="Shape 31"/>
          <p:cNvSpPr/>
          <p:nvPr/>
        </p:nvSpPr>
        <p:spPr>
          <a:xfrm>
            <a:off x="3383280" y="3703320"/>
            <a:ext cx="411480" cy="411480"/>
          </a:xfrm>
          <a:prstGeom prst="ellipse">
            <a:avLst/>
          </a:prstGeom>
          <a:solidFill>
            <a:srgbClr val="FFFFFF"/>
          </a:solidFill>
          <a:ln w="12700">
            <a:solidFill>
              <a:srgbClr val="FFFFFF"/>
            </a:solidFill>
            <a:prstDash val="solid"/>
          </a:ln>
        </p:spPr>
      </p:sp>
      <p:pic>
        <p:nvPicPr>
          <p:cNvPr id="41" name="Image 7" descr="preencoded.png">    </p:cNvPr>
          <p:cNvPicPr>
            <a:picLocks noChangeAspect="1"/>
          </p:cNvPicPr>
          <p:nvPr/>
        </p:nvPicPr>
        <p:blipFill>
          <a:blip r:embed="rId8"/>
          <a:stretch>
            <a:fillRect/>
          </a:stretch>
        </p:blipFill>
        <p:spPr>
          <a:xfrm>
            <a:off x="3486150" y="3806190"/>
            <a:ext cx="205740" cy="205740"/>
          </a:xfrm>
          <a:prstGeom prst="rect">
            <a:avLst/>
          </a:prstGeom>
        </p:spPr>
      </p:pic>
      <p:sp>
        <p:nvSpPr>
          <p:cNvPr id="42" name="Text 32"/>
          <p:cNvSpPr/>
          <p:nvPr/>
        </p:nvSpPr>
        <p:spPr>
          <a:xfrm>
            <a:off x="3886200" y="3675888"/>
            <a:ext cx="1920240" cy="45720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MongoDB Atlas</a:t>
            </a:r>
            <a:endParaRPr lang="en-US" sz="1200" dirty="0"/>
          </a:p>
        </p:txBody>
      </p:sp>
      <p:sp>
        <p:nvSpPr>
          <p:cNvPr id="43" name="Text 33"/>
          <p:cNvSpPr/>
          <p:nvPr/>
        </p:nvSpPr>
        <p:spPr>
          <a:xfrm>
            <a:off x="3383280" y="4160520"/>
            <a:ext cx="2377440" cy="41148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The cloud database, shared by both apps</a:t>
            </a:r>
            <a:endParaRPr lang="en-US" sz="950" dirty="0"/>
          </a:p>
        </p:txBody>
      </p:sp>
      <p:sp>
        <p:nvSpPr>
          <p:cNvPr id="44" name="Shape 34"/>
          <p:cNvSpPr/>
          <p:nvPr/>
        </p:nvSpPr>
        <p:spPr>
          <a:xfrm>
            <a:off x="6035040" y="3566160"/>
            <a:ext cx="2651760" cy="1024128"/>
          </a:xfrm>
          <a:prstGeom prst="roundRect">
            <a:avLst>
              <a:gd name="adj" fmla="val 7143"/>
            </a:avLst>
          </a:prstGeom>
          <a:solidFill>
            <a:srgbClr val="F4F6FB"/>
          </a:solidFill>
          <a:ln w="12700">
            <a:solidFill>
              <a:srgbClr val="F4F6FB"/>
            </a:solidFill>
            <a:prstDash val="solid"/>
          </a:ln>
        </p:spPr>
      </p:sp>
      <p:sp>
        <p:nvSpPr>
          <p:cNvPr id="45" name="Shape 35"/>
          <p:cNvSpPr/>
          <p:nvPr/>
        </p:nvSpPr>
        <p:spPr>
          <a:xfrm>
            <a:off x="6172200" y="3703320"/>
            <a:ext cx="411480" cy="411480"/>
          </a:xfrm>
          <a:prstGeom prst="ellipse">
            <a:avLst/>
          </a:prstGeom>
          <a:solidFill>
            <a:srgbClr val="FFFFFF"/>
          </a:solidFill>
          <a:ln w="12700">
            <a:solidFill>
              <a:srgbClr val="FFFFFF"/>
            </a:solidFill>
            <a:prstDash val="solid"/>
          </a:ln>
        </p:spPr>
      </p:sp>
      <p:pic>
        <p:nvPicPr>
          <p:cNvPr id="46" name="Image 8" descr="preencoded.png">    </p:cNvPr>
          <p:cNvPicPr>
            <a:picLocks noChangeAspect="1"/>
          </p:cNvPicPr>
          <p:nvPr/>
        </p:nvPicPr>
        <p:blipFill>
          <a:blip r:embed="rId9"/>
          <a:stretch>
            <a:fillRect/>
          </a:stretch>
        </p:blipFill>
        <p:spPr>
          <a:xfrm>
            <a:off x="6275070" y="3806190"/>
            <a:ext cx="205740" cy="205740"/>
          </a:xfrm>
          <a:prstGeom prst="rect">
            <a:avLst/>
          </a:prstGeom>
        </p:spPr>
      </p:pic>
      <p:sp>
        <p:nvSpPr>
          <p:cNvPr id="47" name="Text 36"/>
          <p:cNvSpPr/>
          <p:nvPr/>
        </p:nvSpPr>
        <p:spPr>
          <a:xfrm>
            <a:off x="6675120" y="3675888"/>
            <a:ext cx="1920240" cy="45720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Hostinger DNS</a:t>
            </a:r>
            <a:endParaRPr lang="en-US" sz="1200" dirty="0"/>
          </a:p>
        </p:txBody>
      </p:sp>
      <p:sp>
        <p:nvSpPr>
          <p:cNvPr id="48" name="Text 37"/>
          <p:cNvSpPr/>
          <p:nvPr/>
        </p:nvSpPr>
        <p:spPr>
          <a:xfrm>
            <a:off x="6172200" y="4160520"/>
            <a:ext cx="2377440" cy="41148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Points smaartinstitute.com and admin.smaartinstitute.com at the server</a:t>
            </a:r>
            <a:endParaRPr lang="en-US" sz="950" dirty="0"/>
          </a:p>
        </p:txBody>
      </p:sp>
      <p:sp>
        <p:nvSpPr>
          <p:cNvPr id="49" name="Text 38"/>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rgbClr val="5A6782"/>
                </a:solidFill>
                <a:latin typeface="Calibri" pitchFamily="34" charset="0"/>
                <a:ea typeface="Calibri" pitchFamily="34" charset="-122"/>
                <a:cs typeface="Calibri" pitchFamily="34" charset="-120"/>
              </a:rPr>
              <a:t>SMAART Institute · How we put it live</a:t>
            </a:r>
            <a:endParaRPr lang="en-US" sz="900" dirty="0"/>
          </a:p>
        </p:txBody>
      </p:sp>
      <p:sp>
        <p:nvSpPr>
          <p:cNvPr id="50" name="Text 39"/>
          <p:cNvSpPr/>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A6782"/>
                </a:solidFill>
                <a:latin typeface="Calibri" pitchFamily="34" charset="0"/>
                <a:ea typeface="Calibri" pitchFamily="34" charset="-122"/>
                <a:cs typeface="Calibri" pitchFamily="34" charset="-120"/>
              </a:rPr>
              <a:t>3 / 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A3884"/>
                </a:solidFill>
                <a:latin typeface="Calibri" pitchFamily="34" charset="0"/>
                <a:ea typeface="Calibri" pitchFamily="34" charset="-122"/>
                <a:cs typeface="Calibri" pitchFamily="34" charset="-120"/>
              </a:rPr>
              <a:t>3. The plan: one server, one front door, six containers</a:t>
            </a:r>
            <a:endParaRPr lang="en-US" sz="2800" dirty="0"/>
          </a:p>
        </p:txBody>
      </p:sp>
      <p:sp>
        <p:nvSpPr>
          <p:cNvPr id="3" name="Text 1"/>
          <p:cNvSpPr/>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782"/>
                </a:solidFill>
                <a:latin typeface="Calibri" pitchFamily="34" charset="0"/>
                <a:ea typeface="Calibri" pitchFamily="34" charset="-122"/>
                <a:cs typeface="Calibri" pitchFamily="34" charset="-120"/>
              </a:rPr>
              <a:t>Only ports 22, 80 and 443 are open. Ports 5000 and 5001 never touch the internet.</a:t>
            </a:r>
            <a:endParaRPr lang="en-US" sz="1300" dirty="0"/>
          </a:p>
        </p:txBody>
      </p:sp>
      <p:pic>
        <p:nvPicPr>
          <p:cNvPr id="4" name="Image 0" descr="arch.png">    </p:cNvPr>
          <p:cNvPicPr>
            <a:picLocks noChangeAspect="1"/>
          </p:cNvPicPr>
          <p:nvPr/>
        </p:nvPicPr>
        <p:blipFill>
          <a:blip r:embed="rId1"/>
          <a:stretch>
            <a:fillRect/>
          </a:stretch>
        </p:blipFill>
        <p:spPr>
          <a:xfrm>
            <a:off x="365760" y="1234440"/>
            <a:ext cx="5943600" cy="3227832"/>
          </a:xfrm>
          <a:prstGeom prst="rect">
            <a:avLst/>
          </a:prstGeom>
        </p:spPr>
      </p:pic>
      <p:sp>
        <p:nvSpPr>
          <p:cNvPr id="5" name="Shape 2"/>
          <p:cNvSpPr/>
          <p:nvPr/>
        </p:nvSpPr>
        <p:spPr>
          <a:xfrm>
            <a:off x="6492240" y="1307592"/>
            <a:ext cx="384048" cy="384048"/>
          </a:xfrm>
          <a:prstGeom prst="ellipse">
            <a:avLst/>
          </a:prstGeom>
          <a:solidFill>
            <a:srgbClr val="E7ECF8"/>
          </a:solidFill>
          <a:ln w="12700">
            <a:solidFill>
              <a:srgbClr val="E7ECF8"/>
            </a:solidFill>
            <a:prstDash val="solid"/>
          </a:ln>
        </p:spPr>
      </p:sp>
      <p:pic>
        <p:nvPicPr>
          <p:cNvPr id="6" name="Image 1" descr="preencoded.png">    </p:cNvPr>
          <p:cNvPicPr>
            <a:picLocks noChangeAspect="1"/>
          </p:cNvPicPr>
          <p:nvPr/>
        </p:nvPicPr>
        <p:blipFill>
          <a:blip r:embed="rId2"/>
          <a:stretch>
            <a:fillRect/>
          </a:stretch>
        </p:blipFill>
        <p:spPr>
          <a:xfrm>
            <a:off x="6588252" y="1403604"/>
            <a:ext cx="192024" cy="192024"/>
          </a:xfrm>
          <a:prstGeom prst="rect">
            <a:avLst/>
          </a:prstGeom>
        </p:spPr>
      </p:pic>
      <p:sp>
        <p:nvSpPr>
          <p:cNvPr id="7" name="Text 3"/>
          <p:cNvSpPr/>
          <p:nvPr/>
        </p:nvSpPr>
        <p:spPr>
          <a:xfrm>
            <a:off x="6995160" y="1280160"/>
            <a:ext cx="17373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Edge nginx</a:t>
            </a:r>
            <a:endParaRPr lang="en-US" sz="1200" dirty="0"/>
          </a:p>
        </p:txBody>
      </p:sp>
      <p:sp>
        <p:nvSpPr>
          <p:cNvPr id="8" name="Text 4"/>
          <p:cNvSpPr/>
          <p:nvPr/>
        </p:nvSpPr>
        <p:spPr>
          <a:xfrm>
            <a:off x="6995160" y="1536192"/>
            <a:ext cx="1737360" cy="530352"/>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The only public container. HTTPS + routing by domain name.</a:t>
            </a:r>
            <a:endParaRPr lang="en-US" sz="950" dirty="0"/>
          </a:p>
        </p:txBody>
      </p:sp>
      <p:sp>
        <p:nvSpPr>
          <p:cNvPr id="9" name="Shape 5"/>
          <p:cNvSpPr/>
          <p:nvPr/>
        </p:nvSpPr>
        <p:spPr>
          <a:xfrm>
            <a:off x="6492240" y="2112264"/>
            <a:ext cx="384048" cy="384048"/>
          </a:xfrm>
          <a:prstGeom prst="ellipse">
            <a:avLst/>
          </a:prstGeom>
          <a:solidFill>
            <a:srgbClr val="E7ECF8"/>
          </a:solidFill>
          <a:ln w="12700">
            <a:solidFill>
              <a:srgbClr val="E7ECF8"/>
            </a:solidFill>
            <a:prstDash val="solid"/>
          </a:ln>
        </p:spPr>
      </p:sp>
      <p:pic>
        <p:nvPicPr>
          <p:cNvPr id="10" name="Image 2" descr="preencoded.png">    </p:cNvPr>
          <p:cNvPicPr>
            <a:picLocks noChangeAspect="1"/>
          </p:cNvPicPr>
          <p:nvPr/>
        </p:nvPicPr>
        <p:blipFill>
          <a:blip r:embed="rId3"/>
          <a:stretch>
            <a:fillRect/>
          </a:stretch>
        </p:blipFill>
        <p:spPr>
          <a:xfrm>
            <a:off x="6588252" y="2208276"/>
            <a:ext cx="192024" cy="192024"/>
          </a:xfrm>
          <a:prstGeom prst="rect">
            <a:avLst/>
          </a:prstGeom>
        </p:spPr>
      </p:pic>
      <p:sp>
        <p:nvSpPr>
          <p:cNvPr id="11" name="Text 6"/>
          <p:cNvSpPr/>
          <p:nvPr/>
        </p:nvSpPr>
        <p:spPr>
          <a:xfrm>
            <a:off x="6995160" y="2084832"/>
            <a:ext cx="17373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Two apps, four containers</a:t>
            </a:r>
            <a:endParaRPr lang="en-US" sz="1200" dirty="0"/>
          </a:p>
        </p:txBody>
      </p:sp>
      <p:sp>
        <p:nvSpPr>
          <p:cNvPr id="12" name="Text 7"/>
          <p:cNvSpPr/>
          <p:nvPr/>
        </p:nvSpPr>
        <p:spPr>
          <a:xfrm>
            <a:off x="6995160" y="2340864"/>
            <a:ext cx="1737360" cy="530352"/>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Frontend + backend for student, frontend + backend for admin.</a:t>
            </a:r>
            <a:endParaRPr lang="en-US" sz="950" dirty="0"/>
          </a:p>
        </p:txBody>
      </p:sp>
      <p:sp>
        <p:nvSpPr>
          <p:cNvPr id="13" name="Shape 8"/>
          <p:cNvSpPr/>
          <p:nvPr/>
        </p:nvSpPr>
        <p:spPr>
          <a:xfrm>
            <a:off x="6492240" y="2916936"/>
            <a:ext cx="384048" cy="384048"/>
          </a:xfrm>
          <a:prstGeom prst="ellipse">
            <a:avLst/>
          </a:prstGeom>
          <a:solidFill>
            <a:srgbClr val="E7ECF8"/>
          </a:solidFill>
          <a:ln w="12700">
            <a:solidFill>
              <a:srgbClr val="E7ECF8"/>
            </a:solidFill>
            <a:prstDash val="solid"/>
          </a:ln>
        </p:spPr>
      </p:sp>
      <p:pic>
        <p:nvPicPr>
          <p:cNvPr id="14" name="Image 3" descr="preencoded.png">    </p:cNvPr>
          <p:cNvPicPr>
            <a:picLocks noChangeAspect="1"/>
          </p:cNvPicPr>
          <p:nvPr/>
        </p:nvPicPr>
        <p:blipFill>
          <a:blip r:embed="rId4"/>
          <a:stretch>
            <a:fillRect/>
          </a:stretch>
        </p:blipFill>
        <p:spPr>
          <a:xfrm>
            <a:off x="6588252" y="3012948"/>
            <a:ext cx="192024" cy="192024"/>
          </a:xfrm>
          <a:prstGeom prst="rect">
            <a:avLst/>
          </a:prstGeom>
        </p:spPr>
      </p:pic>
      <p:sp>
        <p:nvSpPr>
          <p:cNvPr id="15" name="Text 9"/>
          <p:cNvSpPr/>
          <p:nvPr/>
        </p:nvSpPr>
        <p:spPr>
          <a:xfrm>
            <a:off x="6995160" y="2889504"/>
            <a:ext cx="17373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Certbot</a:t>
            </a:r>
            <a:endParaRPr lang="en-US" sz="1200" dirty="0"/>
          </a:p>
        </p:txBody>
      </p:sp>
      <p:sp>
        <p:nvSpPr>
          <p:cNvPr id="16" name="Text 10"/>
          <p:cNvSpPr/>
          <p:nvPr/>
        </p:nvSpPr>
        <p:spPr>
          <a:xfrm>
            <a:off x="6995160" y="3145536"/>
            <a:ext cx="1737360" cy="530352"/>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Renews the certificate; the edge reloads every 6 h.</a:t>
            </a:r>
            <a:endParaRPr lang="en-US" sz="950" dirty="0"/>
          </a:p>
        </p:txBody>
      </p:sp>
      <p:sp>
        <p:nvSpPr>
          <p:cNvPr id="17" name="Shape 11"/>
          <p:cNvSpPr/>
          <p:nvPr/>
        </p:nvSpPr>
        <p:spPr>
          <a:xfrm>
            <a:off x="6492240" y="3721608"/>
            <a:ext cx="384048" cy="384048"/>
          </a:xfrm>
          <a:prstGeom prst="ellipse">
            <a:avLst/>
          </a:prstGeom>
          <a:solidFill>
            <a:srgbClr val="E7ECF8"/>
          </a:solidFill>
          <a:ln w="12700">
            <a:solidFill>
              <a:srgbClr val="E7ECF8"/>
            </a:solidFill>
            <a:prstDash val="solid"/>
          </a:ln>
        </p:spPr>
      </p:sp>
      <p:pic>
        <p:nvPicPr>
          <p:cNvPr id="18" name="Image 4" descr="preencoded.png">    </p:cNvPr>
          <p:cNvPicPr>
            <a:picLocks noChangeAspect="1"/>
          </p:cNvPicPr>
          <p:nvPr/>
        </p:nvPicPr>
        <p:blipFill>
          <a:blip r:embed="rId5"/>
          <a:stretch>
            <a:fillRect/>
          </a:stretch>
        </p:blipFill>
        <p:spPr>
          <a:xfrm>
            <a:off x="6588252" y="3817620"/>
            <a:ext cx="192024" cy="192024"/>
          </a:xfrm>
          <a:prstGeom prst="rect">
            <a:avLst/>
          </a:prstGeom>
        </p:spPr>
      </p:pic>
      <p:sp>
        <p:nvSpPr>
          <p:cNvPr id="19" name="Text 12"/>
          <p:cNvSpPr/>
          <p:nvPr/>
        </p:nvSpPr>
        <p:spPr>
          <a:xfrm>
            <a:off x="6995160" y="3694176"/>
            <a:ext cx="17373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One compose file</a:t>
            </a:r>
            <a:endParaRPr lang="en-US" sz="1200" dirty="0"/>
          </a:p>
        </p:txBody>
      </p:sp>
      <p:sp>
        <p:nvSpPr>
          <p:cNvPr id="20" name="Text 13"/>
          <p:cNvSpPr/>
          <p:nvPr/>
        </p:nvSpPr>
        <p:spPr>
          <a:xfrm>
            <a:off x="6995160" y="3950208"/>
            <a:ext cx="1737360" cy="530352"/>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docker-compose.prod.yml in the dashboard repo runs everything.</a:t>
            </a:r>
            <a:endParaRPr lang="en-US" sz="950" dirty="0"/>
          </a:p>
        </p:txBody>
      </p:sp>
      <p:sp>
        <p:nvSpPr>
          <p:cNvPr id="21" name="Text 14"/>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rgbClr val="5A6782"/>
                </a:solidFill>
                <a:latin typeface="Calibri" pitchFamily="34" charset="0"/>
                <a:ea typeface="Calibri" pitchFamily="34" charset="-122"/>
                <a:cs typeface="Calibri" pitchFamily="34" charset="-120"/>
              </a:rPr>
              <a:t>SMAART Institute · How we put it live</a:t>
            </a:r>
            <a:endParaRPr lang="en-US" sz="900" dirty="0"/>
          </a:p>
        </p:txBody>
      </p:sp>
      <p:sp>
        <p:nvSpPr>
          <p:cNvPr id="22" name="Text 15"/>
          <p:cNvSpPr/>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A6782"/>
                </a:solidFill>
                <a:latin typeface="Calibri" pitchFamily="34" charset="0"/>
                <a:ea typeface="Calibri" pitchFamily="34" charset="-122"/>
                <a:cs typeface="Calibri" pitchFamily="34" charset="-120"/>
              </a:rPr>
              <a:t>4 / 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A3884"/>
                </a:solidFill>
                <a:latin typeface="Calibri" pitchFamily="34" charset="0"/>
                <a:ea typeface="Calibri" pitchFamily="34" charset="-122"/>
                <a:cs typeface="Calibri" pitchFamily="34" charset="-120"/>
              </a:rPr>
              <a:t>4. What we did, step by step</a:t>
            </a:r>
            <a:endParaRPr lang="en-US" sz="2800" dirty="0"/>
          </a:p>
        </p:txBody>
      </p:sp>
      <p:sp>
        <p:nvSpPr>
          <p:cNvPr id="3" name="Text 1"/>
          <p:cNvSpPr/>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782"/>
                </a:solidFill>
                <a:latin typeface="Calibri" pitchFamily="34" charset="0"/>
                <a:ea typeface="Calibri" pitchFamily="34" charset="-122"/>
                <a:cs typeface="Calibri" pitchFamily="34" charset="-120"/>
              </a:rPr>
              <a:t>The exact order of the day — colour shows where each step was done</a:t>
            </a:r>
            <a:endParaRPr lang="en-US" sz="1300" dirty="0"/>
          </a:p>
        </p:txBody>
      </p:sp>
      <p:sp>
        <p:nvSpPr>
          <p:cNvPr id="4" name="Shape 2"/>
          <p:cNvSpPr/>
          <p:nvPr/>
        </p:nvSpPr>
        <p:spPr>
          <a:xfrm>
            <a:off x="1938528" y="1645920"/>
            <a:ext cx="201168" cy="0"/>
          </a:xfrm>
          <a:prstGeom prst="line">
            <a:avLst/>
          </a:prstGeom>
          <a:noFill/>
          <a:ln w="19050">
            <a:solidFill>
              <a:srgbClr val="CBD3E3"/>
            </a:solidFill>
            <a:prstDash val="solid"/>
            <a:tailEnd type="triangle"/>
          </a:ln>
        </p:spPr>
      </p:sp>
      <p:sp>
        <p:nvSpPr>
          <p:cNvPr id="5" name="Shape 3"/>
          <p:cNvSpPr/>
          <p:nvPr/>
        </p:nvSpPr>
        <p:spPr>
          <a:xfrm>
            <a:off x="457200" y="1371600"/>
            <a:ext cx="548640" cy="548640"/>
          </a:xfrm>
          <a:prstGeom prst="ellipse">
            <a:avLst/>
          </a:prstGeom>
          <a:solidFill>
            <a:srgbClr val="1A3884"/>
          </a:solidFill>
          <a:ln w="12700">
            <a:solidFill>
              <a:srgbClr val="1A3884"/>
            </a:solidFill>
            <a:prstDash val="solid"/>
          </a:ln>
        </p:spPr>
      </p:sp>
      <p:sp>
        <p:nvSpPr>
          <p:cNvPr id="6" name="Text 4"/>
          <p:cNvSpPr/>
          <p:nvPr/>
        </p:nvSpPr>
        <p:spPr>
          <a:xfrm>
            <a:off x="457200" y="1371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457200" y="1975104"/>
            <a:ext cx="15087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Launch EC2</a:t>
            </a:r>
            <a:endParaRPr lang="en-US" sz="1200" dirty="0"/>
          </a:p>
        </p:txBody>
      </p:sp>
      <p:sp>
        <p:nvSpPr>
          <p:cNvPr id="8" name="Text 6"/>
          <p:cNvSpPr/>
          <p:nvPr/>
        </p:nvSpPr>
        <p:spPr>
          <a:xfrm>
            <a:off x="457200" y="2231136"/>
            <a:ext cx="1508760" cy="45720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AWS Console · Ubuntu 26.04, t3.medium</a:t>
            </a:r>
            <a:endParaRPr lang="en-US" sz="950" dirty="0"/>
          </a:p>
        </p:txBody>
      </p:sp>
      <p:sp>
        <p:nvSpPr>
          <p:cNvPr id="9" name="Shape 7"/>
          <p:cNvSpPr/>
          <p:nvPr/>
        </p:nvSpPr>
        <p:spPr>
          <a:xfrm>
            <a:off x="3630168" y="1645920"/>
            <a:ext cx="201168" cy="0"/>
          </a:xfrm>
          <a:prstGeom prst="line">
            <a:avLst/>
          </a:prstGeom>
          <a:noFill/>
          <a:ln w="19050">
            <a:solidFill>
              <a:srgbClr val="CBD3E3"/>
            </a:solidFill>
            <a:prstDash val="solid"/>
            <a:tailEnd type="triangle"/>
          </a:ln>
        </p:spPr>
      </p:sp>
      <p:sp>
        <p:nvSpPr>
          <p:cNvPr id="10" name="Shape 8"/>
          <p:cNvSpPr/>
          <p:nvPr/>
        </p:nvSpPr>
        <p:spPr>
          <a:xfrm>
            <a:off x="2148840" y="1371600"/>
            <a:ext cx="548640" cy="548640"/>
          </a:xfrm>
          <a:prstGeom prst="ellipse">
            <a:avLst/>
          </a:prstGeom>
          <a:solidFill>
            <a:srgbClr val="1A3884"/>
          </a:solidFill>
          <a:ln w="12700">
            <a:solidFill>
              <a:srgbClr val="1A3884"/>
            </a:solidFill>
            <a:prstDash val="solid"/>
          </a:ln>
        </p:spPr>
      </p:sp>
      <p:sp>
        <p:nvSpPr>
          <p:cNvPr id="11" name="Text 9"/>
          <p:cNvSpPr/>
          <p:nvPr/>
        </p:nvSpPr>
        <p:spPr>
          <a:xfrm>
            <a:off x="2148840" y="1371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2148840" y="1975104"/>
            <a:ext cx="15087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Elastic IP</a:t>
            </a:r>
            <a:endParaRPr lang="en-US" sz="1200" dirty="0"/>
          </a:p>
        </p:txBody>
      </p:sp>
      <p:sp>
        <p:nvSpPr>
          <p:cNvPr id="13" name="Text 11"/>
          <p:cNvSpPr/>
          <p:nvPr/>
        </p:nvSpPr>
        <p:spPr>
          <a:xfrm>
            <a:off x="2148840" y="2231136"/>
            <a:ext cx="1508760" cy="45720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AWS Console · fixed address</a:t>
            </a:r>
            <a:endParaRPr lang="en-US" sz="950" dirty="0"/>
          </a:p>
        </p:txBody>
      </p:sp>
      <p:sp>
        <p:nvSpPr>
          <p:cNvPr id="14" name="Shape 12"/>
          <p:cNvSpPr/>
          <p:nvPr/>
        </p:nvSpPr>
        <p:spPr>
          <a:xfrm>
            <a:off x="5321808" y="1645920"/>
            <a:ext cx="201168" cy="0"/>
          </a:xfrm>
          <a:prstGeom prst="line">
            <a:avLst/>
          </a:prstGeom>
          <a:noFill/>
          <a:ln w="19050">
            <a:solidFill>
              <a:srgbClr val="CBD3E3"/>
            </a:solidFill>
            <a:prstDash val="solid"/>
            <a:tailEnd type="triangle"/>
          </a:ln>
        </p:spPr>
      </p:sp>
      <p:sp>
        <p:nvSpPr>
          <p:cNvPr id="15" name="Shape 13"/>
          <p:cNvSpPr/>
          <p:nvPr/>
        </p:nvSpPr>
        <p:spPr>
          <a:xfrm>
            <a:off x="3840480" y="1371600"/>
            <a:ext cx="548640" cy="548640"/>
          </a:xfrm>
          <a:prstGeom prst="ellipse">
            <a:avLst/>
          </a:prstGeom>
          <a:solidFill>
            <a:srgbClr val="0B7A80"/>
          </a:solidFill>
          <a:ln w="12700">
            <a:solidFill>
              <a:srgbClr val="0B7A80"/>
            </a:solidFill>
            <a:prstDash val="solid"/>
          </a:ln>
        </p:spPr>
      </p:sp>
      <p:sp>
        <p:nvSpPr>
          <p:cNvPr id="16" name="Text 14"/>
          <p:cNvSpPr/>
          <p:nvPr/>
        </p:nvSpPr>
        <p:spPr>
          <a:xfrm>
            <a:off x="3840480" y="1371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3840480" y="1975104"/>
            <a:ext cx="15087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Install Docker</a:t>
            </a:r>
            <a:endParaRPr lang="en-US" sz="1200" dirty="0"/>
          </a:p>
        </p:txBody>
      </p:sp>
      <p:sp>
        <p:nvSpPr>
          <p:cNvPr id="18" name="Text 16"/>
          <p:cNvSpPr/>
          <p:nvPr/>
        </p:nvSpPr>
        <p:spPr>
          <a:xfrm>
            <a:off x="3840480" y="2231136"/>
            <a:ext cx="1508760" cy="45720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on the server</a:t>
            </a:r>
            <a:endParaRPr lang="en-US" sz="950" dirty="0"/>
          </a:p>
        </p:txBody>
      </p:sp>
      <p:sp>
        <p:nvSpPr>
          <p:cNvPr id="19" name="Shape 17"/>
          <p:cNvSpPr/>
          <p:nvPr/>
        </p:nvSpPr>
        <p:spPr>
          <a:xfrm>
            <a:off x="7013448" y="1645920"/>
            <a:ext cx="201168" cy="0"/>
          </a:xfrm>
          <a:prstGeom prst="line">
            <a:avLst/>
          </a:prstGeom>
          <a:noFill/>
          <a:ln w="19050">
            <a:solidFill>
              <a:srgbClr val="CBD3E3"/>
            </a:solidFill>
            <a:prstDash val="solid"/>
            <a:tailEnd type="triangle"/>
          </a:ln>
        </p:spPr>
      </p:sp>
      <p:sp>
        <p:nvSpPr>
          <p:cNvPr id="20" name="Shape 18"/>
          <p:cNvSpPr/>
          <p:nvPr/>
        </p:nvSpPr>
        <p:spPr>
          <a:xfrm>
            <a:off x="5532120" y="1371600"/>
            <a:ext cx="548640" cy="548640"/>
          </a:xfrm>
          <a:prstGeom prst="ellipse">
            <a:avLst/>
          </a:prstGeom>
          <a:solidFill>
            <a:srgbClr val="0B7A80"/>
          </a:solidFill>
          <a:ln w="12700">
            <a:solidFill>
              <a:srgbClr val="0B7A80"/>
            </a:solidFill>
            <a:prstDash val="solid"/>
          </a:ln>
        </p:spPr>
      </p:sp>
      <p:sp>
        <p:nvSpPr>
          <p:cNvPr id="21" name="Text 19"/>
          <p:cNvSpPr/>
          <p:nvPr/>
        </p:nvSpPr>
        <p:spPr>
          <a:xfrm>
            <a:off x="5532120" y="1371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5532120" y="1975104"/>
            <a:ext cx="15087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Deploy keys + clone</a:t>
            </a:r>
            <a:endParaRPr lang="en-US" sz="1200" dirty="0"/>
          </a:p>
        </p:txBody>
      </p:sp>
      <p:sp>
        <p:nvSpPr>
          <p:cNvPr id="23" name="Text 21"/>
          <p:cNvSpPr/>
          <p:nvPr/>
        </p:nvSpPr>
        <p:spPr>
          <a:xfrm>
            <a:off x="5532120" y="2231136"/>
            <a:ext cx="1508760" cy="45720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on the server · both repos</a:t>
            </a:r>
            <a:endParaRPr lang="en-US" sz="950" dirty="0"/>
          </a:p>
        </p:txBody>
      </p:sp>
      <p:sp>
        <p:nvSpPr>
          <p:cNvPr id="24" name="Shape 22"/>
          <p:cNvSpPr/>
          <p:nvPr/>
        </p:nvSpPr>
        <p:spPr>
          <a:xfrm>
            <a:off x="7223760" y="1371600"/>
            <a:ext cx="548640" cy="548640"/>
          </a:xfrm>
          <a:prstGeom prst="ellipse">
            <a:avLst/>
          </a:prstGeom>
          <a:solidFill>
            <a:srgbClr val="B97A00"/>
          </a:solidFill>
          <a:ln w="12700">
            <a:solidFill>
              <a:srgbClr val="B97A00"/>
            </a:solidFill>
            <a:prstDash val="solid"/>
          </a:ln>
        </p:spPr>
      </p:sp>
      <p:sp>
        <p:nvSpPr>
          <p:cNvPr id="25" name="Text 23"/>
          <p:cNvSpPr/>
          <p:nvPr/>
        </p:nvSpPr>
        <p:spPr>
          <a:xfrm>
            <a:off x="7223760" y="1371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6" name="Text 24"/>
          <p:cNvSpPr/>
          <p:nvPr/>
        </p:nvSpPr>
        <p:spPr>
          <a:xfrm>
            <a:off x="7223760" y="1975104"/>
            <a:ext cx="15087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Copy .env files</a:t>
            </a:r>
            <a:endParaRPr lang="en-US" sz="1200" dirty="0"/>
          </a:p>
        </p:txBody>
      </p:sp>
      <p:sp>
        <p:nvSpPr>
          <p:cNvPr id="27" name="Text 25"/>
          <p:cNvSpPr/>
          <p:nvPr/>
        </p:nvSpPr>
        <p:spPr>
          <a:xfrm>
            <a:off x="7223760" y="2231136"/>
            <a:ext cx="1508760" cy="45720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from the laptop (scp)</a:t>
            </a:r>
            <a:endParaRPr lang="en-US" sz="950" dirty="0"/>
          </a:p>
        </p:txBody>
      </p:sp>
      <p:sp>
        <p:nvSpPr>
          <p:cNvPr id="28" name="Shape 26"/>
          <p:cNvSpPr/>
          <p:nvPr/>
        </p:nvSpPr>
        <p:spPr>
          <a:xfrm>
            <a:off x="1938528" y="3154680"/>
            <a:ext cx="201168" cy="0"/>
          </a:xfrm>
          <a:prstGeom prst="line">
            <a:avLst/>
          </a:prstGeom>
          <a:noFill/>
          <a:ln w="19050">
            <a:solidFill>
              <a:srgbClr val="CBD3E3"/>
            </a:solidFill>
            <a:prstDash val="solid"/>
            <a:tailEnd type="triangle"/>
          </a:ln>
        </p:spPr>
      </p:sp>
      <p:sp>
        <p:nvSpPr>
          <p:cNvPr id="29" name="Shape 27"/>
          <p:cNvSpPr/>
          <p:nvPr/>
        </p:nvSpPr>
        <p:spPr>
          <a:xfrm>
            <a:off x="457200" y="2880360"/>
            <a:ext cx="548640" cy="548640"/>
          </a:xfrm>
          <a:prstGeom prst="ellipse">
            <a:avLst/>
          </a:prstGeom>
          <a:solidFill>
            <a:srgbClr val="1A3884"/>
          </a:solidFill>
          <a:ln w="12700">
            <a:solidFill>
              <a:srgbClr val="1A3884"/>
            </a:solidFill>
            <a:prstDash val="solid"/>
          </a:ln>
        </p:spPr>
      </p:sp>
      <p:sp>
        <p:nvSpPr>
          <p:cNvPr id="30" name="Text 28"/>
          <p:cNvSpPr/>
          <p:nvPr/>
        </p:nvSpPr>
        <p:spPr>
          <a:xfrm>
            <a:off x="457200" y="2880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1" name="Text 29"/>
          <p:cNvSpPr/>
          <p:nvPr/>
        </p:nvSpPr>
        <p:spPr>
          <a:xfrm>
            <a:off x="457200" y="3483864"/>
            <a:ext cx="15087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DNS records</a:t>
            </a:r>
            <a:endParaRPr lang="en-US" sz="1200" dirty="0"/>
          </a:p>
        </p:txBody>
      </p:sp>
      <p:sp>
        <p:nvSpPr>
          <p:cNvPr id="32" name="Text 30"/>
          <p:cNvSpPr/>
          <p:nvPr/>
        </p:nvSpPr>
        <p:spPr>
          <a:xfrm>
            <a:off x="457200" y="3739896"/>
            <a:ext cx="1508760" cy="45720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Hostinger · @ and admin</a:t>
            </a:r>
            <a:endParaRPr lang="en-US" sz="950" dirty="0"/>
          </a:p>
        </p:txBody>
      </p:sp>
      <p:sp>
        <p:nvSpPr>
          <p:cNvPr id="33" name="Shape 31"/>
          <p:cNvSpPr/>
          <p:nvPr/>
        </p:nvSpPr>
        <p:spPr>
          <a:xfrm>
            <a:off x="3630168" y="3154680"/>
            <a:ext cx="201168" cy="0"/>
          </a:xfrm>
          <a:prstGeom prst="line">
            <a:avLst/>
          </a:prstGeom>
          <a:noFill/>
          <a:ln w="19050">
            <a:solidFill>
              <a:srgbClr val="CBD3E3"/>
            </a:solidFill>
            <a:prstDash val="solid"/>
            <a:tailEnd type="triangle"/>
          </a:ln>
        </p:spPr>
      </p:sp>
      <p:sp>
        <p:nvSpPr>
          <p:cNvPr id="34" name="Shape 32"/>
          <p:cNvSpPr/>
          <p:nvPr/>
        </p:nvSpPr>
        <p:spPr>
          <a:xfrm>
            <a:off x="2148840" y="2880360"/>
            <a:ext cx="548640" cy="548640"/>
          </a:xfrm>
          <a:prstGeom prst="ellipse">
            <a:avLst/>
          </a:prstGeom>
          <a:solidFill>
            <a:srgbClr val="0B7A80"/>
          </a:solidFill>
          <a:ln w="12700">
            <a:solidFill>
              <a:srgbClr val="0B7A80"/>
            </a:solidFill>
            <a:prstDash val="solid"/>
          </a:ln>
        </p:spPr>
      </p:sp>
      <p:sp>
        <p:nvSpPr>
          <p:cNvPr id="35" name="Text 33"/>
          <p:cNvSpPr/>
          <p:nvPr/>
        </p:nvSpPr>
        <p:spPr>
          <a:xfrm>
            <a:off x="2148840" y="2880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6" name="Text 34"/>
          <p:cNvSpPr/>
          <p:nvPr/>
        </p:nvSpPr>
        <p:spPr>
          <a:xfrm>
            <a:off x="2148840" y="3483864"/>
            <a:ext cx="15087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HTTPS certificate</a:t>
            </a:r>
            <a:endParaRPr lang="en-US" sz="1200" dirty="0"/>
          </a:p>
        </p:txBody>
      </p:sp>
      <p:sp>
        <p:nvSpPr>
          <p:cNvPr id="37" name="Text 35"/>
          <p:cNvSpPr/>
          <p:nvPr/>
        </p:nvSpPr>
        <p:spPr>
          <a:xfrm>
            <a:off x="2148840" y="3739896"/>
            <a:ext cx="1508760" cy="45720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on the server · bootstrap.sh</a:t>
            </a:r>
            <a:endParaRPr lang="en-US" sz="950" dirty="0"/>
          </a:p>
        </p:txBody>
      </p:sp>
      <p:sp>
        <p:nvSpPr>
          <p:cNvPr id="38" name="Shape 36"/>
          <p:cNvSpPr/>
          <p:nvPr/>
        </p:nvSpPr>
        <p:spPr>
          <a:xfrm>
            <a:off x="5321808" y="3154680"/>
            <a:ext cx="201168" cy="0"/>
          </a:xfrm>
          <a:prstGeom prst="line">
            <a:avLst/>
          </a:prstGeom>
          <a:noFill/>
          <a:ln w="19050">
            <a:solidFill>
              <a:srgbClr val="CBD3E3"/>
            </a:solidFill>
            <a:prstDash val="solid"/>
            <a:tailEnd type="triangle"/>
          </a:ln>
        </p:spPr>
      </p:sp>
      <p:sp>
        <p:nvSpPr>
          <p:cNvPr id="39" name="Shape 37"/>
          <p:cNvSpPr/>
          <p:nvPr/>
        </p:nvSpPr>
        <p:spPr>
          <a:xfrm>
            <a:off x="3840480" y="2880360"/>
            <a:ext cx="548640" cy="548640"/>
          </a:xfrm>
          <a:prstGeom prst="ellipse">
            <a:avLst/>
          </a:prstGeom>
          <a:solidFill>
            <a:srgbClr val="0B7A80"/>
          </a:solidFill>
          <a:ln w="12700">
            <a:solidFill>
              <a:srgbClr val="0B7A80"/>
            </a:solidFill>
            <a:prstDash val="solid"/>
          </a:ln>
        </p:spPr>
      </p:sp>
      <p:sp>
        <p:nvSpPr>
          <p:cNvPr id="40" name="Text 38"/>
          <p:cNvSpPr/>
          <p:nvPr/>
        </p:nvSpPr>
        <p:spPr>
          <a:xfrm>
            <a:off x="3840480" y="2880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41" name="Text 39"/>
          <p:cNvSpPr/>
          <p:nvPr/>
        </p:nvSpPr>
        <p:spPr>
          <a:xfrm>
            <a:off x="3840480" y="3483864"/>
            <a:ext cx="15087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First deployment</a:t>
            </a:r>
            <a:endParaRPr lang="en-US" sz="1200" dirty="0"/>
          </a:p>
        </p:txBody>
      </p:sp>
      <p:sp>
        <p:nvSpPr>
          <p:cNvPr id="42" name="Text 40"/>
          <p:cNvSpPr/>
          <p:nvPr/>
        </p:nvSpPr>
        <p:spPr>
          <a:xfrm>
            <a:off x="3840480" y="3739896"/>
            <a:ext cx="1508760" cy="45720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on the server · compose up</a:t>
            </a:r>
            <a:endParaRPr lang="en-US" sz="950" dirty="0"/>
          </a:p>
        </p:txBody>
      </p:sp>
      <p:sp>
        <p:nvSpPr>
          <p:cNvPr id="43" name="Shape 41"/>
          <p:cNvSpPr/>
          <p:nvPr/>
        </p:nvSpPr>
        <p:spPr>
          <a:xfrm>
            <a:off x="7013448" y="3154680"/>
            <a:ext cx="201168" cy="0"/>
          </a:xfrm>
          <a:prstGeom prst="line">
            <a:avLst/>
          </a:prstGeom>
          <a:noFill/>
          <a:ln w="19050">
            <a:solidFill>
              <a:srgbClr val="CBD3E3"/>
            </a:solidFill>
            <a:prstDash val="solid"/>
            <a:tailEnd type="triangle"/>
          </a:ln>
        </p:spPr>
      </p:sp>
      <p:sp>
        <p:nvSpPr>
          <p:cNvPr id="44" name="Shape 42"/>
          <p:cNvSpPr/>
          <p:nvPr/>
        </p:nvSpPr>
        <p:spPr>
          <a:xfrm>
            <a:off x="5532120" y="2880360"/>
            <a:ext cx="548640" cy="548640"/>
          </a:xfrm>
          <a:prstGeom prst="ellipse">
            <a:avLst/>
          </a:prstGeom>
          <a:solidFill>
            <a:srgbClr val="0B7A80"/>
          </a:solidFill>
          <a:ln w="12700">
            <a:solidFill>
              <a:srgbClr val="0B7A80"/>
            </a:solidFill>
            <a:prstDash val="solid"/>
          </a:ln>
        </p:spPr>
      </p:sp>
      <p:sp>
        <p:nvSpPr>
          <p:cNvPr id="45" name="Text 43"/>
          <p:cNvSpPr/>
          <p:nvPr/>
        </p:nvSpPr>
        <p:spPr>
          <a:xfrm>
            <a:off x="5532120" y="2880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46" name="Text 44"/>
          <p:cNvSpPr/>
          <p:nvPr/>
        </p:nvSpPr>
        <p:spPr>
          <a:xfrm>
            <a:off x="5532120" y="3483864"/>
            <a:ext cx="15087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Fix uploads folder</a:t>
            </a:r>
            <a:endParaRPr lang="en-US" sz="1200" dirty="0"/>
          </a:p>
        </p:txBody>
      </p:sp>
      <p:sp>
        <p:nvSpPr>
          <p:cNvPr id="47" name="Text 45"/>
          <p:cNvSpPr/>
          <p:nvPr/>
        </p:nvSpPr>
        <p:spPr>
          <a:xfrm>
            <a:off x="5532120" y="3739896"/>
            <a:ext cx="1508760" cy="45720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on the server · chown</a:t>
            </a:r>
            <a:endParaRPr lang="en-US" sz="950" dirty="0"/>
          </a:p>
        </p:txBody>
      </p:sp>
      <p:sp>
        <p:nvSpPr>
          <p:cNvPr id="48" name="Shape 46"/>
          <p:cNvSpPr/>
          <p:nvPr/>
        </p:nvSpPr>
        <p:spPr>
          <a:xfrm>
            <a:off x="7223760" y="2880360"/>
            <a:ext cx="548640" cy="548640"/>
          </a:xfrm>
          <a:prstGeom prst="ellipse">
            <a:avLst/>
          </a:prstGeom>
          <a:solidFill>
            <a:srgbClr val="B97A00"/>
          </a:solidFill>
          <a:ln w="12700">
            <a:solidFill>
              <a:srgbClr val="B97A00"/>
            </a:solidFill>
            <a:prstDash val="solid"/>
          </a:ln>
        </p:spPr>
      </p:sp>
      <p:sp>
        <p:nvSpPr>
          <p:cNvPr id="49" name="Text 47"/>
          <p:cNvSpPr/>
          <p:nvPr/>
        </p:nvSpPr>
        <p:spPr>
          <a:xfrm>
            <a:off x="7223760" y="2880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50" name="Text 48"/>
          <p:cNvSpPr/>
          <p:nvPr/>
        </p:nvSpPr>
        <p:spPr>
          <a:xfrm>
            <a:off x="7223760" y="3483864"/>
            <a:ext cx="1508760" cy="274320"/>
          </a:xfrm>
          <a:prstGeom prst="rect">
            <a:avLst/>
          </a:prstGeom>
          <a:noFill/>
          <a:ln/>
        </p:spPr>
        <p:txBody>
          <a:bodyPr wrap="square" lIns="0" tIns="0" rIns="0" bIns="0" rtlCol="0" anchor="ctr"/>
          <a:lstStyle/>
          <a:p>
            <a:pPr indent="0" marL="0">
              <a:buNone/>
            </a:pPr>
            <a:r>
              <a:rPr lang="en-US" sz="1200" b="1" dirty="0">
                <a:solidFill>
                  <a:srgbClr val="0F1B33"/>
                </a:solidFill>
                <a:latin typeface="Calibri" pitchFamily="34" charset="0"/>
                <a:ea typeface="Calibri" pitchFamily="34" charset="-122"/>
                <a:cs typeface="Calibri" pitchFamily="34" charset="-120"/>
              </a:rPr>
              <a:t>Verify both sites</a:t>
            </a:r>
            <a:endParaRPr lang="en-US" sz="1200" dirty="0"/>
          </a:p>
        </p:txBody>
      </p:sp>
      <p:sp>
        <p:nvSpPr>
          <p:cNvPr id="51" name="Text 49"/>
          <p:cNvSpPr/>
          <p:nvPr/>
        </p:nvSpPr>
        <p:spPr>
          <a:xfrm>
            <a:off x="7223760" y="3739896"/>
            <a:ext cx="1508760" cy="457200"/>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curl from anywhere · 200 OK</a:t>
            </a:r>
            <a:endParaRPr lang="en-US" sz="950" dirty="0"/>
          </a:p>
        </p:txBody>
      </p:sp>
      <p:sp>
        <p:nvSpPr>
          <p:cNvPr id="52" name="Shape 50"/>
          <p:cNvSpPr/>
          <p:nvPr/>
        </p:nvSpPr>
        <p:spPr>
          <a:xfrm>
            <a:off x="457200" y="4407408"/>
            <a:ext cx="164592" cy="164592"/>
          </a:xfrm>
          <a:prstGeom prst="ellipse">
            <a:avLst/>
          </a:prstGeom>
          <a:solidFill>
            <a:srgbClr val="1A3884"/>
          </a:solidFill>
          <a:ln w="12700">
            <a:solidFill>
              <a:srgbClr val="1A3884"/>
            </a:solidFill>
            <a:prstDash val="solid"/>
          </a:ln>
        </p:spPr>
      </p:sp>
      <p:sp>
        <p:nvSpPr>
          <p:cNvPr id="53" name="Text 51"/>
          <p:cNvSpPr/>
          <p:nvPr/>
        </p:nvSpPr>
        <p:spPr>
          <a:xfrm>
            <a:off x="685800" y="4352544"/>
            <a:ext cx="2377440" cy="274320"/>
          </a:xfrm>
          <a:prstGeom prst="rect">
            <a:avLst/>
          </a:prstGeom>
          <a:noFill/>
          <a:ln/>
        </p:spPr>
        <p:txBody>
          <a:bodyPr wrap="square" lIns="0" tIns="0" rIns="0" bIns="0" rtlCol="0" anchor="ctr"/>
          <a:lstStyle/>
          <a:p>
            <a:pPr indent="0" marL="0">
              <a:buNone/>
            </a:pPr>
            <a:r>
              <a:rPr lang="en-US" sz="1000" dirty="0">
                <a:solidFill>
                  <a:srgbClr val="5A6782"/>
                </a:solidFill>
                <a:latin typeface="Calibri" pitchFamily="34" charset="0"/>
                <a:ea typeface="Calibri" pitchFamily="34" charset="-122"/>
                <a:cs typeface="Calibri" pitchFamily="34" charset="-120"/>
              </a:rPr>
              <a:t>In the browser (AWS / Hostinger)</a:t>
            </a:r>
            <a:endParaRPr lang="en-US" sz="1000" dirty="0"/>
          </a:p>
        </p:txBody>
      </p:sp>
      <p:sp>
        <p:nvSpPr>
          <p:cNvPr id="54" name="Shape 52"/>
          <p:cNvSpPr/>
          <p:nvPr/>
        </p:nvSpPr>
        <p:spPr>
          <a:xfrm>
            <a:off x="3108960" y="4407408"/>
            <a:ext cx="164592" cy="164592"/>
          </a:xfrm>
          <a:prstGeom prst="ellipse">
            <a:avLst/>
          </a:prstGeom>
          <a:solidFill>
            <a:srgbClr val="0B7A80"/>
          </a:solidFill>
          <a:ln w="12700">
            <a:solidFill>
              <a:srgbClr val="0B7A80"/>
            </a:solidFill>
            <a:prstDash val="solid"/>
          </a:ln>
        </p:spPr>
      </p:sp>
      <p:sp>
        <p:nvSpPr>
          <p:cNvPr id="55" name="Text 53"/>
          <p:cNvSpPr/>
          <p:nvPr/>
        </p:nvSpPr>
        <p:spPr>
          <a:xfrm>
            <a:off x="3337560" y="4352544"/>
            <a:ext cx="2377440" cy="274320"/>
          </a:xfrm>
          <a:prstGeom prst="rect">
            <a:avLst/>
          </a:prstGeom>
          <a:noFill/>
          <a:ln/>
        </p:spPr>
        <p:txBody>
          <a:bodyPr wrap="square" lIns="0" tIns="0" rIns="0" bIns="0" rtlCol="0" anchor="ctr"/>
          <a:lstStyle/>
          <a:p>
            <a:pPr indent="0" marL="0">
              <a:buNone/>
            </a:pPr>
            <a:r>
              <a:rPr lang="en-US" sz="1000" dirty="0">
                <a:solidFill>
                  <a:srgbClr val="5A6782"/>
                </a:solidFill>
                <a:latin typeface="Calibri" pitchFamily="34" charset="0"/>
                <a:ea typeface="Calibri" pitchFamily="34" charset="-122"/>
                <a:cs typeface="Calibri" pitchFamily="34" charset="-120"/>
              </a:rPr>
              <a:t>On the server (SSH)</a:t>
            </a:r>
            <a:endParaRPr lang="en-US" sz="1000" dirty="0"/>
          </a:p>
        </p:txBody>
      </p:sp>
      <p:sp>
        <p:nvSpPr>
          <p:cNvPr id="56" name="Shape 54"/>
          <p:cNvSpPr/>
          <p:nvPr/>
        </p:nvSpPr>
        <p:spPr>
          <a:xfrm>
            <a:off x="5760720" y="4407408"/>
            <a:ext cx="164592" cy="164592"/>
          </a:xfrm>
          <a:prstGeom prst="ellipse">
            <a:avLst/>
          </a:prstGeom>
          <a:solidFill>
            <a:srgbClr val="B97A00"/>
          </a:solidFill>
          <a:ln w="12700">
            <a:solidFill>
              <a:srgbClr val="B97A00"/>
            </a:solidFill>
            <a:prstDash val="solid"/>
          </a:ln>
        </p:spPr>
      </p:sp>
      <p:sp>
        <p:nvSpPr>
          <p:cNvPr id="57" name="Text 55"/>
          <p:cNvSpPr/>
          <p:nvPr/>
        </p:nvSpPr>
        <p:spPr>
          <a:xfrm>
            <a:off x="5989320" y="4352544"/>
            <a:ext cx="2377440" cy="274320"/>
          </a:xfrm>
          <a:prstGeom prst="rect">
            <a:avLst/>
          </a:prstGeom>
          <a:noFill/>
          <a:ln/>
        </p:spPr>
        <p:txBody>
          <a:bodyPr wrap="square" lIns="0" tIns="0" rIns="0" bIns="0" rtlCol="0" anchor="ctr"/>
          <a:lstStyle/>
          <a:p>
            <a:pPr indent="0" marL="0">
              <a:buNone/>
            </a:pPr>
            <a:r>
              <a:rPr lang="en-US" sz="1000" dirty="0">
                <a:solidFill>
                  <a:srgbClr val="5A6782"/>
                </a:solidFill>
                <a:latin typeface="Calibri" pitchFamily="34" charset="0"/>
                <a:ea typeface="Calibri" pitchFamily="34" charset="-122"/>
                <a:cs typeface="Calibri" pitchFamily="34" charset="-120"/>
              </a:rPr>
              <a:t>From the laptop</a:t>
            </a:r>
            <a:endParaRPr lang="en-US" sz="1000" dirty="0"/>
          </a:p>
        </p:txBody>
      </p:sp>
      <p:sp>
        <p:nvSpPr>
          <p:cNvPr id="58" name="Text 56"/>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rgbClr val="5A6782"/>
                </a:solidFill>
                <a:latin typeface="Calibri" pitchFamily="34" charset="0"/>
                <a:ea typeface="Calibri" pitchFamily="34" charset="-122"/>
                <a:cs typeface="Calibri" pitchFamily="34" charset="-120"/>
              </a:rPr>
              <a:t>SMAART Institute · How we put it live</a:t>
            </a:r>
            <a:endParaRPr lang="en-US" sz="900" dirty="0"/>
          </a:p>
        </p:txBody>
      </p:sp>
      <p:sp>
        <p:nvSpPr>
          <p:cNvPr id="59" name="Text 57"/>
          <p:cNvSpPr/>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A6782"/>
                </a:solidFill>
                <a:latin typeface="Calibri" pitchFamily="34" charset="0"/>
                <a:ea typeface="Calibri" pitchFamily="34" charset="-122"/>
                <a:cs typeface="Calibri" pitchFamily="34" charset="-120"/>
              </a:rPr>
              <a:t>5 /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A3884"/>
                </a:solidFill>
                <a:latin typeface="Calibri" pitchFamily="34" charset="0"/>
                <a:ea typeface="Calibri" pitchFamily="34" charset="-122"/>
                <a:cs typeface="Calibri" pitchFamily="34" charset="-120"/>
              </a:rPr>
              <a:t>5. The proper way: how we deploy a new version now</a:t>
            </a:r>
            <a:endParaRPr lang="en-US" sz="2800" dirty="0"/>
          </a:p>
        </p:txBody>
      </p:sp>
      <p:sp>
        <p:nvSpPr>
          <p:cNvPr id="3" name="Text 1"/>
          <p:cNvSpPr/>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782"/>
                </a:solidFill>
                <a:latin typeface="Calibri" pitchFamily="34" charset="0"/>
                <a:ea typeface="Calibri" pitchFamily="34" charset="-122"/>
                <a:cs typeface="Calibri" pitchFamily="34" charset="-120"/>
              </a:rPr>
              <a:t>Pushing code builds it automatically. Putting it live is a deliberate click by a person.</a:t>
            </a:r>
            <a:endParaRPr lang="en-US" sz="1300" dirty="0"/>
          </a:p>
        </p:txBody>
      </p:sp>
      <p:pic>
        <p:nvPicPr>
          <p:cNvPr id="4" name="Image 0" descr="pipeline.png">    </p:cNvPr>
          <p:cNvPicPr>
            <a:picLocks noChangeAspect="1"/>
          </p:cNvPicPr>
          <p:nvPr/>
        </p:nvPicPr>
        <p:blipFill>
          <a:blip r:embed="rId1"/>
          <a:stretch>
            <a:fillRect/>
          </a:stretch>
        </p:blipFill>
        <p:spPr>
          <a:xfrm>
            <a:off x="365760" y="1234440"/>
            <a:ext cx="5760720" cy="2139696"/>
          </a:xfrm>
          <a:prstGeom prst="rect">
            <a:avLst/>
          </a:prstGeom>
        </p:spPr>
      </p:pic>
      <p:sp>
        <p:nvSpPr>
          <p:cNvPr id="5" name="Text 2"/>
          <p:cNvSpPr/>
          <p:nvPr/>
        </p:nvSpPr>
        <p:spPr>
          <a:xfrm>
            <a:off x="457200" y="3474720"/>
            <a:ext cx="5486400" cy="274320"/>
          </a:xfrm>
          <a:prstGeom prst="rect">
            <a:avLst/>
          </a:prstGeom>
          <a:noFill/>
          <a:ln/>
        </p:spPr>
        <p:txBody>
          <a:bodyPr wrap="square" lIns="0" tIns="0" rIns="0" bIns="0" rtlCol="0" anchor="ctr"/>
          <a:lstStyle/>
          <a:p>
            <a:pPr indent="0" marL="0">
              <a:buNone/>
            </a:pPr>
            <a:r>
              <a:rPr lang="en-US" sz="1200" b="1" dirty="0">
                <a:solidFill>
                  <a:srgbClr val="1A3884"/>
                </a:solidFill>
                <a:latin typeface="Calibri" pitchFamily="34" charset="0"/>
                <a:ea typeface="Calibri" pitchFamily="34" charset="-122"/>
                <a:cs typeface="Calibri" pitchFamily="34" charset="-120"/>
              </a:rPr>
              <a:t>To deploy</a:t>
            </a:r>
            <a:endParaRPr lang="en-US" sz="1200" dirty="0"/>
          </a:p>
        </p:txBody>
      </p:sp>
      <p:sp>
        <p:nvSpPr>
          <p:cNvPr id="6" name="Text 3"/>
          <p:cNvSpPr/>
          <p:nvPr/>
        </p:nvSpPr>
        <p:spPr>
          <a:xfrm>
            <a:off x="457200" y="3749040"/>
            <a:ext cx="5669280" cy="100584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050" dirty="0">
                <a:solidFill>
                  <a:srgbClr val="0F1B33"/>
                </a:solidFill>
                <a:latin typeface="Calibri" pitchFamily="34" charset="0"/>
                <a:ea typeface="Calibri" pitchFamily="34" charset="-122"/>
                <a:cs typeface="Calibri" pitchFamily="34" charset="-120"/>
              </a:rPr>
              <a:t>Merge code into main → images build on GitHub (~4 min).</a:t>
            </a:r>
            <a:endParaRPr lang="en-US" sz="1050" dirty="0"/>
          </a:p>
          <a:p>
            <a:pPr marL="342900" indent="-342900">
              <a:spcAft>
                <a:spcPts val="300"/>
              </a:spcAft>
              <a:buSzPct val="100000"/>
              <a:buFont typeface="+mj-lt"/>
              <a:buAutoNum type="arabicPeriod" startAt="1"/>
            </a:pPr>
            <a:r>
              <a:rPr lang="en-US" sz="1050" dirty="0">
                <a:solidFill>
                  <a:srgbClr val="0F1B33"/>
                </a:solidFill>
                <a:latin typeface="Calibri" pitchFamily="34" charset="0"/>
                <a:ea typeface="Calibri" pitchFamily="34" charset="-122"/>
                <a:cs typeface="Calibri" pitchFamily="34" charset="-120"/>
              </a:rPr>
              <a:t>Dashboard repo → Actions → "Deploy to production".</a:t>
            </a:r>
            <a:endParaRPr lang="en-US" sz="1050" dirty="0"/>
          </a:p>
          <a:p>
            <a:pPr marL="342900" indent="-342900">
              <a:spcAft>
                <a:spcPts val="300"/>
              </a:spcAft>
              <a:buSzPct val="100000"/>
              <a:buFont typeface="+mj-lt"/>
              <a:buAutoNum type="arabicPeriod" startAt="1"/>
            </a:pPr>
            <a:r>
              <a:rPr lang="en-US" sz="1050" dirty="0">
                <a:solidFill>
                  <a:srgbClr val="0F1B33"/>
                </a:solidFill>
                <a:latin typeface="Calibri" pitchFamily="34" charset="0"/>
                <a:ea typeface="Calibri" pitchFamily="34" charset="-122"/>
                <a:cs typeface="Calibri" pitchFamily="34" charset="-120"/>
              </a:rPr>
              <a:t>Grey "Run workflow ⌄" → keep "latest" → green "Run workflow".</a:t>
            </a:r>
            <a:endParaRPr lang="en-US" sz="1050" dirty="0"/>
          </a:p>
          <a:p>
            <a:pPr marL="342900" indent="-342900">
              <a:spcAft>
                <a:spcPts val="300"/>
              </a:spcAft>
              <a:buSzPct val="100000"/>
              <a:buFont typeface="+mj-lt"/>
              <a:buAutoNum type="arabicPeriod" startAt="1"/>
            </a:pPr>
            <a:r>
              <a:rPr lang="en-US" sz="1050" dirty="0">
                <a:solidFill>
                  <a:srgbClr val="0F1B33"/>
                </a:solidFill>
                <a:latin typeface="Calibri" pitchFamily="34" charset="0"/>
                <a:ea typeface="Calibri" pitchFamily="34" charset="-122"/>
                <a:cs typeface="Calibri" pitchFamily="34" charset="-120"/>
              </a:rPr>
              <a:t>Server pulls the images and restarts (~50 s).</a:t>
            </a:r>
            <a:endParaRPr lang="en-US" sz="1050" dirty="0"/>
          </a:p>
          <a:p>
            <a:pPr marL="342900" indent="-342900">
              <a:spcAft>
                <a:spcPts val="300"/>
              </a:spcAft>
              <a:buSzPct val="100000"/>
              <a:buFont typeface="+mj-lt"/>
              <a:buAutoNum type="arabicPeriod" startAt="1"/>
            </a:pPr>
            <a:r>
              <a:rPr lang="en-US" sz="1050" dirty="0">
                <a:solidFill>
                  <a:srgbClr val="0F1B33"/>
                </a:solidFill>
                <a:latin typeface="Calibri" pitchFamily="34" charset="0"/>
                <a:ea typeface="Calibri" pitchFamily="34" charset="-122"/>
                <a:cs typeface="Calibri" pitchFamily="34" charset="-120"/>
              </a:rPr>
              <a:t>Health check passes → live. Fails → automatic rollback.</a:t>
            </a:r>
            <a:endParaRPr lang="en-US" sz="1050" dirty="0"/>
          </a:p>
        </p:txBody>
      </p:sp>
      <p:sp>
        <p:nvSpPr>
          <p:cNvPr id="7" name="Shape 4"/>
          <p:cNvSpPr/>
          <p:nvPr/>
        </p:nvSpPr>
        <p:spPr>
          <a:xfrm>
            <a:off x="6355080" y="1234440"/>
            <a:ext cx="2331720" cy="1051560"/>
          </a:xfrm>
          <a:prstGeom prst="roundRect">
            <a:avLst>
              <a:gd name="adj" fmla="val 6957"/>
            </a:avLst>
          </a:prstGeom>
          <a:solidFill>
            <a:srgbClr val="DFF2F2"/>
          </a:solidFill>
          <a:ln w="12700">
            <a:solidFill>
              <a:srgbClr val="DFF2F2"/>
            </a:solidFill>
            <a:prstDash val="solid"/>
          </a:ln>
        </p:spPr>
      </p:sp>
      <p:sp>
        <p:nvSpPr>
          <p:cNvPr id="8" name="Shape 5"/>
          <p:cNvSpPr/>
          <p:nvPr/>
        </p:nvSpPr>
        <p:spPr>
          <a:xfrm>
            <a:off x="6492240" y="1371600"/>
            <a:ext cx="411480" cy="41148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6595110" y="1474470"/>
            <a:ext cx="205740" cy="205740"/>
          </a:xfrm>
          <a:prstGeom prst="rect">
            <a:avLst/>
          </a:prstGeom>
        </p:spPr>
      </p:pic>
      <p:sp>
        <p:nvSpPr>
          <p:cNvPr id="10" name="Text 6"/>
          <p:cNvSpPr/>
          <p:nvPr/>
        </p:nvSpPr>
        <p:spPr>
          <a:xfrm>
            <a:off x="6995160" y="1344168"/>
            <a:ext cx="1600200" cy="457200"/>
          </a:xfrm>
          <a:prstGeom prst="rect">
            <a:avLst/>
          </a:prstGeom>
          <a:noFill/>
          <a:ln/>
        </p:spPr>
        <p:txBody>
          <a:bodyPr wrap="square" lIns="0" tIns="0" rIns="0" bIns="0" rtlCol="0" anchor="ctr"/>
          <a:lstStyle/>
          <a:p>
            <a:pPr indent="0" marL="0">
              <a:buNone/>
            </a:pPr>
            <a:r>
              <a:rPr lang="en-US" sz="1150" b="1" dirty="0">
                <a:solidFill>
                  <a:srgbClr val="0F1B33"/>
                </a:solidFill>
                <a:latin typeface="Calibri" pitchFamily="34" charset="0"/>
                <a:ea typeface="Calibri" pitchFamily="34" charset="-122"/>
                <a:cs typeface="Calibri" pitchFamily="34" charset="-120"/>
              </a:rPr>
              <a:t>Never build on the live server</a:t>
            </a:r>
            <a:endParaRPr lang="en-US" sz="1150" dirty="0"/>
          </a:p>
        </p:txBody>
      </p:sp>
      <p:sp>
        <p:nvSpPr>
          <p:cNvPr id="11" name="Text 7"/>
          <p:cNvSpPr/>
          <p:nvPr/>
        </p:nvSpPr>
        <p:spPr>
          <a:xfrm>
            <a:off x="6492240" y="1856232"/>
            <a:ext cx="2057400" cy="338328"/>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Builds run on GitHub's machines, so students are never slowed down.</a:t>
            </a:r>
            <a:endParaRPr lang="en-US" sz="950" dirty="0"/>
          </a:p>
        </p:txBody>
      </p:sp>
      <p:sp>
        <p:nvSpPr>
          <p:cNvPr id="12" name="Shape 8"/>
          <p:cNvSpPr/>
          <p:nvPr/>
        </p:nvSpPr>
        <p:spPr>
          <a:xfrm>
            <a:off x="6355080" y="2395728"/>
            <a:ext cx="2331720" cy="1051560"/>
          </a:xfrm>
          <a:prstGeom prst="roundRect">
            <a:avLst>
              <a:gd name="adj" fmla="val 6957"/>
            </a:avLst>
          </a:prstGeom>
          <a:solidFill>
            <a:srgbClr val="DFF2F2"/>
          </a:solidFill>
          <a:ln w="12700">
            <a:solidFill>
              <a:srgbClr val="DFF2F2"/>
            </a:solidFill>
            <a:prstDash val="solid"/>
          </a:ln>
        </p:spPr>
      </p:sp>
      <p:sp>
        <p:nvSpPr>
          <p:cNvPr id="13" name="Shape 9"/>
          <p:cNvSpPr/>
          <p:nvPr/>
        </p:nvSpPr>
        <p:spPr>
          <a:xfrm>
            <a:off x="6492240" y="2532888"/>
            <a:ext cx="411480" cy="41148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595110" y="2635758"/>
            <a:ext cx="205740" cy="205740"/>
          </a:xfrm>
          <a:prstGeom prst="rect">
            <a:avLst/>
          </a:prstGeom>
        </p:spPr>
      </p:pic>
      <p:sp>
        <p:nvSpPr>
          <p:cNvPr id="15" name="Text 10"/>
          <p:cNvSpPr/>
          <p:nvPr/>
        </p:nvSpPr>
        <p:spPr>
          <a:xfrm>
            <a:off x="6995160" y="2505456"/>
            <a:ext cx="1600200" cy="457200"/>
          </a:xfrm>
          <a:prstGeom prst="rect">
            <a:avLst/>
          </a:prstGeom>
          <a:noFill/>
          <a:ln/>
        </p:spPr>
        <p:txBody>
          <a:bodyPr wrap="square" lIns="0" tIns="0" rIns="0" bIns="0" rtlCol="0" anchor="ctr"/>
          <a:lstStyle/>
          <a:p>
            <a:pPr indent="0" marL="0">
              <a:buNone/>
            </a:pPr>
            <a:r>
              <a:rPr lang="en-US" sz="1150" b="1" dirty="0">
                <a:solidFill>
                  <a:srgbClr val="0F1B33"/>
                </a:solidFill>
                <a:latin typeface="Calibri" pitchFamily="34" charset="0"/>
                <a:ea typeface="Calibri" pitchFamily="34" charset="-122"/>
                <a:cs typeface="Calibri" pitchFamily="34" charset="-120"/>
              </a:rPr>
              <a:t>Health check on every deploy</a:t>
            </a:r>
            <a:endParaRPr lang="en-US" sz="1150" dirty="0"/>
          </a:p>
        </p:txBody>
      </p:sp>
      <p:sp>
        <p:nvSpPr>
          <p:cNvPr id="16" name="Text 11"/>
          <p:cNvSpPr/>
          <p:nvPr/>
        </p:nvSpPr>
        <p:spPr>
          <a:xfrm>
            <a:off x="6492240" y="3017520"/>
            <a:ext cx="2057400" cy="338328"/>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20 tries over ~100 s on both sites and the database.</a:t>
            </a:r>
            <a:endParaRPr lang="en-US" sz="950" dirty="0"/>
          </a:p>
        </p:txBody>
      </p:sp>
      <p:sp>
        <p:nvSpPr>
          <p:cNvPr id="17" name="Shape 12"/>
          <p:cNvSpPr/>
          <p:nvPr/>
        </p:nvSpPr>
        <p:spPr>
          <a:xfrm>
            <a:off x="6355080" y="3557016"/>
            <a:ext cx="2331720" cy="1051560"/>
          </a:xfrm>
          <a:prstGeom prst="roundRect">
            <a:avLst>
              <a:gd name="adj" fmla="val 6957"/>
            </a:avLst>
          </a:prstGeom>
          <a:solidFill>
            <a:srgbClr val="DFF2F2"/>
          </a:solidFill>
          <a:ln w="12700">
            <a:solidFill>
              <a:srgbClr val="DFF2F2"/>
            </a:solidFill>
            <a:prstDash val="solid"/>
          </a:ln>
        </p:spPr>
      </p:sp>
      <p:sp>
        <p:nvSpPr>
          <p:cNvPr id="18" name="Shape 13"/>
          <p:cNvSpPr/>
          <p:nvPr/>
        </p:nvSpPr>
        <p:spPr>
          <a:xfrm>
            <a:off x="6492240" y="3694176"/>
            <a:ext cx="411480" cy="41148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6595110" y="3797046"/>
            <a:ext cx="205740" cy="205740"/>
          </a:xfrm>
          <a:prstGeom prst="rect">
            <a:avLst/>
          </a:prstGeom>
        </p:spPr>
      </p:pic>
      <p:sp>
        <p:nvSpPr>
          <p:cNvPr id="20" name="Text 14"/>
          <p:cNvSpPr/>
          <p:nvPr/>
        </p:nvSpPr>
        <p:spPr>
          <a:xfrm>
            <a:off x="6995160" y="3666744"/>
            <a:ext cx="1600200" cy="457200"/>
          </a:xfrm>
          <a:prstGeom prst="rect">
            <a:avLst/>
          </a:prstGeom>
          <a:noFill/>
          <a:ln/>
        </p:spPr>
        <p:txBody>
          <a:bodyPr wrap="square" lIns="0" tIns="0" rIns="0" bIns="0" rtlCol="0" anchor="ctr"/>
          <a:lstStyle/>
          <a:p>
            <a:pPr indent="0" marL="0">
              <a:buNone/>
            </a:pPr>
            <a:r>
              <a:rPr lang="en-US" sz="1150" b="1" dirty="0">
                <a:solidFill>
                  <a:srgbClr val="0F1B33"/>
                </a:solidFill>
                <a:latin typeface="Calibri" pitchFamily="34" charset="0"/>
                <a:ea typeface="Calibri" pitchFamily="34" charset="-122"/>
                <a:cs typeface="Calibri" pitchFamily="34" charset="-120"/>
              </a:rPr>
              <a:t>Automatic rollback</a:t>
            </a:r>
            <a:endParaRPr lang="en-US" sz="1150" dirty="0"/>
          </a:p>
        </p:txBody>
      </p:sp>
      <p:sp>
        <p:nvSpPr>
          <p:cNvPr id="21" name="Text 15"/>
          <p:cNvSpPr/>
          <p:nvPr/>
        </p:nvSpPr>
        <p:spPr>
          <a:xfrm>
            <a:off x="6492240" y="4178808"/>
            <a:ext cx="2057400" cy="338328"/>
          </a:xfrm>
          <a:prstGeom prst="rect">
            <a:avLst/>
          </a:prstGeom>
          <a:noFill/>
          <a:ln/>
        </p:spPr>
        <p:txBody>
          <a:bodyPr wrap="square" lIns="0" tIns="0" rIns="0" bIns="0" rtlCol="0" anchor="t"/>
          <a:lstStyle/>
          <a:p>
            <a:pPr indent="0" marL="0">
              <a:buNone/>
            </a:pPr>
            <a:r>
              <a:rPr lang="en-US" sz="950" dirty="0">
                <a:solidFill>
                  <a:srgbClr val="5A6782"/>
                </a:solidFill>
                <a:latin typeface="Calibri" pitchFamily="34" charset="0"/>
                <a:ea typeface="Calibri" pitchFamily="34" charset="-122"/>
                <a:cs typeface="Calibri" pitchFamily="34" charset="-120"/>
              </a:rPr>
              <a:t>A bad deploy restores the previous version by itself.</a:t>
            </a:r>
            <a:endParaRPr lang="en-US" sz="950" dirty="0"/>
          </a:p>
        </p:txBody>
      </p:sp>
      <p:sp>
        <p:nvSpPr>
          <p:cNvPr id="22" name="Text 16"/>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rgbClr val="5A6782"/>
                </a:solidFill>
                <a:latin typeface="Calibri" pitchFamily="34" charset="0"/>
                <a:ea typeface="Calibri" pitchFamily="34" charset="-122"/>
                <a:cs typeface="Calibri" pitchFamily="34" charset="-120"/>
              </a:rPr>
              <a:t>SMAART Institute · How we put it live</a:t>
            </a:r>
            <a:endParaRPr lang="en-US" sz="900" dirty="0"/>
          </a:p>
        </p:txBody>
      </p:sp>
      <p:sp>
        <p:nvSpPr>
          <p:cNvPr id="23" name="Text 17"/>
          <p:cNvSpPr/>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A6782"/>
                </a:solidFill>
                <a:latin typeface="Calibri" pitchFamily="34" charset="0"/>
                <a:ea typeface="Calibri" pitchFamily="34" charset="-122"/>
                <a:cs typeface="Calibri" pitchFamily="34" charset="-120"/>
              </a:rPr>
              <a:t>6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A3884"/>
                </a:solidFill>
                <a:latin typeface="Calibri" pitchFamily="34" charset="0"/>
                <a:ea typeface="Calibri" pitchFamily="34" charset="-122"/>
                <a:cs typeface="Calibri" pitchFamily="34" charset="-120"/>
              </a:rPr>
              <a:t>6. The result, and what comes next</a:t>
            </a:r>
            <a:endParaRPr lang="en-US" sz="2800" dirty="0"/>
          </a:p>
        </p:txBody>
      </p:sp>
      <p:sp>
        <p:nvSpPr>
          <p:cNvPr id="3" name="Text 1"/>
          <p:cNvSpPr/>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A6782"/>
                </a:solidFill>
                <a:latin typeface="Calibri" pitchFamily="34" charset="0"/>
                <a:ea typeface="Calibri" pitchFamily="34" charset="-122"/>
                <a:cs typeface="Calibri" pitchFamily="34" charset="-120"/>
              </a:rPr>
              <a:t>End of day 22 August 2026</a:t>
            </a:r>
            <a:endParaRPr lang="en-US" sz="1300" dirty="0"/>
          </a:p>
        </p:txBody>
      </p:sp>
      <p:sp>
        <p:nvSpPr>
          <p:cNvPr id="4" name="Text 2"/>
          <p:cNvSpPr/>
          <p:nvPr/>
        </p:nvSpPr>
        <p:spPr>
          <a:xfrm>
            <a:off x="457200" y="1280160"/>
            <a:ext cx="2011680" cy="685800"/>
          </a:xfrm>
          <a:prstGeom prst="rect">
            <a:avLst/>
          </a:prstGeom>
          <a:noFill/>
          <a:ln/>
        </p:spPr>
        <p:txBody>
          <a:bodyPr wrap="square" lIns="0" tIns="0" rIns="0" bIns="0" rtlCol="0" anchor="ctr"/>
          <a:lstStyle/>
          <a:p>
            <a:pPr algn="ctr" indent="0" marL="0">
              <a:buNone/>
            </a:pPr>
            <a:r>
              <a:rPr lang="en-US" sz="3600" b="1" dirty="0">
                <a:solidFill>
                  <a:srgbClr val="0B7A80"/>
                </a:solidFill>
                <a:latin typeface="Calibri" pitchFamily="34" charset="0"/>
                <a:ea typeface="Calibri" pitchFamily="34" charset="-122"/>
                <a:cs typeface="Calibri" pitchFamily="34" charset="-120"/>
              </a:rPr>
              <a:t>2</a:t>
            </a:r>
            <a:endParaRPr lang="en-US" sz="3600" dirty="0"/>
          </a:p>
        </p:txBody>
      </p:sp>
      <p:sp>
        <p:nvSpPr>
          <p:cNvPr id="5" name="Text 3"/>
          <p:cNvSpPr/>
          <p:nvPr/>
        </p:nvSpPr>
        <p:spPr>
          <a:xfrm>
            <a:off x="457200" y="1965960"/>
            <a:ext cx="2011680" cy="457200"/>
          </a:xfrm>
          <a:prstGeom prst="rect">
            <a:avLst/>
          </a:prstGeom>
          <a:noFill/>
          <a:ln/>
        </p:spPr>
        <p:txBody>
          <a:bodyPr wrap="square" lIns="0" tIns="0" rIns="0" bIns="0" rtlCol="0" anchor="t"/>
          <a:lstStyle/>
          <a:p>
            <a:pPr algn="ctr" indent="0" marL="0">
              <a:buNone/>
            </a:pPr>
            <a:r>
              <a:rPr lang="en-US" sz="1100" dirty="0">
                <a:solidFill>
                  <a:srgbClr val="5A6782"/>
                </a:solidFill>
                <a:latin typeface="Calibri" pitchFamily="34" charset="0"/>
                <a:ea typeface="Calibri" pitchFamily="34" charset="-122"/>
                <a:cs typeface="Calibri" pitchFamily="34" charset="-120"/>
              </a:rPr>
              <a:t>websites live on HTTPS</a:t>
            </a:r>
            <a:endParaRPr lang="en-US" sz="1100" dirty="0"/>
          </a:p>
        </p:txBody>
      </p:sp>
      <p:sp>
        <p:nvSpPr>
          <p:cNvPr id="6" name="Text 4"/>
          <p:cNvSpPr/>
          <p:nvPr/>
        </p:nvSpPr>
        <p:spPr>
          <a:xfrm>
            <a:off x="2514600" y="1280160"/>
            <a:ext cx="2011680" cy="685800"/>
          </a:xfrm>
          <a:prstGeom prst="rect">
            <a:avLst/>
          </a:prstGeom>
          <a:noFill/>
          <a:ln/>
        </p:spPr>
        <p:txBody>
          <a:bodyPr wrap="square" lIns="0" tIns="0" rIns="0" bIns="0" rtlCol="0" anchor="ctr"/>
          <a:lstStyle/>
          <a:p>
            <a:pPr algn="ctr" indent="0" marL="0">
              <a:buNone/>
            </a:pPr>
            <a:r>
              <a:rPr lang="en-US" sz="3600" b="1" dirty="0">
                <a:solidFill>
                  <a:srgbClr val="1A3884"/>
                </a:solidFill>
                <a:latin typeface="Calibri" pitchFamily="34" charset="0"/>
                <a:ea typeface="Calibri" pitchFamily="34" charset="-122"/>
                <a:cs typeface="Calibri" pitchFamily="34" charset="-120"/>
              </a:rPr>
              <a:t>6</a:t>
            </a:r>
            <a:endParaRPr lang="en-US" sz="3600" dirty="0"/>
          </a:p>
        </p:txBody>
      </p:sp>
      <p:sp>
        <p:nvSpPr>
          <p:cNvPr id="7" name="Text 5"/>
          <p:cNvSpPr/>
          <p:nvPr/>
        </p:nvSpPr>
        <p:spPr>
          <a:xfrm>
            <a:off x="2514600" y="1965960"/>
            <a:ext cx="2011680" cy="457200"/>
          </a:xfrm>
          <a:prstGeom prst="rect">
            <a:avLst/>
          </a:prstGeom>
          <a:noFill/>
          <a:ln/>
        </p:spPr>
        <p:txBody>
          <a:bodyPr wrap="square" lIns="0" tIns="0" rIns="0" bIns="0" rtlCol="0" anchor="t"/>
          <a:lstStyle/>
          <a:p>
            <a:pPr algn="ctr" indent="0" marL="0">
              <a:buNone/>
            </a:pPr>
            <a:r>
              <a:rPr lang="en-US" sz="1100" dirty="0">
                <a:solidFill>
                  <a:srgbClr val="5A6782"/>
                </a:solidFill>
                <a:latin typeface="Calibri" pitchFamily="34" charset="0"/>
                <a:ea typeface="Calibri" pitchFamily="34" charset="-122"/>
                <a:cs typeface="Calibri" pitchFamily="34" charset="-120"/>
              </a:rPr>
              <a:t>containers on one server</a:t>
            </a:r>
            <a:endParaRPr lang="en-US" sz="1100" dirty="0"/>
          </a:p>
        </p:txBody>
      </p:sp>
      <p:sp>
        <p:nvSpPr>
          <p:cNvPr id="8" name="Text 6"/>
          <p:cNvSpPr/>
          <p:nvPr/>
        </p:nvSpPr>
        <p:spPr>
          <a:xfrm>
            <a:off x="4572000" y="1280160"/>
            <a:ext cx="2011680" cy="685800"/>
          </a:xfrm>
          <a:prstGeom prst="rect">
            <a:avLst/>
          </a:prstGeom>
          <a:noFill/>
          <a:ln/>
        </p:spPr>
        <p:txBody>
          <a:bodyPr wrap="square" lIns="0" tIns="0" rIns="0" bIns="0" rtlCol="0" anchor="ctr"/>
          <a:lstStyle/>
          <a:p>
            <a:pPr algn="ctr" indent="0" marL="0">
              <a:buNone/>
            </a:pPr>
            <a:r>
              <a:rPr lang="en-US" sz="3600" b="1" dirty="0">
                <a:solidFill>
                  <a:srgbClr val="0B7A80"/>
                </a:solidFill>
                <a:latin typeface="Calibri" pitchFamily="34" charset="0"/>
                <a:ea typeface="Calibri" pitchFamily="34" charset="-122"/>
                <a:cs typeface="Calibri" pitchFamily="34" charset="-120"/>
              </a:rPr>
              <a:t>~4 min</a:t>
            </a:r>
            <a:endParaRPr lang="en-US" sz="3600" dirty="0"/>
          </a:p>
        </p:txBody>
      </p:sp>
      <p:sp>
        <p:nvSpPr>
          <p:cNvPr id="9" name="Text 7"/>
          <p:cNvSpPr/>
          <p:nvPr/>
        </p:nvSpPr>
        <p:spPr>
          <a:xfrm>
            <a:off x="4572000" y="1965960"/>
            <a:ext cx="2011680" cy="457200"/>
          </a:xfrm>
          <a:prstGeom prst="rect">
            <a:avLst/>
          </a:prstGeom>
          <a:noFill/>
          <a:ln/>
        </p:spPr>
        <p:txBody>
          <a:bodyPr wrap="square" lIns="0" tIns="0" rIns="0" bIns="0" rtlCol="0" anchor="t"/>
          <a:lstStyle/>
          <a:p>
            <a:pPr algn="ctr" indent="0" marL="0">
              <a:buNone/>
            </a:pPr>
            <a:r>
              <a:rPr lang="en-US" sz="1100" dirty="0">
                <a:solidFill>
                  <a:srgbClr val="5A6782"/>
                </a:solidFill>
                <a:latin typeface="Calibri" pitchFamily="34" charset="0"/>
                <a:ea typeface="Calibri" pitchFamily="34" charset="-122"/>
                <a:cs typeface="Calibri" pitchFamily="34" charset="-120"/>
              </a:rPr>
              <a:t>automatic build per push</a:t>
            </a:r>
            <a:endParaRPr lang="en-US" sz="1100" dirty="0"/>
          </a:p>
        </p:txBody>
      </p:sp>
      <p:sp>
        <p:nvSpPr>
          <p:cNvPr id="10" name="Text 8"/>
          <p:cNvSpPr/>
          <p:nvPr/>
        </p:nvSpPr>
        <p:spPr>
          <a:xfrm>
            <a:off x="6629400" y="1280160"/>
            <a:ext cx="2011680" cy="685800"/>
          </a:xfrm>
          <a:prstGeom prst="rect">
            <a:avLst/>
          </a:prstGeom>
          <a:noFill/>
          <a:ln/>
        </p:spPr>
        <p:txBody>
          <a:bodyPr wrap="square" lIns="0" tIns="0" rIns="0" bIns="0" rtlCol="0" anchor="ctr"/>
          <a:lstStyle/>
          <a:p>
            <a:pPr algn="ctr" indent="0" marL="0">
              <a:buNone/>
            </a:pPr>
            <a:r>
              <a:rPr lang="en-US" sz="3600" b="1" dirty="0">
                <a:solidFill>
                  <a:srgbClr val="1A3884"/>
                </a:solidFill>
                <a:latin typeface="Calibri" pitchFamily="34" charset="0"/>
                <a:ea typeface="Calibri" pitchFamily="34" charset="-122"/>
                <a:cs typeface="Calibri" pitchFamily="34" charset="-120"/>
              </a:rPr>
              <a:t>~50 s</a:t>
            </a:r>
            <a:endParaRPr lang="en-US" sz="3600" dirty="0"/>
          </a:p>
        </p:txBody>
      </p:sp>
      <p:sp>
        <p:nvSpPr>
          <p:cNvPr id="11" name="Text 9"/>
          <p:cNvSpPr/>
          <p:nvPr/>
        </p:nvSpPr>
        <p:spPr>
          <a:xfrm>
            <a:off x="6629400" y="1965960"/>
            <a:ext cx="2011680" cy="457200"/>
          </a:xfrm>
          <a:prstGeom prst="rect">
            <a:avLst/>
          </a:prstGeom>
          <a:noFill/>
          <a:ln/>
        </p:spPr>
        <p:txBody>
          <a:bodyPr wrap="square" lIns="0" tIns="0" rIns="0" bIns="0" rtlCol="0" anchor="t"/>
          <a:lstStyle/>
          <a:p>
            <a:pPr algn="ctr" indent="0" marL="0">
              <a:buNone/>
            </a:pPr>
            <a:r>
              <a:rPr lang="en-US" sz="1100" dirty="0">
                <a:solidFill>
                  <a:srgbClr val="5A6782"/>
                </a:solidFill>
                <a:latin typeface="Calibri" pitchFamily="34" charset="0"/>
                <a:ea typeface="Calibri" pitchFamily="34" charset="-122"/>
                <a:cs typeface="Calibri" pitchFamily="34" charset="-120"/>
              </a:rPr>
              <a:t>one-click deploy</a:t>
            </a:r>
            <a:endParaRPr lang="en-US" sz="1100" dirty="0"/>
          </a:p>
        </p:txBody>
      </p:sp>
      <p:sp>
        <p:nvSpPr>
          <p:cNvPr id="12" name="Text 10"/>
          <p:cNvSpPr/>
          <p:nvPr/>
        </p:nvSpPr>
        <p:spPr>
          <a:xfrm>
            <a:off x="457200" y="2606040"/>
            <a:ext cx="3840480" cy="274320"/>
          </a:xfrm>
          <a:prstGeom prst="rect">
            <a:avLst/>
          </a:prstGeom>
          <a:noFill/>
          <a:ln/>
        </p:spPr>
        <p:txBody>
          <a:bodyPr wrap="square" lIns="0" tIns="0" rIns="0" bIns="0" rtlCol="0" anchor="ctr"/>
          <a:lstStyle/>
          <a:p>
            <a:pPr indent="0" marL="0">
              <a:buNone/>
            </a:pPr>
            <a:r>
              <a:rPr lang="en-US" sz="1250" b="1" dirty="0">
                <a:solidFill>
                  <a:srgbClr val="0B7A80"/>
                </a:solidFill>
                <a:latin typeface="Calibri" pitchFamily="34" charset="0"/>
                <a:ea typeface="Calibri" pitchFamily="34" charset="-122"/>
                <a:cs typeface="Calibri" pitchFamily="34" charset="-120"/>
              </a:rPr>
              <a:t>Done</a:t>
            </a:r>
            <a:endParaRPr lang="en-US" sz="1250" dirty="0"/>
          </a:p>
        </p:txBody>
      </p:sp>
      <p:sp>
        <p:nvSpPr>
          <p:cNvPr id="13" name="Shape 11"/>
          <p:cNvSpPr/>
          <p:nvPr/>
        </p:nvSpPr>
        <p:spPr>
          <a:xfrm>
            <a:off x="457200" y="2907792"/>
            <a:ext cx="292608" cy="292608"/>
          </a:xfrm>
          <a:prstGeom prst="ellipse">
            <a:avLst/>
          </a:prstGeom>
          <a:solidFill>
            <a:srgbClr val="DFF2F2"/>
          </a:solidFill>
          <a:ln w="12700">
            <a:solidFill>
              <a:srgbClr val="DFF2F2"/>
            </a:solidFill>
            <a:prstDash val="solid"/>
          </a:ln>
        </p:spPr>
      </p:sp>
      <p:pic>
        <p:nvPicPr>
          <p:cNvPr id="14" name="Image 0" descr="preencoded.png">    </p:cNvPr>
          <p:cNvPicPr>
            <a:picLocks noChangeAspect="1"/>
          </p:cNvPicPr>
          <p:nvPr/>
        </p:nvPicPr>
        <p:blipFill>
          <a:blip r:embed="rId1"/>
          <a:stretch>
            <a:fillRect/>
          </a:stretch>
        </p:blipFill>
        <p:spPr>
          <a:xfrm>
            <a:off x="530352" y="2980944"/>
            <a:ext cx="146304" cy="146304"/>
          </a:xfrm>
          <a:prstGeom prst="rect">
            <a:avLst/>
          </a:prstGeom>
        </p:spPr>
      </p:pic>
      <p:sp>
        <p:nvSpPr>
          <p:cNvPr id="15" name="Text 12"/>
          <p:cNvSpPr/>
          <p:nvPr/>
        </p:nvSpPr>
        <p:spPr>
          <a:xfrm>
            <a:off x="841248" y="2907792"/>
            <a:ext cx="3566160" cy="292608"/>
          </a:xfrm>
          <a:prstGeom prst="rect">
            <a:avLst/>
          </a:prstGeom>
          <a:noFill/>
          <a:ln/>
        </p:spPr>
        <p:txBody>
          <a:bodyPr wrap="square" lIns="0" tIns="0" rIns="0" bIns="0" rtlCol="0" anchor="ctr"/>
          <a:lstStyle/>
          <a:p>
            <a:pPr indent="0" marL="0">
              <a:buNone/>
            </a:pPr>
            <a:r>
              <a:rPr lang="en-US" sz="1100" dirty="0">
                <a:solidFill>
                  <a:srgbClr val="0F1B33"/>
                </a:solidFill>
                <a:latin typeface="Calibri" pitchFamily="34" charset="0"/>
                <a:ea typeface="Calibri" pitchFamily="34" charset="-122"/>
                <a:cs typeface="Calibri" pitchFamily="34" charset="-120"/>
              </a:rPr>
              <a:t>Both sites on HTTPS, certificate auto-renewing</a:t>
            </a:r>
            <a:endParaRPr lang="en-US" sz="1100" dirty="0"/>
          </a:p>
        </p:txBody>
      </p:sp>
      <p:sp>
        <p:nvSpPr>
          <p:cNvPr id="16" name="Shape 13"/>
          <p:cNvSpPr/>
          <p:nvPr/>
        </p:nvSpPr>
        <p:spPr>
          <a:xfrm>
            <a:off x="457200" y="3291840"/>
            <a:ext cx="292608" cy="292608"/>
          </a:xfrm>
          <a:prstGeom prst="ellipse">
            <a:avLst/>
          </a:prstGeom>
          <a:solidFill>
            <a:srgbClr val="DFF2F2"/>
          </a:solidFill>
          <a:ln w="12700">
            <a:solidFill>
              <a:srgbClr val="DFF2F2"/>
            </a:solidFill>
            <a:prstDash val="solid"/>
          </a:ln>
        </p:spPr>
      </p:sp>
      <p:pic>
        <p:nvPicPr>
          <p:cNvPr id="17" name="Image 1" descr="preencoded.png">    </p:cNvPr>
          <p:cNvPicPr>
            <a:picLocks noChangeAspect="1"/>
          </p:cNvPicPr>
          <p:nvPr/>
        </p:nvPicPr>
        <p:blipFill>
          <a:blip r:embed="rId2"/>
          <a:stretch>
            <a:fillRect/>
          </a:stretch>
        </p:blipFill>
        <p:spPr>
          <a:xfrm>
            <a:off x="530352" y="3364992"/>
            <a:ext cx="146304" cy="146304"/>
          </a:xfrm>
          <a:prstGeom prst="rect">
            <a:avLst/>
          </a:prstGeom>
        </p:spPr>
      </p:pic>
      <p:sp>
        <p:nvSpPr>
          <p:cNvPr id="18" name="Text 14"/>
          <p:cNvSpPr/>
          <p:nvPr/>
        </p:nvSpPr>
        <p:spPr>
          <a:xfrm>
            <a:off x="841248" y="3291840"/>
            <a:ext cx="3566160" cy="292608"/>
          </a:xfrm>
          <a:prstGeom prst="rect">
            <a:avLst/>
          </a:prstGeom>
          <a:noFill/>
          <a:ln/>
        </p:spPr>
        <p:txBody>
          <a:bodyPr wrap="square" lIns="0" tIns="0" rIns="0" bIns="0" rtlCol="0" anchor="ctr"/>
          <a:lstStyle/>
          <a:p>
            <a:pPr indent="0" marL="0">
              <a:buNone/>
            </a:pPr>
            <a:r>
              <a:rPr lang="en-US" sz="1100" dirty="0">
                <a:solidFill>
                  <a:srgbClr val="0F1B33"/>
                </a:solidFill>
                <a:latin typeface="Calibri" pitchFamily="34" charset="0"/>
                <a:ea typeface="Calibri" pitchFamily="34" charset="-122"/>
                <a:cs typeface="Calibri" pitchFamily="34" charset="-120"/>
              </a:rPr>
              <a:t>Database connected, email / OTP login working</a:t>
            </a:r>
            <a:endParaRPr lang="en-US" sz="1100" dirty="0"/>
          </a:p>
        </p:txBody>
      </p:sp>
      <p:sp>
        <p:nvSpPr>
          <p:cNvPr id="19" name="Shape 15"/>
          <p:cNvSpPr/>
          <p:nvPr/>
        </p:nvSpPr>
        <p:spPr>
          <a:xfrm>
            <a:off x="457200" y="3675888"/>
            <a:ext cx="292608" cy="292608"/>
          </a:xfrm>
          <a:prstGeom prst="ellipse">
            <a:avLst/>
          </a:prstGeom>
          <a:solidFill>
            <a:srgbClr val="DFF2F2"/>
          </a:solidFill>
          <a:ln w="12700">
            <a:solidFill>
              <a:srgbClr val="DFF2F2"/>
            </a:solidFill>
            <a:prstDash val="solid"/>
          </a:ln>
        </p:spPr>
      </p:sp>
      <p:pic>
        <p:nvPicPr>
          <p:cNvPr id="20" name="Image 2" descr="preencoded.png">    </p:cNvPr>
          <p:cNvPicPr>
            <a:picLocks noChangeAspect="1"/>
          </p:cNvPicPr>
          <p:nvPr/>
        </p:nvPicPr>
        <p:blipFill>
          <a:blip r:embed="rId3"/>
          <a:stretch>
            <a:fillRect/>
          </a:stretch>
        </p:blipFill>
        <p:spPr>
          <a:xfrm>
            <a:off x="530352" y="3749040"/>
            <a:ext cx="146304" cy="146304"/>
          </a:xfrm>
          <a:prstGeom prst="rect">
            <a:avLst/>
          </a:prstGeom>
        </p:spPr>
      </p:pic>
      <p:sp>
        <p:nvSpPr>
          <p:cNvPr id="21" name="Text 16"/>
          <p:cNvSpPr/>
          <p:nvPr/>
        </p:nvSpPr>
        <p:spPr>
          <a:xfrm>
            <a:off x="841248" y="3675888"/>
            <a:ext cx="3566160" cy="292608"/>
          </a:xfrm>
          <a:prstGeom prst="rect">
            <a:avLst/>
          </a:prstGeom>
          <a:noFill/>
          <a:ln/>
        </p:spPr>
        <p:txBody>
          <a:bodyPr wrap="square" lIns="0" tIns="0" rIns="0" bIns="0" rtlCol="0" anchor="ctr"/>
          <a:lstStyle/>
          <a:p>
            <a:pPr indent="0" marL="0">
              <a:buNone/>
            </a:pPr>
            <a:r>
              <a:rPr lang="en-US" sz="1100" dirty="0">
                <a:solidFill>
                  <a:srgbClr val="0F1B33"/>
                </a:solidFill>
                <a:latin typeface="Calibri" pitchFamily="34" charset="0"/>
                <a:ea typeface="Calibri" pitchFamily="34" charset="-122"/>
                <a:cs typeface="Calibri" pitchFamily="34" charset="-120"/>
              </a:rPr>
              <a:t>CI building both apps, one-click deploy proven</a:t>
            </a:r>
            <a:endParaRPr lang="en-US" sz="1100" dirty="0"/>
          </a:p>
        </p:txBody>
      </p:sp>
      <p:sp>
        <p:nvSpPr>
          <p:cNvPr id="22" name="Shape 17"/>
          <p:cNvSpPr/>
          <p:nvPr/>
        </p:nvSpPr>
        <p:spPr>
          <a:xfrm>
            <a:off x="457200" y="4059936"/>
            <a:ext cx="292608" cy="292608"/>
          </a:xfrm>
          <a:prstGeom prst="ellipse">
            <a:avLst/>
          </a:prstGeom>
          <a:solidFill>
            <a:srgbClr val="DFF2F2"/>
          </a:solidFill>
          <a:ln w="12700">
            <a:solidFill>
              <a:srgbClr val="DFF2F2"/>
            </a:solidFill>
            <a:prstDash val="solid"/>
          </a:ln>
        </p:spPr>
      </p:sp>
      <p:pic>
        <p:nvPicPr>
          <p:cNvPr id="23" name="Image 3" descr="preencoded.png">    </p:cNvPr>
          <p:cNvPicPr>
            <a:picLocks noChangeAspect="1"/>
          </p:cNvPicPr>
          <p:nvPr/>
        </p:nvPicPr>
        <p:blipFill>
          <a:blip r:embed="rId4"/>
          <a:stretch>
            <a:fillRect/>
          </a:stretch>
        </p:blipFill>
        <p:spPr>
          <a:xfrm>
            <a:off x="530352" y="4133088"/>
            <a:ext cx="146304" cy="146304"/>
          </a:xfrm>
          <a:prstGeom prst="rect">
            <a:avLst/>
          </a:prstGeom>
        </p:spPr>
      </p:pic>
      <p:sp>
        <p:nvSpPr>
          <p:cNvPr id="24" name="Text 18"/>
          <p:cNvSpPr/>
          <p:nvPr/>
        </p:nvSpPr>
        <p:spPr>
          <a:xfrm>
            <a:off x="841248" y="4059936"/>
            <a:ext cx="3566160" cy="292608"/>
          </a:xfrm>
          <a:prstGeom prst="rect">
            <a:avLst/>
          </a:prstGeom>
          <a:noFill/>
          <a:ln/>
        </p:spPr>
        <p:txBody>
          <a:bodyPr wrap="square" lIns="0" tIns="0" rIns="0" bIns="0" rtlCol="0" anchor="ctr"/>
          <a:lstStyle/>
          <a:p>
            <a:pPr indent="0" marL="0">
              <a:buNone/>
            </a:pPr>
            <a:r>
              <a:rPr lang="en-US" sz="1100" dirty="0">
                <a:solidFill>
                  <a:srgbClr val="0F1B33"/>
                </a:solidFill>
                <a:latin typeface="Calibri" pitchFamily="34" charset="0"/>
                <a:ea typeface="Calibri" pitchFamily="34" charset="-122"/>
                <a:cs typeface="Calibri" pitchFamily="34" charset="-120"/>
              </a:rPr>
              <a:t>5 security bugs found and fixed before go-live</a:t>
            </a:r>
            <a:endParaRPr lang="en-US" sz="1100" dirty="0"/>
          </a:p>
        </p:txBody>
      </p:sp>
      <p:sp>
        <p:nvSpPr>
          <p:cNvPr id="25" name="Text 19"/>
          <p:cNvSpPr/>
          <p:nvPr/>
        </p:nvSpPr>
        <p:spPr>
          <a:xfrm>
            <a:off x="4572000" y="2606040"/>
            <a:ext cx="4114800" cy="274320"/>
          </a:xfrm>
          <a:prstGeom prst="rect">
            <a:avLst/>
          </a:prstGeom>
          <a:noFill/>
          <a:ln/>
        </p:spPr>
        <p:txBody>
          <a:bodyPr wrap="square" lIns="0" tIns="0" rIns="0" bIns="0" rtlCol="0" anchor="ctr"/>
          <a:lstStyle/>
          <a:p>
            <a:pPr indent="0" marL="0">
              <a:buNone/>
            </a:pPr>
            <a:r>
              <a:rPr lang="en-US" sz="1250" b="1" dirty="0">
                <a:solidFill>
                  <a:srgbClr val="B3261E"/>
                </a:solidFill>
                <a:latin typeface="Calibri" pitchFamily="34" charset="0"/>
                <a:ea typeface="Calibri" pitchFamily="34" charset="-122"/>
                <a:cs typeface="Calibri" pitchFamily="34" charset="-120"/>
              </a:rPr>
              <a:t>Next</a:t>
            </a:r>
            <a:endParaRPr lang="en-US" sz="1250" dirty="0"/>
          </a:p>
        </p:txBody>
      </p:sp>
      <p:sp>
        <p:nvSpPr>
          <p:cNvPr id="26" name="Shape 20"/>
          <p:cNvSpPr/>
          <p:nvPr/>
        </p:nvSpPr>
        <p:spPr>
          <a:xfrm>
            <a:off x="4572000" y="2907792"/>
            <a:ext cx="4114800" cy="914400"/>
          </a:xfrm>
          <a:prstGeom prst="roundRect">
            <a:avLst>
              <a:gd name="adj" fmla="val 8000"/>
            </a:avLst>
          </a:prstGeom>
          <a:solidFill>
            <a:srgbClr val="FDE8E8"/>
          </a:solidFill>
          <a:ln w="12700">
            <a:solidFill>
              <a:srgbClr val="FDE8E8"/>
            </a:solidFill>
            <a:prstDash val="solid"/>
          </a:ln>
        </p:spPr>
      </p:sp>
      <p:sp>
        <p:nvSpPr>
          <p:cNvPr id="27" name="Shape 21"/>
          <p:cNvSpPr/>
          <p:nvPr/>
        </p:nvSpPr>
        <p:spPr>
          <a:xfrm>
            <a:off x="4709160" y="3044952"/>
            <a:ext cx="384048" cy="384048"/>
          </a:xfrm>
          <a:prstGeom prst="ellipse">
            <a:avLst/>
          </a:prstGeom>
          <a:solidFill>
            <a:srgbClr val="FFFFFF"/>
          </a:solidFill>
          <a:ln w="12700">
            <a:solidFill>
              <a:srgbClr val="FFFFFF"/>
            </a:solidFill>
            <a:prstDash val="solid"/>
          </a:ln>
        </p:spPr>
      </p:sp>
      <p:pic>
        <p:nvPicPr>
          <p:cNvPr id="28" name="Image 4" descr="preencoded.png">    </p:cNvPr>
          <p:cNvPicPr>
            <a:picLocks noChangeAspect="1"/>
          </p:cNvPicPr>
          <p:nvPr/>
        </p:nvPicPr>
        <p:blipFill>
          <a:blip r:embed="rId5"/>
          <a:stretch>
            <a:fillRect/>
          </a:stretch>
        </p:blipFill>
        <p:spPr>
          <a:xfrm>
            <a:off x="4805172" y="3140964"/>
            <a:ext cx="192024" cy="192024"/>
          </a:xfrm>
          <a:prstGeom prst="rect">
            <a:avLst/>
          </a:prstGeom>
        </p:spPr>
      </p:pic>
      <p:sp>
        <p:nvSpPr>
          <p:cNvPr id="29" name="Text 22"/>
          <p:cNvSpPr/>
          <p:nvPr/>
        </p:nvSpPr>
        <p:spPr>
          <a:xfrm>
            <a:off x="5212080" y="2953512"/>
            <a:ext cx="3383280" cy="822960"/>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Rotate the 4 leaked secrets. </a:t>
            </a:r>
            <a:pPr indent="0" marL="0">
              <a:buNone/>
            </a:pPr>
            <a:r>
              <a:rPr lang="en-US" sz="950" dirty="0">
                <a:solidFill>
                  <a:srgbClr val="0F1B33"/>
                </a:solidFill>
                <a:latin typeface="Calibri" pitchFamily="34" charset="0"/>
                <a:ea typeface="Calibri" pitchFamily="34" charset="-122"/>
                <a:cs typeface="Calibri" pitchFamily="34" charset="-120"/>
              </a:rPr>
              <a:t>Database URI, JWT secret, Cloudinary secret, OpenRouter key are in Git history. ~20 minutes now; after launch it logs every student out.</a:t>
            </a:r>
            <a:endParaRPr lang="en-US" sz="950" dirty="0"/>
          </a:p>
        </p:txBody>
      </p:sp>
      <p:sp>
        <p:nvSpPr>
          <p:cNvPr id="30" name="Shape 23"/>
          <p:cNvSpPr/>
          <p:nvPr/>
        </p:nvSpPr>
        <p:spPr>
          <a:xfrm>
            <a:off x="4572000" y="3913632"/>
            <a:ext cx="4114800" cy="685800"/>
          </a:xfrm>
          <a:prstGeom prst="roundRect">
            <a:avLst>
              <a:gd name="adj" fmla="val 10667"/>
            </a:avLst>
          </a:prstGeom>
          <a:solidFill>
            <a:srgbClr val="FFF5DC"/>
          </a:solidFill>
          <a:ln w="12700">
            <a:solidFill>
              <a:srgbClr val="FFF5DC"/>
            </a:solidFill>
            <a:prstDash val="solid"/>
          </a:ln>
        </p:spPr>
      </p:sp>
      <p:sp>
        <p:nvSpPr>
          <p:cNvPr id="31" name="Shape 24"/>
          <p:cNvSpPr/>
          <p:nvPr/>
        </p:nvSpPr>
        <p:spPr>
          <a:xfrm>
            <a:off x="4709160" y="4059936"/>
            <a:ext cx="384048" cy="384048"/>
          </a:xfrm>
          <a:prstGeom prst="ellipse">
            <a:avLst/>
          </a:prstGeom>
          <a:solidFill>
            <a:srgbClr val="FFFFFF"/>
          </a:solidFill>
          <a:ln w="12700">
            <a:solidFill>
              <a:srgbClr val="FFFFFF"/>
            </a:solidFill>
            <a:prstDash val="solid"/>
          </a:ln>
        </p:spPr>
      </p:sp>
      <p:pic>
        <p:nvPicPr>
          <p:cNvPr id="32" name="Image 5" descr="preencoded.png">    </p:cNvPr>
          <p:cNvPicPr>
            <a:picLocks noChangeAspect="1"/>
          </p:cNvPicPr>
          <p:nvPr/>
        </p:nvPicPr>
        <p:blipFill>
          <a:blip r:embed="rId6"/>
          <a:stretch>
            <a:fillRect/>
          </a:stretch>
        </p:blipFill>
        <p:spPr>
          <a:xfrm>
            <a:off x="4805172" y="4155948"/>
            <a:ext cx="192024" cy="192024"/>
          </a:xfrm>
          <a:prstGeom prst="rect">
            <a:avLst/>
          </a:prstGeom>
        </p:spPr>
      </p:pic>
      <p:sp>
        <p:nvSpPr>
          <p:cNvPr id="33" name="Text 25"/>
          <p:cNvSpPr/>
          <p:nvPr/>
        </p:nvSpPr>
        <p:spPr>
          <a:xfrm>
            <a:off x="5212080" y="3941064"/>
            <a:ext cx="3383280" cy="640080"/>
          </a:xfrm>
          <a:prstGeom prst="rect">
            <a:avLst/>
          </a:prstGeom>
          <a:noFill/>
          <a:ln/>
        </p:spPr>
        <p:txBody>
          <a:bodyPr wrap="square" lIns="0" tIns="0" rIns="0" bIns="0" rtlCol="0" anchor="ctr"/>
          <a:lstStyle/>
          <a:p>
            <a:pPr indent="0" marL="0">
              <a:buNone/>
            </a:pPr>
            <a:r>
              <a:rPr lang="en-US" sz="950" b="1" dirty="0">
                <a:solidFill>
                  <a:srgbClr val="B97A00"/>
                </a:solidFill>
                <a:latin typeface="Calibri" pitchFamily="34" charset="0"/>
                <a:ea typeface="Calibri" pitchFamily="34" charset="-122"/>
                <a:cs typeface="Calibri" pitchFamily="34" charset="-120"/>
              </a:rPr>
              <a:t>Watch the next deploy. </a:t>
            </a:r>
            <a:pPr indent="0" marL="0">
              <a:buNone/>
            </a:pPr>
            <a:r>
              <a:rPr lang="en-US" sz="950" dirty="0">
                <a:solidFill>
                  <a:srgbClr val="0F1B33"/>
                </a:solidFill>
                <a:latin typeface="Calibri" pitchFamily="34" charset="0"/>
                <a:ea typeface="Calibri" pitchFamily="34" charset="-122"/>
                <a:cs typeface="Calibri" pitchFamily="34" charset="-120"/>
              </a:rPr>
              <a:t>It is the first to use the new rollback safety net — confirm "previous user-backend : sha256:…" appears in the log.</a:t>
            </a:r>
            <a:endParaRPr lang="en-US" sz="950" dirty="0"/>
          </a:p>
        </p:txBody>
      </p:sp>
      <p:sp>
        <p:nvSpPr>
          <p:cNvPr id="34" name="Text 26"/>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rgbClr val="5A6782"/>
                </a:solidFill>
                <a:latin typeface="Calibri" pitchFamily="34" charset="0"/>
                <a:ea typeface="Calibri" pitchFamily="34" charset="-122"/>
                <a:cs typeface="Calibri" pitchFamily="34" charset="-120"/>
              </a:rPr>
              <a:t>SMAART Institute · How we put it live</a:t>
            </a:r>
            <a:endParaRPr lang="en-US" sz="900" dirty="0"/>
          </a:p>
        </p:txBody>
      </p:sp>
      <p:sp>
        <p:nvSpPr>
          <p:cNvPr id="35" name="Text 27"/>
          <p:cNvSpPr/>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5A6782"/>
                </a:solidFill>
                <a:latin typeface="Calibri" pitchFamily="34" charset="0"/>
                <a:ea typeface="Calibri" pitchFamily="34" charset="-122"/>
                <a:cs typeface="Calibri" pitchFamily="34" charset="-120"/>
              </a:rPr>
              <a:t>7 / 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SMAART Institute – How we put it live</dc:title>
  <dc:subject>PptxGenJS Presentation</dc:subject>
  <dc:creator>SMAART Institute</dc:creator>
  <cp:lastModifiedBy>SMAART Institute</cp:lastModifiedBy>
  <cp:revision>1</cp:revision>
  <dcterms:created xsi:type="dcterms:W3CDTF">2026-08-23T17:48:30Z</dcterms:created>
  <dcterms:modified xsi:type="dcterms:W3CDTF">2026-08-23T17:48:30Z</dcterms:modified>
</cp:coreProperties>
</file>