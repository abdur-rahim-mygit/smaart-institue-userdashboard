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8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RECORD · 22 AUGUST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SMAART Institute Live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student site and the admin site were hosted on AWS — from an empty EC2 launch screen to two HTTPS websites with a one-click deploy pipeline, in one day.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1874520" cy="731520"/>
          </a:xfrm>
          <a:prstGeom prst="roundRect">
            <a:avLst>
              <a:gd name="adj" fmla="val 10000"/>
            </a:avLst>
          </a:prstGeom>
          <a:solidFill>
            <a:srgbClr val="25428F"/>
          </a:solidFill>
          <a:ln w="12700">
            <a:solidFill>
              <a:srgbClr val="3A5A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3467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site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35844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smaartinstitute.com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3291840"/>
            <a:ext cx="1874520" cy="731520"/>
          </a:xfrm>
          <a:prstGeom prst="roundRect">
            <a:avLst>
              <a:gd name="adj" fmla="val 10000"/>
            </a:avLst>
          </a:prstGeom>
          <a:solidFill>
            <a:srgbClr val="25428F"/>
          </a:solidFill>
          <a:ln w="12700">
            <a:solidFill>
              <a:srgbClr val="3A5A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0048" y="33467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site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670048" y="35844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admin.smaartinstitute.com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3291840"/>
            <a:ext cx="1874520" cy="731520"/>
          </a:xfrm>
          <a:prstGeom prst="roundRect">
            <a:avLst>
              <a:gd name="adj" fmla="val 10000"/>
            </a:avLst>
          </a:prstGeom>
          <a:solidFill>
            <a:srgbClr val="25428F"/>
          </a:solidFill>
          <a:ln w="12700">
            <a:solidFill>
              <a:srgbClr val="3A5A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33467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81728" y="35844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13.207.12.89 · ap-south-1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3291840"/>
            <a:ext cx="1874520" cy="731520"/>
          </a:xfrm>
          <a:prstGeom prst="roundRect">
            <a:avLst>
              <a:gd name="adj" fmla="val 10000"/>
            </a:avLst>
          </a:prstGeom>
          <a:solidFill>
            <a:srgbClr val="25428F"/>
          </a:solidFill>
          <a:ln w="12700">
            <a:solidFill>
              <a:srgbClr val="3A5A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33467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693408" y="35844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nginx · GitHub Actions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SMAART Institute · Hosting &amp; Deployment · 22 Aug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now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of one day of 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 live on HTTPS with auto-renewing certificates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14600" y="13258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514600" y="2057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containers on one EC2 server (t3.medium)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0" y="13258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min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0" y="2057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image build on every push to main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29400" y="13258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629400" y="2057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deploy with health check and rollback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DFF2F2"/>
          </a:solidFill>
          <a:ln w="12700">
            <a:solidFill>
              <a:srgbClr val="DFF2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92608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3028950"/>
            <a:ext cx="205740" cy="2057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97280" y="28986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sites on HTTPS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" y="3410712"/>
            <a:ext cx="1691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redirects to HTTPS; one certificate covers both domains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560320" y="278892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DFF2F2"/>
          </a:solidFill>
          <a:ln w="12700">
            <a:solidFill>
              <a:srgbClr val="DFF2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697480" y="292608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350" y="3028950"/>
            <a:ext cx="205740" cy="2057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200400" y="28986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connected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2697480" y="3410712"/>
            <a:ext cx="1691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apps share one MongoDB Atlas cluster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663440" y="278892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DFF2F2"/>
          </a:solidFill>
          <a:ln w="12700">
            <a:solidFill>
              <a:srgbClr val="DFF2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800600" y="292608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470" y="3028950"/>
            <a:ext cx="205740" cy="2057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303520" y="28986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OTP login works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4800600" y="3410712"/>
            <a:ext cx="1691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with nodemailer.verify() inside the live container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766560" y="278892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DFF2F2"/>
          </a:solidFill>
          <a:ln w="12700">
            <a:solidFill>
              <a:srgbClr val="DFF2F2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903720" y="292608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6590" y="3028950"/>
            <a:ext cx="205740" cy="2057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406640" y="28986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security bugs fixed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903720" y="3410712"/>
            <a:ext cx="1691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the code audit before going live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SMAART Institute · Hosting &amp; Deployment · 22 Aug 2026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two apps, one port 80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student dashboard and the admin panel had to run on the same instance, as separate sites</a:t>
            </a:r>
            <a:endParaRPr lang="en-US" sz="1300" dirty="0"/>
          </a:p>
        </p:txBody>
      </p:sp>
      <p:pic>
        <p:nvPicPr>
          <p:cNvPr id="4" name="Image 0" descr="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760720" cy="164592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54680"/>
          <a:ext cx="5760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48840"/>
                <a:gridCol w="21488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dashboard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panel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8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 + React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React 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 :5000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 :5001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Wanted host 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8081 / 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Atlas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cluster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492240" y="1280160"/>
            <a:ext cx="2194560" cy="3200400"/>
          </a:xfrm>
          <a:prstGeom prst="roundRect">
            <a:avLst>
              <a:gd name="adj" fmla="val 3333"/>
            </a:avLst>
          </a:prstGeom>
          <a:solidFill>
            <a:srgbClr val="FFF5DC"/>
          </a:solidFill>
          <a:ln w="12700">
            <a:solidFill>
              <a:srgbClr val="FFF5D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629400" y="1371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fails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629400" y="1691640"/>
            <a:ext cx="19202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repo's docker-compose.yml assumes it owns the whole machine. Only one process can hold port 80, so the second app simply fails to start.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one small nginx container (the "edge") owns ports 80 and 443 and forwards each request by domain name. Every app container becomes internal-only.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SMAART Institute · Hosting &amp; Deployment · 22 Aug 2026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we built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edge nginx in front; six containers; only ports 22, 80 and 443 open</a:t>
            </a:r>
            <a:endParaRPr lang="en-US" sz="1300" dirty="0"/>
          </a:p>
        </p:txBody>
      </p:sp>
      <p:pic>
        <p:nvPicPr>
          <p:cNvPr id="4" name="Image 0" descr="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5943600" cy="32278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1280160"/>
            <a:ext cx="384048" cy="384048"/>
          </a:xfrm>
          <a:prstGeom prst="ellipse">
            <a:avLst/>
          </a:prstGeom>
          <a:solidFill>
            <a:srgbClr val="E7ECF8"/>
          </a:solidFill>
          <a:ln w="12700">
            <a:solidFill>
              <a:srgbClr val="E7ECF8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252" y="1376172"/>
            <a:ext cx="192024" cy="1920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95160" y="1234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nginx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995160" y="14904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public container. Terminates HTTPS, routes by Host header.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6492240" y="2103120"/>
            <a:ext cx="384048" cy="384048"/>
          </a:xfrm>
          <a:prstGeom prst="ellipse">
            <a:avLst/>
          </a:prstGeom>
          <a:solidFill>
            <a:srgbClr val="E7ECF8"/>
          </a:solidFill>
          <a:ln w="12700">
            <a:solidFill>
              <a:srgbClr val="E7ECF8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252" y="2199132"/>
            <a:ext cx="192024" cy="1920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9516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Certbot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995160" y="23134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Renews the certificate; edge reloads every 6 h so it actually picks it up.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6492240" y="2926080"/>
            <a:ext cx="384048" cy="384048"/>
          </a:xfrm>
          <a:prstGeom prst="ellipse">
            <a:avLst/>
          </a:prstGeom>
          <a:solidFill>
            <a:srgbClr val="E7ECF8"/>
          </a:solidFill>
          <a:ln w="12700">
            <a:solidFill>
              <a:srgbClr val="E7ECF8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52" y="3022092"/>
            <a:ext cx="192024" cy="19202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95160" y="2880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995160" y="31363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5000 / 5001 are never opened in the security group.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6492240" y="3749040"/>
            <a:ext cx="384048" cy="384048"/>
          </a:xfrm>
          <a:prstGeom prst="ellipse">
            <a:avLst/>
          </a:prstGeom>
          <a:solidFill>
            <a:srgbClr val="E7ECF8"/>
          </a:solidFill>
          <a:ln w="12700">
            <a:solidFill>
              <a:srgbClr val="E7ECF8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8252" y="3845052"/>
            <a:ext cx="192024" cy="19202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95160" y="3703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files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6995160" y="395935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docker-compose.prod.yml, edge.conf, bootstrap.sh, deploy.env.example, README.md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SMAART Institute · Hosting &amp; Deployment · 22 Aug 2026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touching AWS: what the code audit found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issues that would have caused real problems in production — all fixed and syntax-checked before committing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1520190"/>
            <a:ext cx="205740" cy="2057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3898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codes written to logs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901952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emailService.js printed every login code. Anyone reading the log could sign in as any student. Now gated behind development / LOG_OTP.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83280" y="141732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1520190"/>
            <a:ext cx="205740" cy="2057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86200" y="13898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secret in source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83280" y="1901952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ADMIN_SYSTEM_SECRET hard-coded in an admin frontend file and sitting in Git history. Removed and rotated to a fresh 64-char value.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72200" y="141732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070" y="1520190"/>
            <a:ext cx="205740" cy="2057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75120" y="13898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escalation, live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72200" y="1901952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requireRole still honoured a dev bypass header in production — any student could become admin. Now disabled when NODE_ENV=production.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29718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94360" y="310896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" y="3211830"/>
            <a:ext cx="205740" cy="2057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7280" y="30815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Board would 404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94360" y="3593592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imageModeration.js built /api/api/ocr/extract. Double /api corrected in three places.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46120" y="29718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383280" y="310896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150" y="3211830"/>
            <a:ext cx="205740" cy="2057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86200" y="30815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"broken" — stale note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383280" y="3593592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note said Gmail SMTP failed. Account had already moved to smaart.sys@gmail.com with an App Password. Proven working.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35040" y="29718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DE8E8"/>
          </a:solidFill>
          <a:ln w="12700">
            <a:solidFill>
              <a:srgbClr val="FDE8E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172200" y="310896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5070" y="3211830"/>
            <a:ext cx="205740" cy="2057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75120" y="30815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open: leaked secrets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172200" y="3593592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MONGODB_URI, JWT_SECRET, CLOUDINARY secret and OPENROUTER key are in Git history and still live. Must be rotated.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SMAART Institute · Hosting &amp; Deployment · 22 Aug 2026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1–2: launching the server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Console → EC2 → Launch instance, then attach an Elastic IP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3017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8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26.04 LTS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 to 2031; Docker packages verified on download.docker.com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t3.medium (4 GB)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t3.micro cannot complete a Create React App build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GB gp3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 MB face-api models + two node_modules + images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22, 80, 443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5000 or 5001 — those stay behind the proxy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 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13.207.12.89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it the IP changes on every stop/start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28016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FF5DC"/>
          </a:solidFill>
          <a:ln w="12700">
            <a:solidFill>
              <a:srgbClr val="FFF5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55080" y="1371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at the launch screen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55080" y="164592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"Allow HTTP traffic" was unticked. Port 80 is not only for visitors — Let's Encrypt uses it to verify domain ownership. With it closed, no certificate is ever issued.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17920" y="297180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DFF2F2"/>
          </a:solidFill>
          <a:ln w="12700">
            <a:solidFill>
              <a:srgbClr val="DFF2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5508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26.04 was verified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55080" y="33375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recommendation was 24.04 in case Docker's repo lagged. Checking download.docker.com showed packages for "resolute" (26.04), updated three days earlier — two extra years of support.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SMAART Institute · Hosting &amp; Deployment · 22 Aug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steps, in order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step runs: laptop or server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920240" y="1691640"/>
            <a:ext cx="228600" cy="0"/>
          </a:xfrm>
          <a:prstGeom prst="line">
            <a:avLst/>
          </a:prstGeom>
          <a:noFill/>
          <a:ln w="19050">
            <a:solidFill>
              <a:srgbClr val="CBD3E3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548640" cy="548640"/>
          </a:xfrm>
          <a:prstGeom prst="ellipse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039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EC2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951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Console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11880" y="1691640"/>
            <a:ext cx="228600" cy="0"/>
          </a:xfrm>
          <a:prstGeom prst="line">
            <a:avLst/>
          </a:prstGeom>
          <a:noFill/>
          <a:ln w="19050">
            <a:solidFill>
              <a:srgbClr val="CBD3E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48840" y="1417320"/>
            <a:ext cx="548640" cy="548640"/>
          </a:xfrm>
          <a:prstGeom prst="ellipse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48840" y="2039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IP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48840" y="22951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Console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0" y="1691640"/>
            <a:ext cx="228600" cy="0"/>
          </a:xfrm>
          <a:prstGeom prst="line">
            <a:avLst/>
          </a:prstGeom>
          <a:noFill/>
          <a:ln w="19050">
            <a:solidFill>
              <a:srgbClr val="CBD3E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40480" y="1417320"/>
            <a:ext cx="548640" cy="548640"/>
          </a:xfrm>
          <a:prstGeom prst="ellipse">
            <a:avLst/>
          </a:prstGeom>
          <a:solidFill>
            <a:srgbClr val="0B7A80"/>
          </a:solidFill>
          <a:ln w="12700">
            <a:solidFill>
              <a:srgbClr val="0B7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40480" y="2039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Docker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22951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95160" y="1691640"/>
            <a:ext cx="228600" cy="0"/>
          </a:xfrm>
          <a:prstGeom prst="line">
            <a:avLst/>
          </a:prstGeom>
          <a:noFill/>
          <a:ln w="19050">
            <a:solidFill>
              <a:srgbClr val="CBD3E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532120" y="1417320"/>
            <a:ext cx="548640" cy="548640"/>
          </a:xfrm>
          <a:prstGeom prst="ellipse">
            <a:avLst/>
          </a:prstGeom>
          <a:solidFill>
            <a:srgbClr val="0B7A80"/>
          </a:solidFill>
          <a:ln w="12700">
            <a:solidFill>
              <a:srgbClr val="0B7A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32120" y="2039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keys + clone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32120" y="22951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23760" y="1417320"/>
            <a:ext cx="548640" cy="548640"/>
          </a:xfrm>
          <a:prstGeom prst="ellipse">
            <a:avLst/>
          </a:prstGeom>
          <a:solidFill>
            <a:srgbClr val="B97A00"/>
          </a:solidFill>
          <a:ln w="12700">
            <a:solidFill>
              <a:srgbClr val="B97A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23760" y="2039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.env files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23760" y="22951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(scp)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920240" y="3246120"/>
            <a:ext cx="228600" cy="0"/>
          </a:xfrm>
          <a:prstGeom prst="line">
            <a:avLst/>
          </a:prstGeom>
          <a:noFill/>
          <a:ln w="19050">
            <a:solidFill>
              <a:srgbClr val="CBD3E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57200" y="2971800"/>
            <a:ext cx="548640" cy="548640"/>
          </a:xfrm>
          <a:prstGeom prst="ellipse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7200" y="3593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A records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3849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11880" y="3246120"/>
            <a:ext cx="228600" cy="0"/>
          </a:xfrm>
          <a:prstGeom prst="line">
            <a:avLst/>
          </a:prstGeom>
          <a:noFill/>
          <a:ln w="19050">
            <a:solidFill>
              <a:srgbClr val="CBD3E3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148840" y="2971800"/>
            <a:ext cx="548640" cy="548640"/>
          </a:xfrm>
          <a:prstGeom prst="ellipse">
            <a:avLst/>
          </a:prstGeom>
          <a:solidFill>
            <a:srgbClr val="0B7A80"/>
          </a:solidFill>
          <a:ln w="12700">
            <a:solidFill>
              <a:srgbClr val="0B7A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488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2148840" y="3593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certificate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148840" y="3849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303520" y="3246120"/>
            <a:ext cx="228600" cy="0"/>
          </a:xfrm>
          <a:prstGeom prst="line">
            <a:avLst/>
          </a:prstGeom>
          <a:noFill/>
          <a:ln w="19050">
            <a:solidFill>
              <a:srgbClr val="CBD3E3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3840480" y="2971800"/>
            <a:ext cx="548640" cy="548640"/>
          </a:xfrm>
          <a:prstGeom prst="ellipse">
            <a:avLst/>
          </a:prstGeom>
          <a:solidFill>
            <a:srgbClr val="0B7A80"/>
          </a:solidFill>
          <a:ln w="12700">
            <a:solidFill>
              <a:srgbClr val="0B7A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3840480" y="3593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deployment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840480" y="3849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95160" y="3246120"/>
            <a:ext cx="228600" cy="0"/>
          </a:xfrm>
          <a:prstGeom prst="line">
            <a:avLst/>
          </a:prstGeom>
          <a:noFill/>
          <a:ln w="19050">
            <a:solidFill>
              <a:srgbClr val="CBD3E3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532120" y="2971800"/>
            <a:ext cx="548640" cy="548640"/>
          </a:xfrm>
          <a:prstGeom prst="ellipse">
            <a:avLst/>
          </a:prstGeom>
          <a:solidFill>
            <a:srgbClr val="0B7A80"/>
          </a:solidFill>
          <a:ln w="12700">
            <a:solidFill>
              <a:srgbClr val="0B7A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532120" y="3593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uploads perms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532120" y="3849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223760" y="2971800"/>
            <a:ext cx="548640" cy="548640"/>
          </a:xfrm>
          <a:prstGeom prst="ellipse">
            <a:avLst/>
          </a:prstGeom>
          <a:solidFill>
            <a:srgbClr val="B97A00"/>
          </a:solidFill>
          <a:ln w="12700">
            <a:solidFill>
              <a:srgbClr val="B97A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2376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223760" y="3593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both sites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223760" y="3849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(curl)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" y="4389120"/>
            <a:ext cx="164592" cy="164592"/>
          </a:xfrm>
          <a:prstGeom prst="ellipse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43342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(AWS / Hostinger)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834640" y="4389120"/>
            <a:ext cx="164592" cy="164592"/>
          </a:xfrm>
          <a:prstGeom prst="ellipse">
            <a:avLst/>
          </a:prstGeom>
          <a:solidFill>
            <a:srgbClr val="0B7A80"/>
          </a:solidFill>
          <a:ln w="12700">
            <a:solidFill>
              <a:srgbClr val="0B7A8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63240" y="43342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server (SSH)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212080" y="4389120"/>
            <a:ext cx="164592" cy="164592"/>
          </a:xfrm>
          <a:prstGeom prst="ellipse">
            <a:avLst/>
          </a:prstGeom>
          <a:solidFill>
            <a:srgbClr val="B97A00"/>
          </a:solidFill>
          <a:ln w="12700">
            <a:solidFill>
              <a:srgbClr val="B97A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40680" y="43342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laptop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SMAART Institute · Hosting &amp; Deployment · 22 Aug 2026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3–5: Docker, deploy keys, cloning, .env files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 on the server (no Desktop, no licence) · one read-only deploy key per private repo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Docker Engine (4 commands, one at a time)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4206240" cy="1783080"/>
          </a:xfrm>
          <a:prstGeom prst="roundRect">
            <a:avLst>
              <a:gd name="adj" fmla="val 307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609344"/>
            <a:ext cx="3986784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 prerequisites + Docker signing key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apt-get install -y ca-certificates curl git ...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  add repo (detects "resolute" = 26.04)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"deb [...] download.docker.com/linux/ubuntu \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$VERSION_CODENAME stable" | sudo tee .../docker.list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  install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apt-get install -y docker-ce docker-compose-plugin ...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  docker group + 4 GB swap for the frontend builds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usermod -aG docker $USER &amp;&amp; sudo fallocate -l 4G /swapfile ...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Docker 29.7.2 · Compose 5.5.0 · 4 GB swap. Reconnect after step 4 — the docker group applies on a fresh login.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keys + clone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536192"/>
            <a:ext cx="3749040" cy="1783080"/>
          </a:xfrm>
          <a:prstGeom prst="roundRect">
            <a:avLst>
              <a:gd name="adj" fmla="val 307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7488" y="1609344"/>
            <a:ext cx="3529584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ssh-keygen -t ed25519 -f ~/.ssh/dashboard_key -N 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ssh-keygen -t ed25519 -f ~/.ssh/admin_key     -N 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~/.ssh/config: Host github-dashboard / github-admin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-T git@github-dashboard; ssh -T git@github-admin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/opt/smaart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git@github-dashboard:Abdur-Rahim-MyGit/\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SMAART-INSTITUE-USERDASHBOARD.git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git@github-admin:Abdur-Rahim-MyGit/\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ADMIN-SMAART-INSTITUTE-26.git  SMAART-INSTITUTE-ADMIN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937760" y="3383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keys added under each repo → Settings → Deploy keys, write access unticked. .env files copied from the laptop with scp (they are gitignored).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5DC"/>
          </a:solidFill>
          <a:ln w="12700">
            <a:solidFill>
              <a:srgbClr val="FFF5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409651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4192524"/>
            <a:ext cx="192024" cy="19202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97280" y="39776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folder name is not optional. </a:t>
            </a:r>
            <a:pPr indent="0" marL="0">
              <a:buNone/>
            </a:pPr>
            <a:r>
              <a:rPr lang="en-US" sz="10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repo is ADMIN-SMAART-INSTITUTE-26 on GitHub but must land in a folder called SMAART-INSTITUTE-ADMIN — that is the path the compose file builds from. Drop it and the build fails with a confusing "path not found".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SMAART Institute · Hosting &amp; Deployment · 22 Aug 2026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6–7: DNS and the HTTPS certificate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 is smaartinstitute.com (not smaartminds.com, which older guides in the repo still mention)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records in Hostinger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45720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640080"/>
                <a:gridCol w="1188720"/>
                <a:gridCol w="22860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8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13.207.12.89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smaartinstitute.com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13.207.12.89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admin.smaartinstitute.com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2743200"/>
            <a:ext cx="457200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8163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admin record existed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309067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to Google DNS returned an Authority section but no Answer — meaning "this domain exists but has no A record". Not a propagation delay. The SOA named dns.hostinger.com, which told us where to add the @ record.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3950208"/>
            <a:ext cx="4297680" cy="548640"/>
          </a:xfrm>
          <a:prstGeom prst="roundRect">
            <a:avLst>
              <a:gd name="adj" fmla="val 1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" y="4023360"/>
            <a:ext cx="4078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"https://dns.google/resolve?name=smaartinstitute.com&amp;type=A"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"https://dns.google/resolve?name=smaartinstitute.com&amp;type=NS"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303520" y="1234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Encrypt certificate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303520" y="1554480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13248" y="162763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+x bootstrap.sh &amp;&amp; sed -i 's/\r$//' bootstrap.sh &amp;&amp; ./bootstrap.sh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303520" y="2148840"/>
            <a:ext cx="365760" cy="365760"/>
          </a:xfrm>
          <a:prstGeom prst="ellipse">
            <a:avLst/>
          </a:prstGeom>
          <a:solidFill>
            <a:srgbClr val="DFF2F2"/>
          </a:solidFill>
          <a:ln w="12700">
            <a:solidFill>
              <a:srgbClr val="DFF2F2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2240280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79008" y="2148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in about 20 seconds once both names resolved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303520" y="2651760"/>
            <a:ext cx="365760" cy="365760"/>
          </a:xfrm>
          <a:prstGeom prst="ellipse">
            <a:avLst/>
          </a:prstGeom>
          <a:solidFill>
            <a:srgbClr val="DFF2F2"/>
          </a:solidFill>
          <a:ln w="12700">
            <a:solidFill>
              <a:srgbClr val="DFF2F2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743200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779008" y="2651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certificate covers both hostnames — /etc/letsencrypt/live/smaartinstitute.com/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303520" y="3154680"/>
            <a:ext cx="365760" cy="365760"/>
          </a:xfrm>
          <a:prstGeom prst="ellipse">
            <a:avLst/>
          </a:prstGeom>
          <a:solidFill>
            <a:srgbClr val="DFF2F2"/>
          </a:solidFill>
          <a:ln w="12700">
            <a:solidFill>
              <a:srgbClr val="DFF2F2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246120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79008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Expires 20 November 2026, renewed automatically by certbot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303520" y="3657600"/>
            <a:ext cx="365760" cy="365760"/>
          </a:xfrm>
          <a:prstGeom prst="ellipse">
            <a:avLst/>
          </a:prstGeom>
          <a:solidFill>
            <a:srgbClr val="DFF2F2"/>
          </a:solidFill>
          <a:ln w="12700">
            <a:solidFill>
              <a:srgbClr val="DFF2F2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749040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779008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nginx reloads every 6 h so the renewed file is actually served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5303520" y="4160520"/>
            <a:ext cx="365760" cy="365760"/>
          </a:xfrm>
          <a:prstGeom prst="ellipse">
            <a:avLst/>
          </a:prstGeom>
          <a:solidFill>
            <a:srgbClr val="DFF2F2"/>
          </a:solidFill>
          <a:ln w="12700">
            <a:solidFill>
              <a:srgbClr val="DFF2F2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4251960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779008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sed strips Windows line endings — insurance against $'\r': command not found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SMAART Institute · Hosting &amp; Deployment · 22 Aug 2026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8–10: first deployment and verification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detached, because a browser terminal dropping mid-build would otherwise kill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307592"/>
            <a:ext cx="8010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nohup docker compose -f docker-compose.prod.yml up -d --build &gt; /tmp/build.log 2&gt;&amp;1 &amp;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-f /tmp/build.log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023360" cy="2697480"/>
          </a:xfrm>
          <a:prstGeom prst="roundRect">
            <a:avLst>
              <a:gd name="adj" fmla="val 2712"/>
            </a:avLst>
          </a:prstGeom>
          <a:solidFill>
            <a:srgbClr val="FDE8E8"/>
          </a:solidFill>
          <a:ln w="12700">
            <a:solidFill>
              <a:srgbClr val="FDE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05740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2153412"/>
            <a:ext cx="192024" cy="1920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20299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of six containers started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4360" y="2514600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" y="258775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EACCES: permission denied, mkdir '/usr/src/app/uploads/proctoring'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94360" y="29260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back-end/uploads/ is gitignored, so a fresh clone lacks it. Docker created the missing bind-mount as root; the student backend runs as the non-root "node" user and could not write there. (The admin backend runs as root, so it was fine — that asymmetry made it confusing.)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3794760"/>
            <a:ext cx="3749040" cy="731520"/>
          </a:xfrm>
          <a:prstGeom prst="roundRect">
            <a:avLst>
              <a:gd name="adj" fmla="val 75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4088" y="3867912"/>
            <a:ext cx="35295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IMG=smaart-prod-user-backend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CU=$(docker run --rm $IMG id -u):$(docker run --rm $IMG id -g)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chown -R $CU .../back-end/uploads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-f docker-compose.prod.yml restart user-backend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663440" y="1920240"/>
            <a:ext cx="4023360" cy="2697480"/>
          </a:xfrm>
          <a:prstGeom prst="roundRect">
            <a:avLst>
              <a:gd name="adj" fmla="val 2712"/>
            </a:avLst>
          </a:prstGeom>
          <a:solidFill>
            <a:srgbClr val="DFF2F2"/>
          </a:solidFill>
          <a:ln w="12700">
            <a:solidFill>
              <a:srgbClr val="DFF2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00600" y="205740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612" y="2153412"/>
            <a:ext cx="192024" cy="19202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03520" y="20299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up — verified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4800600" y="2514600"/>
            <a:ext cx="3749040" cy="1143000"/>
          </a:xfrm>
          <a:prstGeom prst="roundRect">
            <a:avLst>
              <a:gd name="adj" fmla="val 48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910328" y="2587752"/>
            <a:ext cx="352958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HTTP/2 200                      &lt;- student site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{"status":"Server is running",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"db":"connected"}              &lt;- backend + Atlas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HTTP/2 200                      &lt;- admin site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HTTP/1.1 301 Moved Permanently  &lt;- http -&gt; https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4800600" y="37490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websites returning 200, the database connected, and plain HTTP redirecting to HTTPS. The sites were live.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SMAART Institute · Hosting &amp; Deployment · 22 Aug 2026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new version reaches the live site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never deploys. Building is automatic; going live is a human decision.</a:t>
            </a:r>
            <a:endParaRPr lang="en-US" sz="1300" dirty="0"/>
          </a:p>
        </p:txBody>
      </p:sp>
      <p:pic>
        <p:nvPicPr>
          <p:cNvPr id="4" name="Image 0" descr="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8229600" cy="30540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on GitHub? The frontend build needed 4 GB of swap on an idle machine. Building on the live server while students are on it would make the site crawl and risk running out of memory.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SMAART Institute · Hosting &amp; Deployment · 22 Aug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built into the deploy — and how to click 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legacy workflows that deployed on every push (rm -rf /var/www/html, pm2 restart) were disabled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411480" cy="411480"/>
          </a:xfrm>
          <a:prstGeom prst="ellipse">
            <a:avLst/>
          </a:prstGeom>
          <a:solidFill>
            <a:srgbClr val="E7ECF8"/>
          </a:solidFill>
          <a:ln w="12700">
            <a:solidFill>
              <a:srgbClr val="E7EC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1520190"/>
            <a:ext cx="205740" cy="2057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38988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--no-build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901952"/>
            <a:ext cx="1691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image fails loudly instead of silently starting a 10-minute build on the live server.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60320" y="1280160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97480" y="1417320"/>
            <a:ext cx="411480" cy="411480"/>
          </a:xfrm>
          <a:prstGeom prst="ellipse">
            <a:avLst/>
          </a:prstGeom>
          <a:solidFill>
            <a:srgbClr val="E7ECF8"/>
          </a:solidFill>
          <a:ln w="12700">
            <a:solidFill>
              <a:srgbClr val="E7ECF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350" y="1520190"/>
            <a:ext cx="205740" cy="2057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0" y="138988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697480" y="1901952"/>
            <a:ext cx="1691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attempts over ~100 s, testing both sites and "db":"connected".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63440" y="1280160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00600" y="1417320"/>
            <a:ext cx="411480" cy="411480"/>
          </a:xfrm>
          <a:prstGeom prst="ellipse">
            <a:avLst/>
          </a:prstGeom>
          <a:solidFill>
            <a:srgbClr val="E7ECF8"/>
          </a:solidFill>
          <a:ln w="12700">
            <a:solidFill>
              <a:srgbClr val="E7ECF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470" y="1520190"/>
            <a:ext cx="205740" cy="2057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03520" y="138988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rollback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800600" y="1901952"/>
            <a:ext cx="1691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failure, the previous image is restored — by immutable digest / image ID, not a "latest" tag.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766560" y="1280160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03720" y="1417320"/>
            <a:ext cx="411480" cy="411480"/>
          </a:xfrm>
          <a:prstGeom prst="ellipse">
            <a:avLst/>
          </a:prstGeom>
          <a:solidFill>
            <a:srgbClr val="E7ECF8"/>
          </a:solidFill>
          <a:ln w="12700">
            <a:solidFill>
              <a:srgbClr val="E7ECF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6590" y="1520190"/>
            <a:ext cx="205740" cy="2057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138988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guard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903720" y="1901952"/>
            <a:ext cx="1691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deploys can never overlap. The button lives only in the dashboard repo.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5720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deploy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324612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merge to main → "Build &amp; Push Images" runs by itself (~4 min, green tick).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repo → Actions → Deploy to production.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grey "Run workflow ⌄" — it opens a panel.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both tags as latest → click the green "Run workflow" inside the panel.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health check pass (~50 s). Done.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852160" y="2971800"/>
            <a:ext cx="2834640" cy="1691640"/>
          </a:xfrm>
          <a:prstGeom prst="roundRect">
            <a:avLst>
              <a:gd name="adj" fmla="val 4324"/>
            </a:avLst>
          </a:prstGeom>
          <a:solidFill>
            <a:srgbClr val="DFF2F2"/>
          </a:solidFill>
          <a:ln w="12700">
            <a:solidFill>
              <a:srgbClr val="DFF2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989320" y="3063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roll back on purpose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989320" y="33375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workflow, but enter the commit SHA of a known-good build instead of "latest".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GitHub is down: git pull both repos on the server and run docker compose up -d --build locally.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SMAART Institute · Hosting &amp; Deployment · 22 Aug 2026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error, and how it was solved (1 of 2)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section worth keeping — most of these will recur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1520190"/>
            <a:ext cx="205740" cy="2057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3898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^[[200~ corrupting every paste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901952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Bracketed-paste marker broke the first line of every pasted block; commands seemed to run. Fix: bind 'set enable-bracketed-paste off' (+ add to ~/.bashrc).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46120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83280" y="141732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1520190"/>
            <a:ext cx="205740" cy="2057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86200" y="13898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Pastes silently not registering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83280" y="1901952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time cost of the day. SSH key and GHCR token "looked wrong" — the field was empty. Fix: read -rsp then echo ${#T} to count the characters received.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35040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72200" y="141732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070" y="1520190"/>
            <a:ext cx="205740" cy="2057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75120" y="13898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clip failing without a word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72200" y="1901952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key | clip in Git Bash gave no error and no clipboard. Fix: PowerShell Get-Content -Raw | Set-Clipboard.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57200" y="29718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94360" y="310896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" y="3211830"/>
            <a:ext cx="205740" cy="2057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7280" y="30815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Two different .pem files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94360" y="3593592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older key from a previous instance gave Permission denied (publickey). Fix: compare with md5sum and date; install the right one as smaart-prod.pem.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246120" y="29718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383280" y="310896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150" y="3211830"/>
            <a:ext cx="205740" cy="2057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86200" y="30815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chmod 600 not taking on Windows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383280" y="3593592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Bash said OK but Windows uses ACLs. Fix: icacls … /inheritance:r /grant:r "$env:USERNAME:(R)".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035040" y="29718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172200" y="310896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5070" y="3211830"/>
            <a:ext cx="205740" cy="2057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75120" y="30815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Laptop commands on the server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172200" y="3593592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/c/Users/... exists only on Windows. Rule: C:\ paths and git commits → laptop; docker compose → server. Read the prompt first.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SMAART Institute · Hosting &amp; Deployment · 22 Aug 2026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error, and how it was solved (2 of 2)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Actions, secrets and the deploy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1520190"/>
            <a:ext cx="205740" cy="2057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3898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ssh: no key found vs [none publickey]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901952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look-alike failures: the key would not parse vs. parsed but rejected. Testing the same key from the laptop proved the key was fine — the problem was EC2_USER / EC2_HOST.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46120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83280" y="141732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1520190"/>
            <a:ext cx="205740" cy="2057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86200" y="13898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Secrets that were never secret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83280" y="1901952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EC2_HOST / EC2_USER stored as secrets — a stray space gave the same error as a broken key, and secrets cannot be read back. Fix: hard-code both in the workflow.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35040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72200" y="141732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070" y="1520190"/>
            <a:ext cx="205740" cy="2057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75120" y="13898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A rollback that would make things worse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72200" y="1901952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tag "latest" = moving pointer; rollback would reinstall the broken image. Fix: record the registry digest, or local image ID when no digest exists.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57200" y="29718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94360" y="310896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" y="3211830"/>
            <a:ext cx="205740" cy="2057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7280" y="30815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ghcr.io/v2/: denied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94360" y="3593592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 to an empty GHCR_PULL_TOKEN secret (the paste never landed). The token was valid — "Login Succeeded" on the server.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246120" y="29718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383280" y="310896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150" y="3211830"/>
            <a:ext cx="205740" cy="2057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86200" y="30815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"Run workflow" does nothing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383280" y="3593592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buttons share the name. The grey one opens a panel; the green one inside it starts the run.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035040" y="29718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172200" y="310896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5070" y="3211830"/>
            <a:ext cx="205740" cy="2057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75120" y="30815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Secret name would not save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172200" y="3593592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"Only alphanumeric or underscores" — caused by a hyphen or a trailing space from pasting. Type GHCR_PULL_TOKEN by hand.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SMAART Institute · Hosting &amp; Deployment · 22 Aug 2026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operations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for a normal week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(laptop)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490472"/>
            <a:ext cx="3977640" cy="320040"/>
          </a:xfrm>
          <a:prstGeom prst="roundRect">
            <a:avLst>
              <a:gd name="adj" fmla="val 17143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63624"/>
            <a:ext cx="37581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-i /c/Users/dhars/.ssh/smaart-prod.pem ubuntu@13.207.12.89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99339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checks (server)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249424"/>
            <a:ext cx="3977640" cy="960120"/>
          </a:xfrm>
          <a:prstGeom prst="roundRect">
            <a:avLst>
              <a:gd name="adj" fmla="val 5714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322576"/>
            <a:ext cx="375818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/opt/smaart/SMAART-INSTITUE-USERDASHBOARD/\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aws-deployment/single-instance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-f docker-compose.prod.yml ps     # six Up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-f docker-compose.prod.yml logs -f user-backend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-f docker-compose.prod.yml restart user-backend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339242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(anywhere)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648456"/>
            <a:ext cx="3977640" cy="68580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721608"/>
            <a:ext cx="37581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-sI https://smaartinstitute.com | head -1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 https://smaartinstitute.com/api/health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-sI https://admin.smaartinstitute.com | head -1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09160" y="12344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editing a .env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1490472"/>
            <a:ext cx="3977640" cy="502920"/>
          </a:xfrm>
          <a:prstGeom prst="roundRect">
            <a:avLst>
              <a:gd name="adj" fmla="val 10909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1563624"/>
            <a:ext cx="37581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-f docker-compose.prod.yml up -d --force-recreate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restart is NOT enough - it reuses the old environment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09160" y="21762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Emergency: GitHub down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2432304"/>
            <a:ext cx="3977640" cy="868680"/>
          </a:xfrm>
          <a:prstGeom prst="roundRect">
            <a:avLst>
              <a:gd name="adj" fmla="val 6316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2505456"/>
            <a:ext cx="37581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/opt/smaart/SMAART-INSTITUE-USERDASHBOARD &amp;&amp; git pull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/opt/smaart/SMAART-INSTITUTE-ADMIN &amp;&amp; git pull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.../aws-deployment/single-instance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-f docker-compose.prod.yml up -d --build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09160" y="348386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3739896"/>
            <a:ext cx="3977640" cy="68580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3813048"/>
            <a:ext cx="37581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 repo -&gt; Actions -&gt; Deploy to production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grey "Run workflow" -&gt; keep latest -&gt; green "Run workflow"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roll back: enter a known-good commit SHA instead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SMAART Institute · Hosting &amp; Deployment · 22 Aug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still outstanding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 the end of 22 August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92608" cy="292608"/>
          </a:xfrm>
          <a:prstGeom prst="ellipse">
            <a:avLst/>
          </a:prstGeom>
          <a:solidFill>
            <a:srgbClr val="DFF2F2"/>
          </a:solidFill>
          <a:ln w="12700">
            <a:solidFill>
              <a:srgbClr val="DFF2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53312"/>
            <a:ext cx="146304" cy="1463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1280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sites live on HTTPS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1664208"/>
            <a:ext cx="292608" cy="292608"/>
          </a:xfrm>
          <a:prstGeom prst="ellipse">
            <a:avLst/>
          </a:prstGeom>
          <a:solidFill>
            <a:srgbClr val="DFF2F2"/>
          </a:solidFill>
          <a:ln w="12700">
            <a:solidFill>
              <a:srgbClr val="DFF2F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737360"/>
            <a:ext cx="146304" cy="1463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1248" y="16642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auto-renewing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57200" y="2048256"/>
            <a:ext cx="292608" cy="292608"/>
          </a:xfrm>
          <a:prstGeom prst="ellipse">
            <a:avLst/>
          </a:prstGeom>
          <a:solidFill>
            <a:srgbClr val="DFF2F2"/>
          </a:solidFill>
          <a:ln w="12700">
            <a:solidFill>
              <a:srgbClr val="DFF2F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121408"/>
            <a:ext cx="146304" cy="1463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1248" y="20482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connected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57200" y="2432304"/>
            <a:ext cx="292608" cy="292608"/>
          </a:xfrm>
          <a:prstGeom prst="ellipse">
            <a:avLst/>
          </a:prstGeom>
          <a:solidFill>
            <a:srgbClr val="DFF2F2"/>
          </a:solidFill>
          <a:ln w="12700">
            <a:solidFill>
              <a:srgbClr val="DFF2F2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505456"/>
            <a:ext cx="146304" cy="14630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41248" y="24323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OTP working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457200" y="2816352"/>
            <a:ext cx="292608" cy="292608"/>
          </a:xfrm>
          <a:prstGeom prst="ellipse">
            <a:avLst/>
          </a:prstGeom>
          <a:solidFill>
            <a:srgbClr val="DFF2F2"/>
          </a:solidFill>
          <a:ln w="12700">
            <a:solidFill>
              <a:srgbClr val="DFF2F2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2889504"/>
            <a:ext cx="146304" cy="14630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41248" y="28163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building both apps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457200" y="3200400"/>
            <a:ext cx="292608" cy="292608"/>
          </a:xfrm>
          <a:prstGeom prst="ellipse">
            <a:avLst/>
          </a:prstGeom>
          <a:solidFill>
            <a:srgbClr val="DFF2F2"/>
          </a:solidFill>
          <a:ln w="12700">
            <a:solidFill>
              <a:srgbClr val="DFF2F2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273552"/>
            <a:ext cx="146304" cy="14630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41248" y="3200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deploy, proven</a:t>
            </a:r>
            <a:endParaRPr lang="en-US" sz="1150" dirty="0"/>
          </a:p>
        </p:txBody>
      </p:sp>
      <p:sp>
        <p:nvSpPr>
          <p:cNvPr id="22" name="Shape 14"/>
          <p:cNvSpPr/>
          <p:nvPr/>
        </p:nvSpPr>
        <p:spPr>
          <a:xfrm>
            <a:off x="457200" y="3584448"/>
            <a:ext cx="292608" cy="292608"/>
          </a:xfrm>
          <a:prstGeom prst="ellipse">
            <a:avLst/>
          </a:prstGeom>
          <a:solidFill>
            <a:srgbClr val="DFF2F2"/>
          </a:solidFill>
          <a:ln w="12700">
            <a:solidFill>
              <a:srgbClr val="DFF2F2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3657600"/>
            <a:ext cx="146304" cy="14630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41248" y="35844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workflows disabled</a:t>
            </a:r>
            <a:endParaRPr lang="en-US" sz="1150" dirty="0"/>
          </a:p>
        </p:txBody>
      </p:sp>
      <p:sp>
        <p:nvSpPr>
          <p:cNvPr id="25" name="Shape 16"/>
          <p:cNvSpPr/>
          <p:nvPr/>
        </p:nvSpPr>
        <p:spPr>
          <a:xfrm>
            <a:off x="457200" y="3968496"/>
            <a:ext cx="292608" cy="292608"/>
          </a:xfrm>
          <a:prstGeom prst="ellipse">
            <a:avLst/>
          </a:prstGeom>
          <a:solidFill>
            <a:srgbClr val="DFF2F2"/>
          </a:solidFill>
          <a:ln w="12700">
            <a:solidFill>
              <a:srgbClr val="DFF2F2"/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" y="4041648"/>
            <a:ext cx="146304" cy="14630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841248" y="39684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in both repos</a:t>
            </a:r>
            <a:endParaRPr lang="en-US" sz="1150" dirty="0"/>
          </a:p>
        </p:txBody>
      </p:sp>
      <p:sp>
        <p:nvSpPr>
          <p:cNvPr id="28" name="Shape 18"/>
          <p:cNvSpPr/>
          <p:nvPr/>
        </p:nvSpPr>
        <p:spPr>
          <a:xfrm>
            <a:off x="4389120" y="1280160"/>
            <a:ext cx="4297680" cy="1097280"/>
          </a:xfrm>
          <a:prstGeom prst="roundRect">
            <a:avLst>
              <a:gd name="adj" fmla="val 6667"/>
            </a:avLst>
          </a:prstGeom>
          <a:solidFill>
            <a:srgbClr val="FFF5DC"/>
          </a:solidFill>
          <a:ln w="12700">
            <a:solidFill>
              <a:srgbClr val="FFF5DC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4526280" y="141732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9150" y="1520190"/>
            <a:ext cx="205740" cy="20574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029200" y="13898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rollback</a:t>
            </a:r>
            <a:endParaRPr lang="en-US" sz="1300" dirty="0"/>
          </a:p>
        </p:txBody>
      </p:sp>
      <p:sp>
        <p:nvSpPr>
          <p:cNvPr id="32" name="Text 21"/>
          <p:cNvSpPr/>
          <p:nvPr/>
        </p:nvSpPr>
        <p:spPr>
          <a:xfrm>
            <a:off x="4526280" y="19019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Pushed, not yet exercised. On the next deploy look for "previous user-backend : sha256:…" — values instead of &lt;none&gt; mean the safety net is armed.</a:t>
            </a:r>
            <a:endParaRPr lang="en-US" sz="1000" dirty="0"/>
          </a:p>
        </p:txBody>
      </p:sp>
      <p:sp>
        <p:nvSpPr>
          <p:cNvPr id="33" name="Shape 22"/>
          <p:cNvSpPr/>
          <p:nvPr/>
        </p:nvSpPr>
        <p:spPr>
          <a:xfrm>
            <a:off x="4389120" y="2514600"/>
            <a:ext cx="4297680" cy="1097280"/>
          </a:xfrm>
          <a:prstGeom prst="roundRect">
            <a:avLst>
              <a:gd name="adj" fmla="val 6667"/>
            </a:avLst>
          </a:prstGeom>
          <a:solidFill>
            <a:srgbClr val="FFF5DC"/>
          </a:solidFill>
          <a:ln w="12700">
            <a:solidFill>
              <a:srgbClr val="FFF5DC"/>
            </a:solidFill>
            <a:prstDash val="solid"/>
          </a:ln>
        </p:spPr>
      </p:sp>
      <p:sp>
        <p:nvSpPr>
          <p:cNvPr id="34" name="Shape 23"/>
          <p:cNvSpPr/>
          <p:nvPr/>
        </p:nvSpPr>
        <p:spPr>
          <a:xfrm>
            <a:off x="4526280" y="265176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9150" y="2754630"/>
            <a:ext cx="205740" cy="20574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5029200" y="26243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Desktop\EC2_SSH_KEY.txt</a:t>
            </a:r>
            <a:endParaRPr lang="en-US" sz="1300" dirty="0"/>
          </a:p>
        </p:txBody>
      </p:sp>
      <p:sp>
        <p:nvSpPr>
          <p:cNvPr id="37" name="Text 25"/>
          <p:cNvSpPr/>
          <p:nvPr/>
        </p:nvSpPr>
        <p:spPr>
          <a:xfrm>
            <a:off x="4526280" y="31363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plain-text copy of the deploy key is still on the laptop.</a:t>
            </a:r>
            <a:endParaRPr lang="en-US" sz="1000" dirty="0"/>
          </a:p>
        </p:txBody>
      </p:sp>
      <p:sp>
        <p:nvSpPr>
          <p:cNvPr id="38" name="Shape 26"/>
          <p:cNvSpPr/>
          <p:nvPr/>
        </p:nvSpPr>
        <p:spPr>
          <a:xfrm>
            <a:off x="4389120" y="374904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12700">
            <a:solidFill>
              <a:srgbClr val="FDE8E8"/>
            </a:solidFill>
            <a:prstDash val="solid"/>
          </a:ln>
        </p:spPr>
      </p:sp>
      <p:sp>
        <p:nvSpPr>
          <p:cNvPr id="39" name="Shape 27"/>
          <p:cNvSpPr/>
          <p:nvPr/>
        </p:nvSpPr>
        <p:spPr>
          <a:xfrm>
            <a:off x="4526280" y="390448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22292" y="4000500"/>
            <a:ext cx="192024" cy="192024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5029200" y="37947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the four leaked credentials. </a:t>
            </a:r>
            <a:pPr indent="0" marL="0">
              <a:buNone/>
            </a:pPr>
            <a:r>
              <a:rPr lang="en-US" sz="9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MONGODB_URI, JWT_SECRET, CLOUDINARY_API_SECRET, OPENROUTER_API_KEY are in Git history and still live. ~20 minutes now; after launch it logs every student out.</a:t>
            </a:r>
            <a:endParaRPr lang="en-US" sz="950" dirty="0"/>
          </a:p>
        </p:txBody>
      </p:sp>
      <p:sp>
        <p:nvSpPr>
          <p:cNvPr id="42" name="Text 29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SMAART Institute · Hosting &amp; Deployment · 22 Aug 2026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most important questions (1–5)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answers you can say out loud in a review or hand-over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123444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edge proxy instead of running both apps directly?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0" y="1234440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wanted port 80; only one program can hold it. The edge owns 80/443, routes by domain name, and keeps the apps off the internet.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51560" y="1892808"/>
            <a:ext cx="7635240" cy="0"/>
          </a:xfrm>
          <a:prstGeom prst="line">
            <a:avLst/>
          </a:prstGeom>
          <a:noFill/>
          <a:ln w="9525">
            <a:solidFill>
              <a:srgbClr val="CBD3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75104"/>
            <a:ext cx="457200" cy="457200"/>
          </a:xfrm>
          <a:prstGeom prst="ellipse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192938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Docker on the server rather than pm2 + nginx on the host?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0" y="192938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build on laptop, GitHub and server; six containers start, stop and roll back as one unit; nothing leaks between the two apps.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51560" y="2587752"/>
            <a:ext cx="7635240" cy="0"/>
          </a:xfrm>
          <a:prstGeom prst="line">
            <a:avLst/>
          </a:prstGeom>
          <a:noFill/>
          <a:ln w="9525">
            <a:solidFill>
              <a:srgbClr val="CBD3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70048"/>
            <a:ext cx="457200" cy="457200"/>
          </a:xfrm>
          <a:prstGeom prst="ellipse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262432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pushing to main NOT deploy?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14800" y="2624328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live student system. Push = build. A human click = deploy. The old legacy workflows deployed on every push with rm -rf — that was the real danger.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51560" y="3282696"/>
            <a:ext cx="7635240" cy="0"/>
          </a:xfrm>
          <a:prstGeom prst="line">
            <a:avLst/>
          </a:prstGeom>
          <a:noFill/>
          <a:ln w="9525">
            <a:solidFill>
              <a:srgbClr val="CBD3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364992"/>
            <a:ext cx="457200" cy="457200"/>
          </a:xfrm>
          <a:prstGeom prst="ellipse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3319272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on GitHub, not on the server?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0" y="331927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needed 4 GB of swap on an idle machine. On a busy server it would crawl or run out of memory. The server only pulls images: ~50 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51560" y="3977640"/>
            <a:ext cx="7635240" cy="0"/>
          </a:xfrm>
          <a:prstGeom prst="line">
            <a:avLst/>
          </a:prstGeom>
          <a:noFill/>
          <a:ln w="9525">
            <a:solidFill>
              <a:srgbClr val="CBD3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059936"/>
            <a:ext cx="457200" cy="457200"/>
          </a:xfrm>
          <a:prstGeom prst="ellipse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51560" y="4014216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a deploy is broken?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114800" y="4014216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check: 20 tries over ~100 s on both sites + db:connected. Failure → automatic rollback by immutable digest / image ID.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SMAART Institute · Hosting &amp; Deployment · 22 Aug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most important questions (6–10)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answers you can say out loud in a review or hand-over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123444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HTTPS work and renew?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0" y="1234440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Encrypt via bootstrap.sh (port 80 must be open). Certbot renews; the edge reloads every 6 h so the new file is actually served.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51560" y="1892808"/>
            <a:ext cx="7635240" cy="0"/>
          </a:xfrm>
          <a:prstGeom prst="line">
            <a:avLst/>
          </a:prstGeom>
          <a:noFill/>
          <a:ln w="9525">
            <a:solidFill>
              <a:srgbClr val="CBD3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75104"/>
            <a:ext cx="457200" cy="457200"/>
          </a:xfrm>
          <a:prstGeom prst="ellipse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192938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Elastic IP?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0" y="192938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 the IP changes on every stop/start, breaking both DNS A records and the MongoDB Atlas allow-list.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51560" y="2587752"/>
            <a:ext cx="7635240" cy="0"/>
          </a:xfrm>
          <a:prstGeom prst="line">
            <a:avLst/>
          </a:prstGeom>
          <a:noFill/>
          <a:ln w="9525">
            <a:solidFill>
              <a:srgbClr val="CBD3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70048"/>
            <a:ext cx="457200" cy="457200"/>
          </a:xfrm>
          <a:prstGeom prst="ellipse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262432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deploy keys instead of a personal token?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14800" y="2624328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Read-only, scoped to one repo, revocable. A personal token would hand the server the whole GitHub account.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51560" y="3282696"/>
            <a:ext cx="7635240" cy="0"/>
          </a:xfrm>
          <a:prstGeom prst="line">
            <a:avLst/>
          </a:prstGeom>
          <a:noFill/>
          <a:ln w="9525">
            <a:solidFill>
              <a:srgbClr val="CBD3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364992"/>
            <a:ext cx="457200" cy="457200"/>
          </a:xfrm>
          <a:prstGeom prst="ellipse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3319272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serious code issue found?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0" y="331927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privilege-escalation bypass still active in production: any student + a header + a hard-coded secret = admin. Disabled in production now.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51560" y="3977640"/>
            <a:ext cx="7635240" cy="0"/>
          </a:xfrm>
          <a:prstGeom prst="line">
            <a:avLst/>
          </a:prstGeom>
          <a:noFill/>
          <a:ln w="9525">
            <a:solidFill>
              <a:srgbClr val="CBD3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059936"/>
            <a:ext cx="457200" cy="457200"/>
          </a:xfrm>
          <a:prstGeom prst="ellipse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51560" y="4014216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still risky?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114800" y="4014216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credentials in Git history are still live. JWT_SECRET alone forges admin sessions. Rotate now (~20 min) rather than after launch.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SMAART Institute · Hosting &amp; Deployment · 22 Aug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38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sites are live.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repositories · one instance · six containers · one deploy button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25428F"/>
          </a:solidFill>
          <a:ln w="12700">
            <a:solidFill>
              <a:srgbClr val="3A5A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651760"/>
            <a:ext cx="411480" cy="411480"/>
          </a:xfrm>
          <a:prstGeom prst="ellipse">
            <a:avLst/>
          </a:prstGeom>
          <a:solidFill>
            <a:srgbClr val="3A5AAE"/>
          </a:solidFill>
          <a:ln w="12700">
            <a:solidFill>
              <a:srgbClr val="3A5AA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2754630"/>
            <a:ext cx="205740" cy="2057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1272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rotate the 4 leaked secrets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3474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that still blocks real students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251460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25428F"/>
          </a:solidFill>
          <a:ln w="12700">
            <a:solidFill>
              <a:srgbClr val="3A5AA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83280" y="2651760"/>
            <a:ext cx="411480" cy="411480"/>
          </a:xfrm>
          <a:prstGeom prst="ellipse">
            <a:avLst/>
          </a:prstGeom>
          <a:solidFill>
            <a:srgbClr val="3A5AAE"/>
          </a:solidFill>
          <a:ln w="12700">
            <a:solidFill>
              <a:srgbClr val="3A5AA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754630"/>
            <a:ext cx="205740" cy="2057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31272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next deploy log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83280" y="3474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"previous user-backend : sha256:…" appears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943600" y="251460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25428F"/>
          </a:solidFill>
          <a:ln w="12700">
            <a:solidFill>
              <a:srgbClr val="3A5AA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80760" y="2651760"/>
            <a:ext cx="411480" cy="411480"/>
          </a:xfrm>
          <a:prstGeom prst="ellipse">
            <a:avLst/>
          </a:prstGeom>
          <a:solidFill>
            <a:srgbClr val="3A5AAE"/>
          </a:solidFill>
          <a:ln w="12700">
            <a:solidFill>
              <a:srgbClr val="3A5AA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630" y="2754630"/>
            <a:ext cx="205740" cy="2057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80760" y="31272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080760" y="3474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aws-deployment/single-instance/README.md · DEPLOY.md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D3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 check, from anywhere:  curl -s https://smaartinstitute.com/api/health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SMAART Institute · Hosting &amp; Deployment · 22 Aug 2026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Taking SMAART Institute Live</dc:title>
  <dc:subject>PptxGenJS Presentation</dc:subject>
  <dc:creator>SMAART Institute</dc:creator>
  <cp:lastModifiedBy>SMAART Institute</cp:lastModifiedBy>
  <cp:revision>1</cp:revision>
  <dcterms:created xsi:type="dcterms:W3CDTF">2026-08-23T17:39:18Z</dcterms:created>
  <dcterms:modified xsi:type="dcterms:W3CDTF">2026-08-23T17:39:18Z</dcterms:modified>
</cp:coreProperties>
</file>