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7960" y="1600200"/>
            <a:ext cx="5120640" cy="3611880"/>
          </a:xfrm>
          <a:prstGeom prst="roundRect">
            <a:avLst>
              <a:gd name="adj" fmla="val 3038"/>
            </a:avLst>
          </a:prstGeom>
          <a:solidFill>
            <a:srgbClr val="002147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3" name="Image 0" descr="/home/user/SMAART-INSTITUE-USERDASHBOARD/My Project Document/assets/smaar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3017520" cy="768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60604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to run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77240" y="32461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7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AWS, database and platform budget from 10 to 5,000 users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list prices  ·  AWS Mumbai  ·  August 2026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49440" y="1920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949440" y="239572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500 students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49440" y="26334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$115–$156 / month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949440" y="310896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5,000 students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949440" y="334670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$1,136–$1,406 / month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49440" y="382219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student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49440" y="405993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$0.28 (INR 25) / month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49440" y="45354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49440" y="477316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no licence at any tier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MAART-INSTITUE-USERDASHBOARD/My Project Document/assets/smaart-logo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384048"/>
            <a:ext cx="1143000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answer, one table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48132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sizes, from a ten-person pilot to five thousand students. Every figure is a monthly range: budget against the higher number.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2286000" cy="420624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201168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926080" y="2011680"/>
            <a:ext cx="1371600" cy="420624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99232" y="2011680"/>
            <a:ext cx="1225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2011680"/>
            <a:ext cx="2286000" cy="420624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70832" y="201168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83680" y="2011680"/>
            <a:ext cx="2103120" cy="420624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2011680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686800" y="2011680"/>
            <a:ext cx="1947672" cy="420624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59952" y="2011680"/>
            <a:ext cx="1801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(INR)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0634472" y="2011680"/>
            <a:ext cx="914400" cy="420624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707624" y="2011680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0080" y="2432304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2432304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Pilot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926080" y="2432304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99232" y="2432304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297680" y="2432304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70832" y="2432304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x t3.small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0" y="2432304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56832" y="243230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$27–$27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686800" y="2432304"/>
            <a:ext cx="19476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759952" y="2432304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2,359–2,412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10634472" y="2432304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707624" y="2432304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$2.74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40080" y="2889504"/>
            <a:ext cx="22860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2889504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One college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2926080" y="2889504"/>
            <a:ext cx="13716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999232" y="2889504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297680" y="2889504"/>
            <a:ext cx="22860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370832" y="2889504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x t3.medium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83680" y="2889504"/>
            <a:ext cx="21031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56832" y="288950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$115–$156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8686800" y="2889504"/>
            <a:ext cx="1947672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759952" y="2889504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10,134–13,742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10634472" y="2889504"/>
            <a:ext cx="9144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707624" y="2889504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$0.31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640080" y="3346704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3232" y="3346704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Growing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2926080" y="3346704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999232" y="3346704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4297680" y="3346704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370832" y="3346704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x t3.large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6583680" y="3346704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656832" y="334670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$273–$335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8686800" y="3346704"/>
            <a:ext cx="19476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759952" y="3346704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24,046–29,502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10634472" y="3346704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707624" y="3346704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$0.34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640080" y="3803904"/>
            <a:ext cx="22860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13232" y="3803904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Multi-college</a:t>
            </a:r>
            <a:endParaRPr lang="en-US" sz="1150" dirty="0"/>
          </a:p>
        </p:txBody>
      </p:sp>
      <p:sp>
        <p:nvSpPr>
          <p:cNvPr id="56" name="Shape 53"/>
          <p:cNvSpPr/>
          <p:nvPr/>
        </p:nvSpPr>
        <p:spPr>
          <a:xfrm>
            <a:off x="2926080" y="3803904"/>
            <a:ext cx="13716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999232" y="3803904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1150" dirty="0"/>
          </a:p>
        </p:txBody>
      </p:sp>
      <p:sp>
        <p:nvSpPr>
          <p:cNvPr id="58" name="Shape 55"/>
          <p:cNvSpPr/>
          <p:nvPr/>
        </p:nvSpPr>
        <p:spPr>
          <a:xfrm>
            <a:off x="4297680" y="3803904"/>
            <a:ext cx="22860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370832" y="3803904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x t3.large + ALB</a:t>
            </a:r>
            <a:endParaRPr lang="en-US" sz="1150" dirty="0"/>
          </a:p>
        </p:txBody>
      </p:sp>
      <p:sp>
        <p:nvSpPr>
          <p:cNvPr id="60" name="Shape 57"/>
          <p:cNvSpPr/>
          <p:nvPr/>
        </p:nvSpPr>
        <p:spPr>
          <a:xfrm>
            <a:off x="6583680" y="3803904"/>
            <a:ext cx="21031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656832" y="380390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$521–$666</a:t>
            </a:r>
            <a:endParaRPr lang="en-US" sz="1150" dirty="0"/>
          </a:p>
        </p:txBody>
      </p:sp>
      <p:sp>
        <p:nvSpPr>
          <p:cNvPr id="62" name="Shape 59"/>
          <p:cNvSpPr/>
          <p:nvPr/>
        </p:nvSpPr>
        <p:spPr>
          <a:xfrm>
            <a:off x="8686800" y="3803904"/>
            <a:ext cx="1947672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759952" y="3803904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45,844–58,604</a:t>
            </a:r>
            <a:endParaRPr lang="en-US" sz="1150" dirty="0"/>
          </a:p>
        </p:txBody>
      </p:sp>
      <p:sp>
        <p:nvSpPr>
          <p:cNvPr id="64" name="Shape 61"/>
          <p:cNvSpPr/>
          <p:nvPr/>
        </p:nvSpPr>
        <p:spPr>
          <a:xfrm>
            <a:off x="10634472" y="3803904"/>
            <a:ext cx="9144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0707624" y="3803904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$0.27</a:t>
            </a:r>
            <a:endParaRPr lang="en-US" sz="1150" dirty="0"/>
          </a:p>
        </p:txBody>
      </p:sp>
      <p:sp>
        <p:nvSpPr>
          <p:cNvPr id="66" name="Shape 63"/>
          <p:cNvSpPr/>
          <p:nvPr/>
        </p:nvSpPr>
        <p:spPr>
          <a:xfrm>
            <a:off x="640080" y="4261104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13232" y="4261104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Scale</a:t>
            </a:r>
            <a:endParaRPr lang="en-US" sz="1150" dirty="0"/>
          </a:p>
        </p:txBody>
      </p:sp>
      <p:sp>
        <p:nvSpPr>
          <p:cNvPr id="68" name="Shape 65"/>
          <p:cNvSpPr/>
          <p:nvPr/>
        </p:nvSpPr>
        <p:spPr>
          <a:xfrm>
            <a:off x="2926080" y="4261104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999232" y="4261104"/>
            <a:ext cx="1225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150" dirty="0"/>
          </a:p>
        </p:txBody>
      </p:sp>
      <p:sp>
        <p:nvSpPr>
          <p:cNvPr id="70" name="Shape 67"/>
          <p:cNvSpPr/>
          <p:nvPr/>
        </p:nvSpPr>
        <p:spPr>
          <a:xfrm>
            <a:off x="4297680" y="4261104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370832" y="4261104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x t3.xlarge + ALB</a:t>
            </a:r>
            <a:endParaRPr lang="en-US" sz="1150" dirty="0"/>
          </a:p>
        </p:txBody>
      </p:sp>
      <p:sp>
        <p:nvSpPr>
          <p:cNvPr id="72" name="Shape 69"/>
          <p:cNvSpPr/>
          <p:nvPr/>
        </p:nvSpPr>
        <p:spPr>
          <a:xfrm>
            <a:off x="6583680" y="4261104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656832" y="4261104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$1,136–$1,406</a:t>
            </a:r>
            <a:endParaRPr lang="en-US" sz="1150" dirty="0"/>
          </a:p>
        </p:txBody>
      </p:sp>
      <p:sp>
        <p:nvSpPr>
          <p:cNvPr id="74" name="Shape 71"/>
          <p:cNvSpPr/>
          <p:nvPr/>
        </p:nvSpPr>
        <p:spPr>
          <a:xfrm>
            <a:off x="8686800" y="4261104"/>
            <a:ext cx="194767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759952" y="4261104"/>
            <a:ext cx="180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99,967–1,23,727</a:t>
            </a:r>
            <a:endParaRPr lang="en-US" sz="1150" dirty="0"/>
          </a:p>
        </p:txBody>
      </p:sp>
      <p:sp>
        <p:nvSpPr>
          <p:cNvPr id="76" name="Shape 73"/>
          <p:cNvSpPr/>
          <p:nvPr/>
        </p:nvSpPr>
        <p:spPr>
          <a:xfrm>
            <a:off x="10634472" y="4261104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0707624" y="4261104"/>
            <a:ext cx="768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$0.28</a:t>
            </a:r>
            <a:endParaRPr lang="en-US" sz="1150" dirty="0"/>
          </a:p>
        </p:txBody>
      </p:sp>
      <p:sp>
        <p:nvSpPr>
          <p:cNvPr id="78" name="Shape 75"/>
          <p:cNvSpPr/>
          <p:nvPr/>
        </p:nvSpPr>
        <p:spPr>
          <a:xfrm>
            <a:off x="640080" y="4800600"/>
            <a:ext cx="10908792" cy="1097280"/>
          </a:xfrm>
          <a:prstGeom prst="roundRect">
            <a:avLst>
              <a:gd name="adj" fmla="val 7500"/>
            </a:avLst>
          </a:prstGeom>
          <a:solidFill>
            <a:srgbClr val="0E2136"/>
          </a:solidFill>
          <a:ln w="12700">
            <a:solidFill>
              <a:srgbClr val="0E213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136">
                <a:alpha val="10000"/>
              </a:srgbClr>
            </a:outerShdw>
          </a:effectLst>
        </p:spPr>
      </p:sp>
      <p:sp>
        <p:nvSpPr>
          <p:cNvPr id="79" name="Text 76"/>
          <p:cNvSpPr/>
          <p:nvPr/>
        </p:nvSpPr>
        <p:spPr>
          <a:xfrm>
            <a:off x="960120" y="4983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student falls fast, then flattens at about a quarter of a dollar.</a:t>
            </a:r>
            <a:endParaRPr lang="en-US" sz="1500" dirty="0"/>
          </a:p>
        </p:txBody>
      </p:sp>
      <p:sp>
        <p:nvSpPr>
          <p:cNvPr id="80" name="Text 77"/>
          <p:cNvSpPr/>
          <p:nvPr/>
        </p:nvSpPr>
        <p:spPr>
          <a:xfrm>
            <a:off x="960120" y="529437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7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server, a database and a domain cost the same whether ten people use them or five hundred. That fixed base is why a pilot looks costly per head.</a:t>
            </a:r>
            <a:endParaRPr lang="en-US" sz="1200" dirty="0"/>
          </a:p>
        </p:txBody>
      </p:sp>
      <p:sp>
        <p:nvSpPr>
          <p:cNvPr id="81" name="Text 78"/>
          <p:cNvSpPr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 ·  Cost Overview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10972800" y="635508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MAART-INSTITUE-USERDASHBOARD/My Project Document/assets/smaart-logo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384048"/>
            <a:ext cx="1143000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pay today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572768"/>
            <a:ext cx="2578608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136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9536" y="1755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59536" y="21762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per month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59536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t3.medium, 40 GiB, Elastic IP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38144" y="1572768"/>
            <a:ext cx="2578608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136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0" y="1755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$68–$109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3657600" y="21762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65760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Atlas, Cloudinary, AI, email, domain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36208" y="1572768"/>
            <a:ext cx="2578608" cy="1508760"/>
          </a:xfrm>
          <a:prstGeom prst="roundRect">
            <a:avLst>
              <a:gd name="adj" fmla="val 5455"/>
            </a:avLst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  <a:effectLst>
            <a:outerShdw sx="100000" sy="100000" kx="0" ky="0" algn="bl" rotWithShape="0" blurRad="127000" dist="25400" dir="5400000">
              <a:srgbClr val="0E2136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55664" y="1755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$115–$156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455664" y="21762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5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 month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55664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6D2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10,134 – 13,742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034272" y="1572768"/>
            <a:ext cx="2578608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136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253728" y="17556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$1,382–$1,874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9253728" y="21762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 year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253728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1,21,609 – 1,64,905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0080" y="3310128"/>
            <a:ext cx="539496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136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32688" y="3520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buys a complete production platform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32688" y="3913632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applications, live on HTTPS with renewing certificates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database with automated backups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builds and a one-click, health-checked deploy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rollback if a release is unhealthy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delivery, transactional email and AI features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355080" y="3310128"/>
            <a:ext cx="5193792" cy="2560320"/>
          </a:xfrm>
          <a:prstGeom prst="roundRect">
            <a:avLst>
              <a:gd name="adj" fmla="val 3214"/>
            </a:avLst>
          </a:prstGeom>
          <a:solidFill>
            <a:srgbClr val="EEF2FB"/>
          </a:solidFill>
          <a:ln w="12700">
            <a:solidFill>
              <a:srgbClr val="D3D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E2136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647688" y="3520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 at this size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647688" y="3913632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 carries both applications comfortably to about 500 registered students.</a:t>
            </a: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endParaRPr lang="en-US" sz="12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thing to feel pressure is memory during assessment windows, not processor. That is what triggers the move to a larger instance, and it is a ten-minute change.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 ·  Cost Overview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972800" y="635508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MAART-INSTITUE-USERDASHBOARD/My Project Document/assets/smaart-logo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384048"/>
            <a:ext cx="1143000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actually goes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48132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the bill changes as the platform grows. At small scale the server leads; at scale the database does.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2862072" cy="402336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2011680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group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502152" y="2011680"/>
            <a:ext cx="1463040" cy="402336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75304" y="201168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users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5192" y="2011680"/>
            <a:ext cx="1645920" cy="402336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38344" y="201168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11112" y="2011680"/>
            <a:ext cx="1645920" cy="402336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84264" y="201168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57032" y="2011680"/>
            <a:ext cx="1645920" cy="402336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30184" y="201168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902952" y="2011680"/>
            <a:ext cx="1645920" cy="402336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976104" y="201168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2414016"/>
            <a:ext cx="28620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2414016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compute and storage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502152" y="2414016"/>
            <a:ext cx="1463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75304" y="2414016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965192" y="2414016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38344" y="2414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611112" y="2414016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84264" y="2414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$83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257032" y="2414016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30184" y="2414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$219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902952" y="2414016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976104" y="241401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$398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" y="2816352"/>
            <a:ext cx="28620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281635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(MongoDB Atlas)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502152" y="2816352"/>
            <a:ext cx="14630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575304" y="2816352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965192" y="2816352"/>
            <a:ext cx="1645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38344" y="2816352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$60–80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611112" y="2816352"/>
            <a:ext cx="1645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84264" y="2816352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$60–80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257032" y="2816352"/>
            <a:ext cx="1645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330184" y="2816352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$150–190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9902952" y="2816352"/>
            <a:ext cx="1645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976104" y="2816352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$400–460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40080" y="3218688"/>
            <a:ext cx="28620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3232" y="3218688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(Cloudinary)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502152" y="3218688"/>
            <a:ext cx="1463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575304" y="3218688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4965192" y="3218688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038344" y="3218688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611112" y="3218688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684264" y="3218688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8257032" y="3218688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330184" y="3218688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9902952" y="3218688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976104" y="3218688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640080" y="3621024"/>
            <a:ext cx="28620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13232" y="3621024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usage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3502152" y="3621024"/>
            <a:ext cx="14630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575304" y="3621024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$0–1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4965192" y="3621024"/>
            <a:ext cx="1645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038344" y="3621024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$7–28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6611112" y="3621024"/>
            <a:ext cx="1645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684264" y="3621024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$14–56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8257032" y="3621024"/>
            <a:ext cx="1645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330184" y="3621024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$35–140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9902952" y="3621024"/>
            <a:ext cx="1645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976104" y="3621024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$70–280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640080" y="4023360"/>
            <a:ext cx="2862072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13232" y="4023360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and domain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3502152" y="4023360"/>
            <a:ext cx="1463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3575304" y="4023360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4965192" y="4023360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038344" y="402336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6611112" y="4023360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684264" y="402336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</a:t>
            </a:r>
            <a:endParaRPr lang="en-US" sz="1100" dirty="0"/>
          </a:p>
        </p:txBody>
      </p:sp>
      <p:sp>
        <p:nvSpPr>
          <p:cNvPr id="74" name="Shape 71"/>
          <p:cNvSpPr/>
          <p:nvPr/>
        </p:nvSpPr>
        <p:spPr>
          <a:xfrm>
            <a:off x="8257032" y="4023360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330184" y="402336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</a:t>
            </a:r>
            <a:endParaRPr lang="en-US" sz="1100" dirty="0"/>
          </a:p>
        </p:txBody>
      </p:sp>
      <p:sp>
        <p:nvSpPr>
          <p:cNvPr id="76" name="Shape 73"/>
          <p:cNvSpPr/>
          <p:nvPr/>
        </p:nvSpPr>
        <p:spPr>
          <a:xfrm>
            <a:off x="9902952" y="4023360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9976104" y="402336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640080" y="4425696"/>
            <a:ext cx="2862072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713232" y="4425696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Nginx, TLS</a:t>
            </a:r>
            <a:endParaRPr lang="en-US" sz="1100" dirty="0"/>
          </a:p>
        </p:txBody>
      </p:sp>
      <p:sp>
        <p:nvSpPr>
          <p:cNvPr id="80" name="Shape 77"/>
          <p:cNvSpPr/>
          <p:nvPr/>
        </p:nvSpPr>
        <p:spPr>
          <a:xfrm>
            <a:off x="3502152" y="4425696"/>
            <a:ext cx="14630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3575304" y="4425696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82" name="Shape 79"/>
          <p:cNvSpPr/>
          <p:nvPr/>
        </p:nvSpPr>
        <p:spPr>
          <a:xfrm>
            <a:off x="4965192" y="4425696"/>
            <a:ext cx="1645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5038344" y="442569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84" name="Shape 81"/>
          <p:cNvSpPr/>
          <p:nvPr/>
        </p:nvSpPr>
        <p:spPr>
          <a:xfrm>
            <a:off x="6611112" y="4425696"/>
            <a:ext cx="1645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6684264" y="442569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86" name="Shape 83"/>
          <p:cNvSpPr/>
          <p:nvPr/>
        </p:nvSpPr>
        <p:spPr>
          <a:xfrm>
            <a:off x="8257032" y="4425696"/>
            <a:ext cx="1645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8330184" y="442569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9902952" y="4425696"/>
            <a:ext cx="164592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9976104" y="442569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00" dirty="0"/>
          </a:p>
        </p:txBody>
      </p:sp>
      <p:sp>
        <p:nvSpPr>
          <p:cNvPr id="90" name="Shape 87"/>
          <p:cNvSpPr/>
          <p:nvPr/>
        </p:nvSpPr>
        <p:spPr>
          <a:xfrm>
            <a:off x="640080" y="4828032"/>
            <a:ext cx="2862072" cy="402336"/>
          </a:xfrm>
          <a:prstGeom prst="rect">
            <a:avLst/>
          </a:prstGeom>
          <a:solidFill>
            <a:srgbClr val="EEF2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713232" y="4828032"/>
            <a:ext cx="2715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 month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3502152" y="4828032"/>
            <a:ext cx="1463040" cy="402336"/>
          </a:xfrm>
          <a:prstGeom prst="rect">
            <a:avLst/>
          </a:prstGeom>
          <a:solidFill>
            <a:srgbClr val="EEF2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3575304" y="4828032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$27–$27</a:t>
            </a:r>
            <a:endParaRPr lang="en-US" sz="1100" dirty="0"/>
          </a:p>
        </p:txBody>
      </p:sp>
      <p:sp>
        <p:nvSpPr>
          <p:cNvPr id="94" name="Shape 91"/>
          <p:cNvSpPr/>
          <p:nvPr/>
        </p:nvSpPr>
        <p:spPr>
          <a:xfrm>
            <a:off x="4965192" y="4828032"/>
            <a:ext cx="1645920" cy="402336"/>
          </a:xfrm>
          <a:prstGeom prst="rect">
            <a:avLst/>
          </a:prstGeom>
          <a:solidFill>
            <a:srgbClr val="EEF2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038344" y="4828032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$115–$156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6611112" y="4828032"/>
            <a:ext cx="1645920" cy="402336"/>
          </a:xfrm>
          <a:prstGeom prst="rect">
            <a:avLst/>
          </a:prstGeom>
          <a:solidFill>
            <a:srgbClr val="EEF2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6684264" y="4828032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$273–$335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8257032" y="4828032"/>
            <a:ext cx="1645920" cy="402336"/>
          </a:xfrm>
          <a:prstGeom prst="rect">
            <a:avLst/>
          </a:prstGeom>
          <a:solidFill>
            <a:srgbClr val="EEF2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8330184" y="4828032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$521–$666</a:t>
            </a:r>
            <a:endParaRPr lang="en-US" sz="1100" dirty="0"/>
          </a:p>
        </p:txBody>
      </p:sp>
      <p:sp>
        <p:nvSpPr>
          <p:cNvPr id="100" name="Shape 97"/>
          <p:cNvSpPr/>
          <p:nvPr/>
        </p:nvSpPr>
        <p:spPr>
          <a:xfrm>
            <a:off x="9902952" y="4828032"/>
            <a:ext cx="1645920" cy="402336"/>
          </a:xfrm>
          <a:prstGeom prst="rect">
            <a:avLst/>
          </a:prstGeom>
          <a:solidFill>
            <a:srgbClr val="EEF2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9976104" y="4828032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$1,136–$1,406</a:t>
            </a:r>
            <a:endParaRPr lang="en-US" sz="1100" dirty="0"/>
          </a:p>
        </p:txBody>
      </p:sp>
      <p:sp>
        <p:nvSpPr>
          <p:cNvPr id="102" name="Shape 99"/>
          <p:cNvSpPr/>
          <p:nvPr/>
        </p:nvSpPr>
        <p:spPr>
          <a:xfrm>
            <a:off x="640080" y="530352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0E2136"/>
          </a:solidFill>
          <a:ln w="12700">
            <a:solidFill>
              <a:srgbClr val="0E213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136">
                <a:alpha val="10000"/>
              </a:srgbClr>
            </a:outerShdw>
          </a:effectLst>
        </p:spPr>
      </p:sp>
      <p:sp>
        <p:nvSpPr>
          <p:cNvPr id="103" name="Text 100"/>
          <p:cNvSpPr/>
          <p:nvPr/>
        </p:nvSpPr>
        <p:spPr>
          <a:xfrm>
            <a:off x="960120" y="53035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5,000 students the database is a third of the bill — more than all AWS compute. Tune the database first.</a:t>
            </a:r>
            <a:endParaRPr lang="en-US" sz="1400" dirty="0"/>
          </a:p>
        </p:txBody>
      </p:sp>
      <p:sp>
        <p:nvSpPr>
          <p:cNvPr id="104" name="Text 101"/>
          <p:cNvSpPr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 ·  Cost Overview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10972800" y="635508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MAART-INSTITUE-USERDASHBOARD/My Project Document/assets/smaart-logo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384048"/>
            <a:ext cx="1143000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what drives the bill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48132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cluster tier is chosen by memory, not by user count. The working set — the indexes and documents actively being read — should fit in RAM.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914400" cy="402336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2011680"/>
            <a:ext cx="768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554480" y="2011680"/>
            <a:ext cx="1097280" cy="402336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27632" y="2011680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51760" y="2011680"/>
            <a:ext cx="2194560" cy="402336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24912" y="2011680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46320" y="2011680"/>
            <a:ext cx="1645920" cy="402336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19472" y="2011680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2414016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2414016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554480" y="2414016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27632" y="2414016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651760" y="2414016"/>
            <a:ext cx="2194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24912" y="2414016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and development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2414016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19472" y="2414016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2834640"/>
            <a:ext cx="9144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2834640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554480" y="2834640"/>
            <a:ext cx="10972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627632" y="2834640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651760" y="2834640"/>
            <a:ext cx="219456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24912" y="283464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pilot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846320" y="2834640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919472" y="2834640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$9–12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" y="3255264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3255264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554480" y="3255264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627632" y="3255264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GiB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651760" y="3255264"/>
            <a:ext cx="2194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724912" y="3255264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~1,000 students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846320" y="3255264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19472" y="3255264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$60–80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40080" y="3675888"/>
            <a:ext cx="9144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13232" y="3675888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M20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1554480" y="3675888"/>
            <a:ext cx="109728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627632" y="367588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GiB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2651760" y="3675888"/>
            <a:ext cx="219456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724912" y="3675888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1,000–3,000 students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846320" y="367588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919472" y="3675888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$150–190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40080" y="4096512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13232" y="4096512"/>
            <a:ext cx="7680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M30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1554480" y="4096512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627632" y="4096512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GiB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2651760" y="4096512"/>
            <a:ext cx="21945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724912" y="4096512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3,000–6,000 students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4846320" y="4096512"/>
            <a:ext cx="1645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919472" y="4096512"/>
            <a:ext cx="14996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$400–460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6720840" y="2011680"/>
            <a:ext cx="4828032" cy="2487168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136">
                <a:alpha val="10000"/>
              </a:srgbClr>
            </a:outerShdw>
          </a:effectLst>
        </p:spPr>
      </p:sp>
      <p:sp>
        <p:nvSpPr>
          <p:cNvPr id="55" name="Text 52"/>
          <p:cNvSpPr/>
          <p:nvPr/>
        </p:nvSpPr>
        <p:spPr>
          <a:xfrm>
            <a:off x="7013448" y="22128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collections that grow</a:t>
            </a:r>
            <a:endParaRPr lang="en-US" sz="1500" dirty="0"/>
          </a:p>
        </p:txBody>
      </p:sp>
      <p:sp>
        <p:nvSpPr>
          <p:cNvPr id="56" name="Text 53"/>
          <p:cNvSpPr/>
          <p:nvPr/>
        </p:nvSpPr>
        <p:spPr>
          <a:xfrm>
            <a:off x="7013448" y="2578608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attempts and results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Proctoring sessions and events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enrolments and per-step progress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and activity logs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640080" y="461772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EEF2FB"/>
          </a:solidFill>
          <a:ln w="12700">
            <a:solidFill>
              <a:srgbClr val="D3D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E2136">
                <a:alpha val="10000"/>
              </a:srgbClr>
            </a:outerShdw>
          </a:effectLst>
        </p:spPr>
      </p:sp>
      <p:sp>
        <p:nvSpPr>
          <p:cNvPr id="58" name="Text 55"/>
          <p:cNvSpPr/>
          <p:nvPr/>
        </p:nvSpPr>
        <p:spPr>
          <a:xfrm>
            <a:off x="932688" y="4800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that keep this line down</a:t>
            </a:r>
            <a:endParaRPr lang="en-US" sz="1500" dirty="0"/>
          </a:p>
        </p:txBody>
      </p:sp>
      <p:sp>
        <p:nvSpPr>
          <p:cNvPr id="59" name="Text 56"/>
          <p:cNvSpPr/>
          <p:nvPr/>
        </p:nvSpPr>
        <p:spPr>
          <a:xfrm>
            <a:off x="932688" y="51389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Archive, don't accumulate</a:t>
            </a:r>
            <a:endParaRPr lang="en-US" sz="1250" dirty="0"/>
          </a:p>
        </p:txBody>
      </p:sp>
      <p:sp>
        <p:nvSpPr>
          <p:cNvPr id="60" name="Text 57"/>
          <p:cNvSpPr/>
          <p:nvPr/>
        </p:nvSpPr>
        <p:spPr>
          <a:xfrm>
            <a:off x="932688" y="5394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and proctoring events older than a window belong in cold storage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4453128" y="51389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deliberately</a:t>
            </a:r>
            <a:endParaRPr lang="en-US" sz="1250" dirty="0"/>
          </a:p>
        </p:txBody>
      </p:sp>
      <p:sp>
        <p:nvSpPr>
          <p:cNvPr id="62" name="Text 59"/>
          <p:cNvSpPr/>
          <p:nvPr/>
        </p:nvSpPr>
        <p:spPr>
          <a:xfrm>
            <a:off x="4453128" y="5394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index looks like a memory problem; a bigger cluster is the expensive fix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7973568" y="51389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files out of the database</a:t>
            </a:r>
            <a:endParaRPr lang="en-US" sz="1250" dirty="0"/>
          </a:p>
        </p:txBody>
      </p:sp>
      <p:sp>
        <p:nvSpPr>
          <p:cNvPr id="64" name="Text 61"/>
          <p:cNvSpPr/>
          <p:nvPr/>
        </p:nvSpPr>
        <p:spPr>
          <a:xfrm>
            <a:off x="7973568" y="5394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in Cloudinary, documents on the volume — as it already works</a:t>
            </a:r>
            <a:endParaRPr lang="en-US" sz="1050" dirty="0"/>
          </a:p>
        </p:txBody>
      </p:sp>
      <p:sp>
        <p:nvSpPr>
          <p:cNvPr id="65" name="Text 62"/>
          <p:cNvSpPr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 ·  Cost Overview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10972800" y="635508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MAART-INSTITUE-USERDASHBOARD/My Project Document/assets/smaart-logo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384048"/>
            <a:ext cx="1143000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costs nothing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48132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stating plainly, because it is the most common budgeting question about this stack.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4023360" cy="402336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2011680"/>
            <a:ext cx="3877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2011680"/>
            <a:ext cx="3657600" cy="402336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36592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321040" y="2011680"/>
            <a:ext cx="3227832" cy="402336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94192" y="2011680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2414016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2414016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 and Compose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63440" y="2414016"/>
            <a:ext cx="3657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36592" y="2414016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2.0, open source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321040" y="2414016"/>
            <a:ext cx="322783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94192" y="2414016"/>
            <a:ext cx="3081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this runs production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40080" y="2834640"/>
            <a:ext cx="402336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2834640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images (Nginx, Node, Certbot)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663440" y="2834640"/>
            <a:ext cx="36576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36592" y="2834640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321040" y="2834640"/>
            <a:ext cx="3227832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94192" y="2834640"/>
            <a:ext cx="3081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0080" y="3255264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" y="3255264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Container Registry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4663440" y="3255264"/>
            <a:ext cx="3657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36592" y="3255264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with the GitHub plan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321040" y="3255264"/>
            <a:ext cx="322783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94192" y="3255264"/>
            <a:ext cx="3081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at this volume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40080" y="3675888"/>
            <a:ext cx="402336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3675888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edge proxy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663440" y="3675888"/>
            <a:ext cx="36576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36592" y="3675888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BSD-style, open source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321040" y="3675888"/>
            <a:ext cx="3227832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94192" y="3675888"/>
            <a:ext cx="3081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40080" y="4096512"/>
            <a:ext cx="4023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13232" y="4096512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Encrypt certificates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4663440" y="4096512"/>
            <a:ext cx="3657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736592" y="4096512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certificate authority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8321040" y="4096512"/>
            <a:ext cx="322783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394192" y="4096512"/>
            <a:ext cx="3081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640080" y="4517136"/>
            <a:ext cx="402336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3232" y="4517136"/>
            <a:ext cx="3877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4663440" y="4517136"/>
            <a:ext cx="36576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736592" y="4517136"/>
            <a:ext cx="3511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— images go to GHCR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8321040" y="4517136"/>
            <a:ext cx="3227832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394192" y="4517136"/>
            <a:ext cx="3081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640080" y="4892040"/>
            <a:ext cx="10908792" cy="1143000"/>
          </a:xfrm>
          <a:prstGeom prst="roundRect">
            <a:avLst>
              <a:gd name="adj" fmla="val 7200"/>
            </a:avLst>
          </a:prstGeom>
          <a:solidFill>
            <a:srgbClr val="0E2136"/>
          </a:solidFill>
          <a:ln w="12700">
            <a:solidFill>
              <a:srgbClr val="0E2136"/>
            </a:solidFill>
            <a:prstDash val="solid"/>
          </a:ln>
          <a:effectLst>
            <a:outerShdw sx="100000" sy="100000" kx="0" ky="0" algn="bl" rotWithShape="0" blurRad="127000" dist="25400" dir="5400000">
              <a:srgbClr val="0E2136">
                <a:alpha val="10000"/>
              </a:srgbClr>
            </a:outerShdw>
          </a:effectLst>
        </p:spPr>
      </p:sp>
      <p:sp>
        <p:nvSpPr>
          <p:cNvPr id="49" name="Text 46"/>
          <p:cNvSpPr/>
          <p:nvPr/>
        </p:nvSpPr>
        <p:spPr>
          <a:xfrm>
            <a:off x="960120" y="5074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Docker line that could ever appear</a:t>
            </a:r>
            <a:endParaRPr lang="en-US" sz="1500" dirty="0"/>
          </a:p>
        </p:txBody>
      </p:sp>
      <p:sp>
        <p:nvSpPr>
          <p:cNvPr id="50" name="Text 47"/>
          <p:cNvSpPr/>
          <p:nvPr/>
        </p:nvSpPr>
        <p:spPr>
          <a:xfrm>
            <a:off x="960120" y="5394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7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on developer laptops is free below 250 employees and $10M revenue. Past that threshold it is $9–$24 per developer per month. Production uses Docker Engine, which is free at any company size.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 ·  Cost Overview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0972800" y="635508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MAART-INSTITUE-USERDASHBOARD/My Project Document/assets/smaart-logo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384048"/>
            <a:ext cx="1143000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savings are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627632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136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901952"/>
            <a:ext cx="457200" cy="457200"/>
          </a:xfrm>
          <a:prstGeom prst="ellipse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17647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One-year Compute Savings Plan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20756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30% off EC2 — $942 a year at 5,000 users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36792" y="1627632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136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11112" y="1901952"/>
            <a:ext cx="457200" cy="457200"/>
          </a:xfrm>
          <a:prstGeom prst="ellipse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11112" y="1901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205472" y="17647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Graviton (t4g) instances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05472" y="20756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20% over t3 for the same memory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2798064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136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14400" y="3072384"/>
            <a:ext cx="457200" cy="457200"/>
          </a:xfrm>
          <a:prstGeom prst="ellipse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508760" y="29352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for the proctoring assets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508760" y="3246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the largest egress item and speeds up first load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336792" y="2798064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136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611112" y="3072384"/>
            <a:ext cx="457200" cy="457200"/>
          </a:xfrm>
          <a:prstGeom prst="ellipse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11112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205472" y="29352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logs and proctoring events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205472" y="3246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Defers an Atlas upgrade worth $90–$270 a month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40080" y="3968496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136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14400" y="4242816"/>
            <a:ext cx="457200" cy="457200"/>
          </a:xfrm>
          <a:prstGeom prst="ellipse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508760" y="41056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Atlas on measured memory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508760" y="44165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tier is $90–$270 a month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336792" y="3968496"/>
            <a:ext cx="544068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E2136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611112" y="4242816"/>
            <a:ext cx="457200" cy="457200"/>
          </a:xfrm>
          <a:prstGeom prst="ellipse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11112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205472" y="41056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AI spend per user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205472" y="441655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the most volatile line in the budget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40080" y="5120640"/>
            <a:ext cx="3227832" cy="329184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13232" y="5120640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867912" y="5120640"/>
            <a:ext cx="2560320" cy="329184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941064" y="5120640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428232" y="5120640"/>
            <a:ext cx="2560320" cy="329184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01384" y="5120640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1-year plan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988552" y="5120640"/>
            <a:ext cx="2560320" cy="329184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061704" y="5120640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year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40080" y="5449824"/>
            <a:ext cx="322783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13232" y="5449824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500 users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3867912" y="5449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941064" y="5449824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$115–$156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428232" y="5449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501384" y="5449824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$105–$146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8988552" y="5449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061704" y="5449824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$118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640080" y="5779008"/>
            <a:ext cx="3227832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13232" y="5779008"/>
            <a:ext cx="3081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5,000 users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3867912" y="5779008"/>
            <a:ext cx="25603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941064" y="577900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$1,136–$1,406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6428232" y="5779008"/>
            <a:ext cx="25603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501384" y="577900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$1,058–$1,328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8988552" y="5779008"/>
            <a:ext cx="256032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061704" y="5779008"/>
            <a:ext cx="2414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$942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 ·  Cost Overview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10972800" y="635508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MAART-INSTITUE-USERDASHBOARD/My Project Document/assets/smaart-logo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4472" y="384048"/>
            <a:ext cx="1143000" cy="2926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65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640080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make this wrong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48132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estimate that does not say how it could be wrong is not worth much. These move the total most, in order.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3840480" cy="402336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2011680"/>
            <a:ext cx="3694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80560" y="2011680"/>
            <a:ext cx="3410712" cy="402336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53712" y="2011680"/>
            <a:ext cx="3264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if wrong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891272" y="2011680"/>
            <a:ext cx="3657600" cy="402336"/>
          </a:xfrm>
          <a:prstGeom prst="rect">
            <a:avLst/>
          </a:prstGeom>
          <a:solidFill>
            <a:srgbClr val="1A3884"/>
          </a:solidFill>
          <a:ln w="12700">
            <a:solidFill>
              <a:srgbClr val="1A38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64424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find out early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2414016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2414016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far heavier than assumed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80560" y="2414016"/>
            <a:ext cx="34107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53712" y="2414016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widest range in the model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891272" y="2414016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64424" y="2414016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spend per active user; set a cap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2980944"/>
            <a:ext cx="38404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2980944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served from the platform, not a CDN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480560" y="2980944"/>
            <a:ext cx="3410712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53712" y="2980944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could rise several-fold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891272" y="2980944"/>
            <a:ext cx="36576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64424" y="2980944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every video path goes via Cloudinary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" y="3547872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" y="3547872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set outgrows the cluster early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480560" y="3547872"/>
            <a:ext cx="34107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53712" y="3547872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tier upgrade is $90–$270 a month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891272" y="3547872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64424" y="3547872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Atlas memory metrics, not user count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" y="4114800"/>
            <a:ext cx="38404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4114800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much higher than 70% monthly active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480560" y="4114800"/>
            <a:ext cx="3410712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53712" y="4114800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egress and AI all rise together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891272" y="4114800"/>
            <a:ext cx="36576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64424" y="4114800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active against registered from cohort one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40080" y="4681728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13232" y="4681728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staging environment is added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480560" y="4681728"/>
            <a:ext cx="341071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53712" y="4681728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 of a production tier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891272" y="4681728"/>
            <a:ext cx="3657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964424" y="4681728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deliberately; schedule it off overnight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40080" y="5394960"/>
            <a:ext cx="10908792" cy="777240"/>
          </a:xfrm>
          <a:prstGeom prst="roundRect">
            <a:avLst>
              <a:gd name="adj" fmla="val 10588"/>
            </a:avLst>
          </a:prstGeom>
          <a:solidFill>
            <a:srgbClr val="EEF2FB"/>
          </a:solidFill>
          <a:ln w="12700">
            <a:solidFill>
              <a:srgbClr val="D3DEF3"/>
            </a:solidFill>
            <a:prstDash val="solid"/>
          </a:ln>
          <a:effectLst>
            <a:outerShdw sx="100000" sy="100000" kx="0" ky="0" algn="bl" rotWithShape="0" blurRad="127000" dist="25400" dir="5400000">
              <a:srgbClr val="0E2136">
                <a:alpha val="10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960120" y="5394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change the shape of the answer — only where in the range the bill lands. Add 15% contingency and the budget holds.</a:t>
            </a:r>
            <a:endParaRPr lang="en-US" sz="1350" dirty="0"/>
          </a:p>
        </p:txBody>
      </p:sp>
      <p:sp>
        <p:nvSpPr>
          <p:cNvPr id="44" name="Text 41"/>
          <p:cNvSpPr/>
          <p:nvPr/>
        </p:nvSpPr>
        <p:spPr>
          <a:xfrm>
            <a:off x="64008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SMAART Institute  ·  Cost Overview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0972800" y="6355080"/>
            <a:ext cx="576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MAART-INSTITUE-USERDASHBOARD/My Project Document/assets/smaart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2651760" cy="676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737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figure to budget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822960" y="2606040"/>
            <a:ext cx="2487168" cy="1965960"/>
          </a:xfrm>
          <a:prstGeom prst="roundRect">
            <a:avLst>
              <a:gd name="adj" fmla="val 4651"/>
            </a:avLst>
          </a:prstGeom>
          <a:solidFill>
            <a:srgbClr val="0021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60704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college, 500 students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060704" y="32918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$1,874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060704" y="3712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1,64,905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60704" y="4023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520440" y="2606040"/>
            <a:ext cx="2487168" cy="1965960"/>
          </a:xfrm>
          <a:prstGeom prst="roundRect">
            <a:avLst>
              <a:gd name="adj" fmla="val 4651"/>
            </a:avLst>
          </a:prstGeom>
          <a:solidFill>
            <a:srgbClr val="0021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58184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Growing, 1,000 students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758184" y="32918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$4,023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3758184" y="3712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3,54,024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758184" y="4023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17920" y="2606040"/>
            <a:ext cx="2487168" cy="1965960"/>
          </a:xfrm>
          <a:prstGeom prst="roundRect">
            <a:avLst>
              <a:gd name="adj" fmla="val 4651"/>
            </a:avLst>
          </a:prstGeom>
          <a:solidFill>
            <a:srgbClr val="0021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55664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Multi-college, 2,500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55664" y="32918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$7,991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6455664" y="3712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7,03,243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55664" y="4023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915400" y="2606040"/>
            <a:ext cx="2487168" cy="1965960"/>
          </a:xfrm>
          <a:prstGeom prst="roundRect">
            <a:avLst>
              <a:gd name="adj" fmla="val 4651"/>
            </a:avLst>
          </a:prstGeom>
          <a:solidFill>
            <a:srgbClr val="00214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53144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scale, 5,000 students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153144" y="32918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$16,872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9153144" y="3712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 14,84,725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153144" y="4023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15% contingency. Excludes salaries — one engineer costs more per month than the entire platform at 5,000 students.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working, rate card and line-by-line detail: Costing.docx in My Project Document.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SMAART Institute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SMAART Institute — Cost Overview</dc:title>
  <dc:subject>PptxGenJS Presentation</dc:subject>
  <dc:creator>SMAART Institute</dc:creator>
  <cp:lastModifiedBy>SMAART Institute</cp:lastModifiedBy>
  <cp:revision>1</cp:revision>
  <dcterms:created xsi:type="dcterms:W3CDTF">2026-08-24T05:49:47Z</dcterms:created>
  <dcterms:modified xsi:type="dcterms:W3CDTF">2026-08-24T05:49:47Z</dcterms:modified>
</cp:coreProperties>
</file>