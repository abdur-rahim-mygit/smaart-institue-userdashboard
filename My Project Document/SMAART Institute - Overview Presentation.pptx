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13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2136"/>
          </a:solidFill>
          <a:ln/>
        </p:spPr>
      </p:sp>
      <p:sp>
        <p:nvSpPr>
          <p:cNvPr id="3" name="Shape 1"/>
          <p:cNvSpPr/>
          <p:nvPr/>
        </p:nvSpPr>
        <p:spPr>
          <a:xfrm>
            <a:off x="6537960" y="1417320"/>
            <a:ext cx="5120640" cy="4023360"/>
          </a:xfrm>
          <a:prstGeom prst="roundRect">
            <a:avLst>
              <a:gd name="adj" fmla="val 2727"/>
            </a:avLst>
          </a:prstGeom>
          <a:solidFill>
            <a:srgbClr val="002147"/>
          </a:solidFill>
          <a:ln w="12700">
            <a:solidFill>
              <a:srgbClr val="1E3A5F"/>
            </a:solidFill>
            <a:prstDash val="solid"/>
          </a:ln>
        </p:spPr>
      </p:sp>
      <p:pic>
        <p:nvPicPr>
          <p:cNvPr id="4" name="Image 0" descr="/home/user/SMAART-INSTITUE-USERDASHBOARD/My Project Document/assets/smaart-logo-white.png">    </p:cNvPr>
          <p:cNvPicPr>
            <a:picLocks noChangeAspect="1"/>
          </p:cNvPicPr>
          <p:nvPr/>
        </p:nvPicPr>
        <p:blipFill>
          <a:blip r:embed="rId1"/>
          <a:stretch>
            <a:fillRect/>
          </a:stretch>
        </p:blipFill>
        <p:spPr>
          <a:xfrm>
            <a:off x="777240" y="1463040"/>
            <a:ext cx="3017520" cy="768096"/>
          </a:xfrm>
          <a:prstGeom prst="rect">
            <a:avLst/>
          </a:prstGeom>
        </p:spPr>
      </p:pic>
      <p:sp>
        <p:nvSpPr>
          <p:cNvPr id="5" name="Text 2"/>
          <p:cNvSpPr/>
          <p:nvPr/>
        </p:nvSpPr>
        <p:spPr>
          <a:xfrm>
            <a:off x="777240" y="2487168"/>
            <a:ext cx="5532120" cy="1417320"/>
          </a:xfrm>
          <a:prstGeom prst="rect">
            <a:avLst/>
          </a:prstGeom>
          <a:noFill/>
          <a:ln/>
        </p:spPr>
        <p:txBody>
          <a:bodyPr wrap="square" lIns="0" tIns="0" rIns="0" bIns="0" rtlCol="0" anchor="ctr"/>
          <a:lstStyle/>
          <a:p>
            <a:pPr indent="0" marL="0">
              <a:lnSpc>
                <a:spcPct val="112000"/>
              </a:lnSpc>
              <a:buNone/>
            </a:pPr>
            <a:r>
              <a:rPr lang="en-US" sz="3000" b="1" dirty="0">
                <a:solidFill>
                  <a:srgbClr val="FFFFFF"/>
                </a:solidFill>
                <a:latin typeface="Calibri" pitchFamily="34" charset="0"/>
                <a:ea typeface="Calibri" pitchFamily="34" charset="-122"/>
                <a:cs typeface="Calibri" pitchFamily="34" charset="-120"/>
              </a:rPr>
              <a:t>The phygital skilling, assessment and placement platform</a:t>
            </a:r>
            <a:endParaRPr lang="en-US" sz="3000" dirty="0"/>
          </a:p>
        </p:txBody>
      </p:sp>
      <p:sp>
        <p:nvSpPr>
          <p:cNvPr id="6" name="Text 3"/>
          <p:cNvSpPr/>
          <p:nvPr/>
        </p:nvSpPr>
        <p:spPr>
          <a:xfrm>
            <a:off x="777240" y="3977640"/>
            <a:ext cx="5212080" cy="1005840"/>
          </a:xfrm>
          <a:prstGeom prst="rect">
            <a:avLst/>
          </a:prstGeom>
          <a:noFill/>
          <a:ln/>
        </p:spPr>
        <p:txBody>
          <a:bodyPr wrap="square" lIns="0" tIns="0" rIns="0" bIns="0" rtlCol="0" anchor="ctr"/>
          <a:lstStyle/>
          <a:p>
            <a:pPr indent="0" marL="0">
              <a:lnSpc>
                <a:spcPct val="125000"/>
              </a:lnSpc>
              <a:buNone/>
            </a:pPr>
            <a:r>
              <a:rPr lang="en-US" sz="1400" dirty="0">
                <a:solidFill>
                  <a:srgbClr val="B7C4D6"/>
                </a:solidFill>
                <a:latin typeface="Calibri" pitchFamily="34" charset="0"/>
                <a:ea typeface="Calibri" pitchFamily="34" charset="-122"/>
                <a:cs typeface="Calibri" pitchFamily="34" charset="-120"/>
              </a:rPr>
              <a:t>One system that takes a student from first login to first job offer — and gives every college, coach and recruiter around them the same live picture.</a:t>
            </a:r>
            <a:endParaRPr lang="en-US" sz="1400" dirty="0"/>
          </a:p>
        </p:txBody>
      </p:sp>
      <p:sp>
        <p:nvSpPr>
          <p:cNvPr id="7" name="Text 4"/>
          <p:cNvSpPr/>
          <p:nvPr/>
        </p:nvSpPr>
        <p:spPr>
          <a:xfrm>
            <a:off x="777240" y="5120640"/>
            <a:ext cx="4572000" cy="274320"/>
          </a:xfrm>
          <a:prstGeom prst="rect">
            <a:avLst/>
          </a:prstGeom>
          <a:noFill/>
          <a:ln/>
        </p:spPr>
        <p:txBody>
          <a:bodyPr wrap="square" lIns="0" tIns="0" rIns="0" bIns="0" rtlCol="0" anchor="ctr"/>
          <a:lstStyle/>
          <a:p>
            <a:pPr indent="0" marL="0">
              <a:buNone/>
            </a:pPr>
            <a:r>
              <a:rPr lang="en-US" sz="1200" dirty="0">
                <a:solidFill>
                  <a:srgbClr val="8FA3BF"/>
                </a:solidFill>
                <a:latin typeface="Calibri" pitchFamily="34" charset="0"/>
                <a:ea typeface="Calibri" pitchFamily="34" charset="-122"/>
                <a:cs typeface="Calibri" pitchFamily="34" charset="-120"/>
              </a:rPr>
              <a:t>Presentation  ·  August 2026</a:t>
            </a:r>
            <a:endParaRPr lang="en-US" sz="1200" dirty="0"/>
          </a:p>
        </p:txBody>
      </p:sp>
      <p:sp>
        <p:nvSpPr>
          <p:cNvPr id="8" name="Text 5"/>
          <p:cNvSpPr/>
          <p:nvPr/>
        </p:nvSpPr>
        <p:spPr>
          <a:xfrm>
            <a:off x="6949440" y="1783080"/>
            <a:ext cx="4206240" cy="274320"/>
          </a:xfrm>
          <a:prstGeom prst="rect">
            <a:avLst/>
          </a:prstGeom>
          <a:noFill/>
          <a:ln/>
        </p:spPr>
        <p:txBody>
          <a:bodyPr wrap="square" lIns="0" tIns="0" rIns="0" bIns="0" rtlCol="0" anchor="ctr"/>
          <a:lstStyle/>
          <a:p>
            <a:pPr indent="0" marL="0">
              <a:buNone/>
            </a:pPr>
            <a:r>
              <a:rPr lang="en-US" sz="1100" b="1" spc="200" kern="0" dirty="0">
                <a:solidFill>
                  <a:srgbClr val="7FA0D8"/>
                </a:solidFill>
                <a:latin typeface="Calibri" pitchFamily="34" charset="0"/>
                <a:ea typeface="Calibri" pitchFamily="34" charset="-122"/>
                <a:cs typeface="Calibri" pitchFamily="34" charset="-120"/>
              </a:rPr>
              <a:t>AT A GLANCE</a:t>
            </a:r>
            <a:endParaRPr lang="en-US" sz="1100" dirty="0"/>
          </a:p>
        </p:txBody>
      </p:sp>
      <p:sp>
        <p:nvSpPr>
          <p:cNvPr id="9" name="Text 6"/>
          <p:cNvSpPr/>
          <p:nvPr/>
        </p:nvSpPr>
        <p:spPr>
          <a:xfrm>
            <a:off x="6949440" y="2286000"/>
            <a:ext cx="429768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Student dashboard</a:t>
            </a:r>
            <a:endParaRPr lang="en-US" sz="1100" dirty="0"/>
          </a:p>
        </p:txBody>
      </p:sp>
      <p:sp>
        <p:nvSpPr>
          <p:cNvPr id="10" name="Text 7"/>
          <p:cNvSpPr/>
          <p:nvPr/>
        </p:nvSpPr>
        <p:spPr>
          <a:xfrm>
            <a:off x="6949440" y="2523744"/>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smaartinstitute.com</a:t>
            </a:r>
            <a:endParaRPr lang="en-US" sz="1500" dirty="0"/>
          </a:p>
        </p:txBody>
      </p:sp>
      <p:sp>
        <p:nvSpPr>
          <p:cNvPr id="11" name="Text 8"/>
          <p:cNvSpPr/>
          <p:nvPr/>
        </p:nvSpPr>
        <p:spPr>
          <a:xfrm>
            <a:off x="6949440" y="3072384"/>
            <a:ext cx="429768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Admin panel</a:t>
            </a:r>
            <a:endParaRPr lang="en-US" sz="1100" dirty="0"/>
          </a:p>
        </p:txBody>
      </p:sp>
      <p:sp>
        <p:nvSpPr>
          <p:cNvPr id="12" name="Text 9"/>
          <p:cNvSpPr/>
          <p:nvPr/>
        </p:nvSpPr>
        <p:spPr>
          <a:xfrm>
            <a:off x="6949440" y="3310128"/>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admin.smaartinstitute.com</a:t>
            </a:r>
            <a:endParaRPr lang="en-US" sz="1500" dirty="0"/>
          </a:p>
        </p:txBody>
      </p:sp>
      <p:sp>
        <p:nvSpPr>
          <p:cNvPr id="13" name="Text 10"/>
          <p:cNvSpPr/>
          <p:nvPr/>
        </p:nvSpPr>
        <p:spPr>
          <a:xfrm>
            <a:off x="6949440" y="3858768"/>
            <a:ext cx="429768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Status</a:t>
            </a:r>
            <a:endParaRPr lang="en-US" sz="1100" dirty="0"/>
          </a:p>
        </p:txBody>
      </p:sp>
      <p:sp>
        <p:nvSpPr>
          <p:cNvPr id="14" name="Text 11"/>
          <p:cNvSpPr/>
          <p:nvPr/>
        </p:nvSpPr>
        <p:spPr>
          <a:xfrm>
            <a:off x="6949440" y="4096512"/>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Live in production since 22 Aug 2026</a:t>
            </a:r>
            <a:endParaRPr lang="en-US" sz="1500" dirty="0"/>
          </a:p>
        </p:txBody>
      </p:sp>
      <p:sp>
        <p:nvSpPr>
          <p:cNvPr id="15" name="Text 12"/>
          <p:cNvSpPr/>
          <p:nvPr/>
        </p:nvSpPr>
        <p:spPr>
          <a:xfrm>
            <a:off x="6949440" y="4645152"/>
            <a:ext cx="429768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Hosting</a:t>
            </a:r>
            <a:endParaRPr lang="en-US" sz="1100" dirty="0"/>
          </a:p>
        </p:txBody>
      </p:sp>
      <p:sp>
        <p:nvSpPr>
          <p:cNvPr id="16" name="Text 13"/>
          <p:cNvSpPr/>
          <p:nvPr/>
        </p:nvSpPr>
        <p:spPr>
          <a:xfrm>
            <a:off x="6949440" y="4882896"/>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AWS Mumbai  ·  Docker  ·  HTTPS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OVERVIEW</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What is SMAART Institute?</a:t>
            </a:r>
            <a:endParaRPr lang="en-US" sz="3200" dirty="0"/>
          </a:p>
        </p:txBody>
      </p:sp>
      <p:sp>
        <p:nvSpPr>
          <p:cNvPr id="5" name="Text 2"/>
          <p:cNvSpPr/>
          <p:nvPr/>
        </p:nvSpPr>
        <p:spPr>
          <a:xfrm>
            <a:off x="640080" y="1572768"/>
            <a:ext cx="5989320" cy="3566160"/>
          </a:xfrm>
          <a:prstGeom prst="rect">
            <a:avLst/>
          </a:prstGeom>
          <a:noFill/>
          <a:ln/>
        </p:spPr>
        <p:txBody>
          <a:bodyPr wrap="square" lIns="0" tIns="0" rIns="0" bIns="0" rtlCol="0" anchor="t"/>
          <a:lstStyle/>
          <a:p>
            <a:pPr algn="l" indent="0" marL="0">
              <a:lnSpc>
                <a:spcPct val="130000"/>
              </a:lnSpc>
              <a:buNone/>
            </a:pPr>
            <a:r>
              <a:rPr lang="en-US" sz="1400" dirty="0">
                <a:solidFill>
                  <a:srgbClr val="334155"/>
                </a:solidFill>
                <a:latin typeface="Calibri" pitchFamily="34" charset="0"/>
                <a:ea typeface="Calibri" pitchFamily="34" charset="-122"/>
                <a:cs typeface="Calibri" pitchFamily="34" charset="-120"/>
              </a:rPr>
              <a:t>SMAART Institute is a single web platform that a college, its students, its coaches and its hiring partners all work inside.</a:t>
            </a:r>
            <a:endParaRPr lang="en-US" sz="1400" dirty="0"/>
          </a:p>
          <a:p>
            <a:pPr algn="l" indent="0" marL="0">
              <a:lnSpc>
                <a:spcPct val="130000"/>
              </a:lnSpc>
              <a:buNone/>
            </a:pPr>
            <a:endParaRPr lang="en-US" sz="1400" dirty="0"/>
          </a:p>
          <a:p>
            <a:pPr algn="l" indent="0" marL="0">
              <a:lnSpc>
                <a:spcPct val="130000"/>
              </a:lnSpc>
              <a:buNone/>
            </a:pPr>
            <a:r>
              <a:rPr lang="en-US" sz="1400" dirty="0">
                <a:solidFill>
                  <a:srgbClr val="334155"/>
                </a:solidFill>
                <a:latin typeface="Calibri" pitchFamily="34" charset="0"/>
                <a:ea typeface="Calibri" pitchFamily="34" charset="-122"/>
                <a:cs typeface="Calibri" pitchFamily="34" charset="-120"/>
              </a:rPr>
              <a:t>A student registers once. The platform measures where they actually stand across seven human capability areas, puts them on a learning path built for that result, keeps them accountable while they work through it, and then carries the same verified profile into the placement process.</a:t>
            </a:r>
            <a:endParaRPr lang="en-US" sz="1400" dirty="0"/>
          </a:p>
          <a:p>
            <a:pPr algn="l" indent="0" marL="0">
              <a:lnSpc>
                <a:spcPct val="130000"/>
              </a:lnSpc>
              <a:buNone/>
            </a:pPr>
            <a:endParaRPr lang="en-US" sz="1400" dirty="0"/>
          </a:p>
          <a:p>
            <a:pPr algn="l" indent="0" marL="0">
              <a:lnSpc>
                <a:spcPct val="130000"/>
              </a:lnSpc>
              <a:buNone/>
            </a:pPr>
            <a:r>
              <a:rPr lang="en-US" sz="1400" dirty="0">
                <a:solidFill>
                  <a:srgbClr val="334155"/>
                </a:solidFill>
                <a:latin typeface="Calibri" pitchFamily="34" charset="0"/>
                <a:ea typeface="Calibri" pitchFamily="34" charset="-122"/>
                <a:cs typeface="Calibri" pitchFamily="34" charset="-120"/>
              </a:rPr>
              <a:t>"Phygital" means the classroom does not disappear. Coaching sessions, campus drives and job fairs stay physical — the platform runs the record, the assessment, the progress and the paperwork around them.</a:t>
            </a:r>
            <a:endParaRPr lang="en-US" sz="1400" dirty="0"/>
          </a:p>
        </p:txBody>
      </p:sp>
      <p:sp>
        <p:nvSpPr>
          <p:cNvPr id="6" name="Shape 3"/>
          <p:cNvSpPr/>
          <p:nvPr/>
        </p:nvSpPr>
        <p:spPr>
          <a:xfrm>
            <a:off x="6949440" y="1572768"/>
            <a:ext cx="4617720" cy="1188720"/>
          </a:xfrm>
          <a:prstGeom prst="roundRect">
            <a:avLst>
              <a:gd name="adj" fmla="val 6923"/>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Text 4"/>
          <p:cNvSpPr/>
          <p:nvPr/>
        </p:nvSpPr>
        <p:spPr>
          <a:xfrm>
            <a:off x="7178040" y="1700784"/>
            <a:ext cx="4206240" cy="274320"/>
          </a:xfrm>
          <a:prstGeom prst="rect">
            <a:avLst/>
          </a:prstGeom>
          <a:noFill/>
          <a:ln/>
        </p:spPr>
        <p:txBody>
          <a:bodyPr wrap="square" lIns="0" tIns="0" rIns="0" bIns="0" rtlCol="0" anchor="ctr"/>
          <a:lstStyle/>
          <a:p>
            <a:pPr indent="0" marL="0">
              <a:buNone/>
            </a:pPr>
            <a:r>
              <a:rPr lang="en-US" sz="1400" b="1" dirty="0">
                <a:solidFill>
                  <a:srgbClr val="1A3884"/>
                </a:solidFill>
                <a:latin typeface="Calibri" pitchFamily="34" charset="0"/>
                <a:ea typeface="Calibri" pitchFamily="34" charset="-122"/>
                <a:cs typeface="Calibri" pitchFamily="34" charset="-120"/>
              </a:rPr>
              <a:t>2 applications, 1 database</a:t>
            </a:r>
            <a:endParaRPr lang="en-US" sz="1400" dirty="0"/>
          </a:p>
        </p:txBody>
      </p:sp>
      <p:sp>
        <p:nvSpPr>
          <p:cNvPr id="8" name="Text 5"/>
          <p:cNvSpPr/>
          <p:nvPr/>
        </p:nvSpPr>
        <p:spPr>
          <a:xfrm>
            <a:off x="7178040" y="2029968"/>
            <a:ext cx="4160520" cy="594360"/>
          </a:xfrm>
          <a:prstGeom prst="rect">
            <a:avLst/>
          </a:prstGeom>
          <a:noFill/>
          <a:ln/>
        </p:spPr>
        <p:txBody>
          <a:bodyPr wrap="square" lIns="0" tIns="0" rIns="0" bIns="0" rtlCol="0" anchor="t"/>
          <a:lstStyle/>
          <a:p>
            <a:pPr algn="l" indent="0" marL="0">
              <a:lnSpc>
                <a:spcPct val="115000"/>
              </a:lnSpc>
              <a:buNone/>
            </a:pPr>
            <a:r>
              <a:rPr lang="en-US" sz="1100" dirty="0">
                <a:solidFill>
                  <a:srgbClr val="64748B"/>
                </a:solidFill>
                <a:latin typeface="Calibri" pitchFamily="34" charset="0"/>
                <a:ea typeface="Calibri" pitchFamily="34" charset="-122"/>
                <a:cs typeface="Calibri" pitchFamily="34" charset="-120"/>
              </a:rPr>
              <a:t>The student dashboard and the admin panel read and write the same MongoDB — no syncing, no duplicate records.</a:t>
            </a:r>
            <a:endParaRPr lang="en-US" sz="1100" dirty="0"/>
          </a:p>
        </p:txBody>
      </p:sp>
      <p:sp>
        <p:nvSpPr>
          <p:cNvPr id="9" name="Shape 6"/>
          <p:cNvSpPr/>
          <p:nvPr/>
        </p:nvSpPr>
        <p:spPr>
          <a:xfrm>
            <a:off x="6949440" y="2944368"/>
            <a:ext cx="4617720" cy="1188720"/>
          </a:xfrm>
          <a:prstGeom prst="roundRect">
            <a:avLst>
              <a:gd name="adj" fmla="val 6923"/>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0" name="Text 7"/>
          <p:cNvSpPr/>
          <p:nvPr/>
        </p:nvSpPr>
        <p:spPr>
          <a:xfrm>
            <a:off x="7178040" y="3072384"/>
            <a:ext cx="4206240" cy="274320"/>
          </a:xfrm>
          <a:prstGeom prst="rect">
            <a:avLst/>
          </a:prstGeom>
          <a:noFill/>
          <a:ln/>
        </p:spPr>
        <p:txBody>
          <a:bodyPr wrap="square" lIns="0" tIns="0" rIns="0" bIns="0" rtlCol="0" anchor="ctr"/>
          <a:lstStyle/>
          <a:p>
            <a:pPr indent="0" marL="0">
              <a:buNone/>
            </a:pPr>
            <a:r>
              <a:rPr lang="en-US" sz="1400" b="1" dirty="0">
                <a:solidFill>
                  <a:srgbClr val="1A3884"/>
                </a:solidFill>
                <a:latin typeface="Calibri" pitchFamily="34" charset="0"/>
                <a:ea typeface="Calibri" pitchFamily="34" charset="-122"/>
                <a:cs typeface="Calibri" pitchFamily="34" charset="-120"/>
              </a:rPr>
              <a:t>7 quotients, 4 assessment gates</a:t>
            </a:r>
            <a:endParaRPr lang="en-US" sz="1400" dirty="0"/>
          </a:p>
        </p:txBody>
      </p:sp>
      <p:sp>
        <p:nvSpPr>
          <p:cNvPr id="11" name="Text 8"/>
          <p:cNvSpPr/>
          <p:nvPr/>
        </p:nvSpPr>
        <p:spPr>
          <a:xfrm>
            <a:off x="7178040" y="3401568"/>
            <a:ext cx="4160520" cy="594360"/>
          </a:xfrm>
          <a:prstGeom prst="rect">
            <a:avLst/>
          </a:prstGeom>
          <a:noFill/>
          <a:ln/>
        </p:spPr>
        <p:txBody>
          <a:bodyPr wrap="square" lIns="0" tIns="0" rIns="0" bIns="0" rtlCol="0" anchor="t"/>
          <a:lstStyle/>
          <a:p>
            <a:pPr algn="l" indent="0" marL="0">
              <a:lnSpc>
                <a:spcPct val="115000"/>
              </a:lnSpc>
              <a:buNone/>
            </a:pPr>
            <a:r>
              <a:rPr lang="en-US" sz="1100" dirty="0">
                <a:solidFill>
                  <a:srgbClr val="64748B"/>
                </a:solidFill>
                <a:latin typeface="Calibri" pitchFamily="34" charset="0"/>
                <a:ea typeface="Calibri" pitchFamily="34" charset="-122"/>
                <a:cs typeface="Calibri" pitchFamily="34" charset="-120"/>
              </a:rPr>
              <a:t>Progress is earned. Each stage of the curriculum opens only when the gate assessment before it is cleared.</a:t>
            </a:r>
            <a:endParaRPr lang="en-US" sz="1100" dirty="0"/>
          </a:p>
        </p:txBody>
      </p:sp>
      <p:sp>
        <p:nvSpPr>
          <p:cNvPr id="12" name="Shape 9"/>
          <p:cNvSpPr/>
          <p:nvPr/>
        </p:nvSpPr>
        <p:spPr>
          <a:xfrm>
            <a:off x="6949440" y="4315968"/>
            <a:ext cx="4617720" cy="1188720"/>
          </a:xfrm>
          <a:prstGeom prst="roundRect">
            <a:avLst>
              <a:gd name="adj" fmla="val 6923"/>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3" name="Text 10"/>
          <p:cNvSpPr/>
          <p:nvPr/>
        </p:nvSpPr>
        <p:spPr>
          <a:xfrm>
            <a:off x="7178040" y="4443984"/>
            <a:ext cx="4206240" cy="274320"/>
          </a:xfrm>
          <a:prstGeom prst="rect">
            <a:avLst/>
          </a:prstGeom>
          <a:noFill/>
          <a:ln/>
        </p:spPr>
        <p:txBody>
          <a:bodyPr wrap="square" lIns="0" tIns="0" rIns="0" bIns="0" rtlCol="0" anchor="ctr"/>
          <a:lstStyle/>
          <a:p>
            <a:pPr indent="0" marL="0">
              <a:buNone/>
            </a:pPr>
            <a:r>
              <a:rPr lang="en-US" sz="1400" b="1" dirty="0">
                <a:solidFill>
                  <a:srgbClr val="1A3884"/>
                </a:solidFill>
                <a:latin typeface="Calibri" pitchFamily="34" charset="0"/>
                <a:ea typeface="Calibri" pitchFamily="34" charset="-122"/>
                <a:cs typeface="Calibri" pitchFamily="34" charset="-120"/>
              </a:rPr>
              <a:t>45 courses across 3 stages + 4 tracks</a:t>
            </a:r>
            <a:endParaRPr lang="en-US" sz="1400" dirty="0"/>
          </a:p>
        </p:txBody>
      </p:sp>
      <p:sp>
        <p:nvSpPr>
          <p:cNvPr id="14" name="Text 11"/>
          <p:cNvSpPr/>
          <p:nvPr/>
        </p:nvSpPr>
        <p:spPr>
          <a:xfrm>
            <a:off x="7178040" y="4773168"/>
            <a:ext cx="4160520" cy="594360"/>
          </a:xfrm>
          <a:prstGeom prst="rect">
            <a:avLst/>
          </a:prstGeom>
          <a:noFill/>
          <a:ln/>
        </p:spPr>
        <p:txBody>
          <a:bodyPr wrap="square" lIns="0" tIns="0" rIns="0" bIns="0" rtlCol="0" anchor="t"/>
          <a:lstStyle/>
          <a:p>
            <a:pPr algn="l" indent="0" marL="0">
              <a:lnSpc>
                <a:spcPct val="115000"/>
              </a:lnSpc>
              <a:buNone/>
            </a:pPr>
            <a:r>
              <a:rPr lang="en-US" sz="1100" dirty="0">
                <a:solidFill>
                  <a:srgbClr val="64748B"/>
                </a:solidFill>
                <a:latin typeface="Calibri" pitchFamily="34" charset="0"/>
                <a:ea typeface="Calibri" pitchFamily="34" charset="-122"/>
                <a:cs typeface="Calibri" pitchFamily="34" charset="-120"/>
              </a:rPr>
              <a:t>A fixed core curriculum plus specialist tracks, all authored in the admin panel and delivered to students instantly.</a:t>
            </a:r>
            <a:endParaRPr lang="en-US" sz="1100" dirty="0"/>
          </a:p>
        </p:txBody>
      </p:sp>
      <p:sp>
        <p:nvSpPr>
          <p:cNvPr id="15" name="Shape 12"/>
          <p:cNvSpPr/>
          <p:nvPr/>
        </p:nvSpPr>
        <p:spPr>
          <a:xfrm>
            <a:off x="640080" y="4617720"/>
            <a:ext cx="5989320" cy="1051560"/>
          </a:xfrm>
          <a:prstGeom prst="roundRect">
            <a:avLst>
              <a:gd name="adj" fmla="val 7826"/>
            </a:avLst>
          </a:prstGeom>
          <a:solidFill>
            <a:srgbClr val="0E2136"/>
          </a:solidFill>
          <a:ln w="12700">
            <a:solidFill>
              <a:srgbClr val="0E2136"/>
            </a:solidFill>
            <a:prstDash val="solid"/>
          </a:ln>
          <a:effectLst>
            <a:outerShdw sx="100000" sy="100000" kx="0" ky="0" algn="bl" rotWithShape="0" blurRad="127000" dist="25400" dir="5400000">
              <a:srgbClr val="0E2136">
                <a:alpha val="10000"/>
              </a:srgbClr>
            </a:outerShdw>
          </a:effectLst>
        </p:spPr>
      </p:sp>
      <p:sp>
        <p:nvSpPr>
          <p:cNvPr id="16" name="Text 13"/>
          <p:cNvSpPr/>
          <p:nvPr/>
        </p:nvSpPr>
        <p:spPr>
          <a:xfrm>
            <a:off x="932688" y="4791456"/>
            <a:ext cx="5394960" cy="237744"/>
          </a:xfrm>
          <a:prstGeom prst="rect">
            <a:avLst/>
          </a:prstGeom>
          <a:noFill/>
          <a:ln/>
        </p:spPr>
        <p:txBody>
          <a:bodyPr wrap="square" lIns="0" tIns="0" rIns="0" bIns="0" rtlCol="0" anchor="ctr"/>
          <a:lstStyle/>
          <a:p>
            <a:pPr indent="0" marL="0">
              <a:buNone/>
            </a:pPr>
            <a:r>
              <a:rPr lang="en-US" sz="1100" b="1" spc="200" kern="0" dirty="0">
                <a:solidFill>
                  <a:srgbClr val="7FA0D8"/>
                </a:solidFill>
                <a:latin typeface="Calibri" pitchFamily="34" charset="0"/>
                <a:ea typeface="Calibri" pitchFamily="34" charset="-122"/>
                <a:cs typeface="Calibri" pitchFamily="34" charset="-120"/>
              </a:rPr>
              <a:t>In one line</a:t>
            </a:r>
            <a:endParaRPr lang="en-US" sz="1100" dirty="0"/>
          </a:p>
        </p:txBody>
      </p:sp>
      <p:sp>
        <p:nvSpPr>
          <p:cNvPr id="17" name="Text 14"/>
          <p:cNvSpPr/>
          <p:nvPr/>
        </p:nvSpPr>
        <p:spPr>
          <a:xfrm>
            <a:off x="932688" y="5056632"/>
            <a:ext cx="544068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Measure honestly, teach in order, prove it, then place.</a:t>
            </a:r>
            <a:endParaRPr lang="en-US" sz="1600" dirty="0"/>
          </a:p>
        </p:txBody>
      </p:sp>
      <p:sp>
        <p:nvSpPr>
          <p:cNvPr id="18" name="Text 15"/>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19" name="Text 16"/>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WHY IT EXISTS</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The gap we set out to close</a:t>
            </a:r>
            <a:endParaRPr lang="en-US" sz="3200" dirty="0"/>
          </a:p>
        </p:txBody>
      </p:sp>
      <p:sp>
        <p:nvSpPr>
          <p:cNvPr id="5" name="Text 2"/>
          <p:cNvSpPr/>
          <p:nvPr/>
        </p:nvSpPr>
        <p:spPr>
          <a:xfrm>
            <a:off x="640080" y="1481328"/>
            <a:ext cx="10607040" cy="457200"/>
          </a:xfrm>
          <a:prstGeom prst="rect">
            <a:avLst/>
          </a:prstGeom>
          <a:noFill/>
          <a:ln/>
        </p:spPr>
        <p:txBody>
          <a:bodyPr wrap="square" lIns="0" tIns="0" rIns="0" bIns="0" rtlCol="0" anchor="t"/>
          <a:lstStyle/>
          <a:p>
            <a:pPr algn="l" indent="0" marL="0">
              <a:lnSpc>
                <a:spcPct val="118000"/>
              </a:lnSpc>
              <a:buNone/>
            </a:pPr>
            <a:r>
              <a:rPr lang="en-US" sz="1400" dirty="0">
                <a:solidFill>
                  <a:srgbClr val="64748B"/>
                </a:solidFill>
                <a:latin typeface="Calibri" pitchFamily="34" charset="0"/>
                <a:ea typeface="Calibri" pitchFamily="34" charset="-122"/>
                <a:cs typeface="Calibri" pitchFamily="34" charset="-120"/>
              </a:rPr>
              <a:t>Every institution already has students, courses and recruiters. What it lacks is one honest, current picture of how ready each student is.</a:t>
            </a:r>
            <a:endParaRPr lang="en-US" sz="1400" dirty="0"/>
          </a:p>
        </p:txBody>
      </p:sp>
      <p:sp>
        <p:nvSpPr>
          <p:cNvPr id="6" name="Shape 3"/>
          <p:cNvSpPr/>
          <p:nvPr/>
        </p:nvSpPr>
        <p:spPr>
          <a:xfrm>
            <a:off x="640080" y="2103120"/>
            <a:ext cx="5303520" cy="3200400"/>
          </a:xfrm>
          <a:prstGeom prst="roundRect">
            <a:avLst>
              <a:gd name="adj" fmla="val 2571"/>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Text 4"/>
          <p:cNvSpPr/>
          <p:nvPr/>
        </p:nvSpPr>
        <p:spPr>
          <a:xfrm>
            <a:off x="960120" y="2359152"/>
            <a:ext cx="4663440" cy="310896"/>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Without a single system</a:t>
            </a:r>
            <a:endParaRPr lang="en-US" sz="1700" dirty="0"/>
          </a:p>
        </p:txBody>
      </p:sp>
      <p:sp>
        <p:nvSpPr>
          <p:cNvPr id="8" name="Text 5"/>
          <p:cNvSpPr/>
          <p:nvPr/>
        </p:nvSpPr>
        <p:spPr>
          <a:xfrm>
            <a:off x="960120" y="2798064"/>
            <a:ext cx="4663440" cy="237744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300" dirty="0">
                <a:solidFill>
                  <a:srgbClr val="334155"/>
                </a:solidFill>
                <a:latin typeface="Calibri" pitchFamily="34" charset="0"/>
                <a:ea typeface="Calibri" pitchFamily="34" charset="-122"/>
                <a:cs typeface="Calibri" pitchFamily="34" charset="-120"/>
              </a:rPr>
              <a:t>Readiness is a guess — marks measure memory, not capability.</a:t>
            </a:r>
            <a:endParaRPr lang="en-US" sz="1300" dirty="0"/>
          </a:p>
          <a:p>
            <a:pPr marL="342900" indent="-342900">
              <a:lnSpc>
                <a:spcPct val="115000"/>
              </a:lnSpc>
              <a:spcAft>
                <a:spcPts val="1000"/>
              </a:spcAft>
              <a:buSzPct val="100000"/>
              <a:buChar char="•"/>
            </a:pPr>
            <a:r>
              <a:rPr lang="en-US" sz="1300" dirty="0">
                <a:solidFill>
                  <a:srgbClr val="334155"/>
                </a:solidFill>
                <a:latin typeface="Calibri" pitchFamily="34" charset="0"/>
                <a:ea typeface="Calibri" pitchFamily="34" charset="-122"/>
                <a:cs typeface="Calibri" pitchFamily="34" charset="-120"/>
              </a:rPr>
              <a:t>Learning content lives in one place, results in another, placement in a spreadsheet.</a:t>
            </a:r>
            <a:endParaRPr lang="en-US" sz="1300" dirty="0"/>
          </a:p>
          <a:p>
            <a:pPr marL="342900" indent="-342900">
              <a:lnSpc>
                <a:spcPct val="115000"/>
              </a:lnSpc>
              <a:spcAft>
                <a:spcPts val="1000"/>
              </a:spcAft>
              <a:buSzPct val="100000"/>
              <a:buChar char="•"/>
            </a:pPr>
            <a:r>
              <a:rPr lang="en-US" sz="1300" dirty="0">
                <a:solidFill>
                  <a:srgbClr val="334155"/>
                </a:solidFill>
                <a:latin typeface="Calibri" pitchFamily="34" charset="0"/>
                <a:ea typeface="Calibri" pitchFamily="34" charset="-122"/>
                <a:cs typeface="Calibri" pitchFamily="34" charset="-120"/>
              </a:rPr>
              <a:t>Colleges cannot see who is falling behind until the term ends.</a:t>
            </a:r>
            <a:endParaRPr lang="en-US" sz="1300" dirty="0"/>
          </a:p>
          <a:p>
            <a:pPr marL="342900" indent="-342900">
              <a:lnSpc>
                <a:spcPct val="115000"/>
              </a:lnSpc>
              <a:spcAft>
                <a:spcPts val="1000"/>
              </a:spcAft>
              <a:buSzPct val="100000"/>
              <a:buChar char="•"/>
            </a:pPr>
            <a:r>
              <a:rPr lang="en-US" sz="1300" dirty="0">
                <a:solidFill>
                  <a:srgbClr val="334155"/>
                </a:solidFill>
                <a:latin typeface="Calibri" pitchFamily="34" charset="0"/>
                <a:ea typeface="Calibri" pitchFamily="34" charset="-122"/>
                <a:cs typeface="Calibri" pitchFamily="34" charset="-120"/>
              </a:rPr>
              <a:t>Recruiters receive resumes they have no way to verify.</a:t>
            </a:r>
            <a:endParaRPr lang="en-US" sz="1300" dirty="0"/>
          </a:p>
          <a:p>
            <a:pPr marL="342900" indent="-342900">
              <a:lnSpc>
                <a:spcPct val="115000"/>
              </a:lnSpc>
              <a:spcAft>
                <a:spcPts val="1000"/>
              </a:spcAft>
              <a:buSzPct val="100000"/>
              <a:buChar char="•"/>
            </a:pPr>
            <a:r>
              <a:rPr lang="en-US" sz="1300" dirty="0">
                <a:solidFill>
                  <a:srgbClr val="334155"/>
                </a:solidFill>
                <a:latin typeface="Calibri" pitchFamily="34" charset="0"/>
                <a:ea typeface="Calibri" pitchFamily="34" charset="-122"/>
                <a:cs typeface="Calibri" pitchFamily="34" charset="-120"/>
              </a:rPr>
              <a:t>Nobody can prove a certificate is genuine.</a:t>
            </a:r>
            <a:endParaRPr lang="en-US" sz="1300" dirty="0"/>
          </a:p>
        </p:txBody>
      </p:sp>
      <p:sp>
        <p:nvSpPr>
          <p:cNvPr id="9" name="Shape 6"/>
          <p:cNvSpPr/>
          <p:nvPr/>
        </p:nvSpPr>
        <p:spPr>
          <a:xfrm>
            <a:off x="6263640" y="2103120"/>
            <a:ext cx="5285232" cy="3200400"/>
          </a:xfrm>
          <a:prstGeom prst="roundRect">
            <a:avLst>
              <a:gd name="adj" fmla="val 2571"/>
            </a:avLst>
          </a:prstGeom>
          <a:solidFill>
            <a:srgbClr val="1A3884"/>
          </a:solidFill>
          <a:ln w="12700">
            <a:solidFill>
              <a:srgbClr val="1A3884"/>
            </a:solidFill>
            <a:prstDash val="solid"/>
          </a:ln>
          <a:effectLst>
            <a:outerShdw sx="100000" sy="100000" kx="0" ky="0" algn="bl" rotWithShape="0" blurRad="127000" dist="25400" dir="5400000">
              <a:srgbClr val="0E2136">
                <a:alpha val="10000"/>
              </a:srgbClr>
            </a:outerShdw>
          </a:effectLst>
        </p:spPr>
      </p:sp>
      <p:sp>
        <p:nvSpPr>
          <p:cNvPr id="10" name="Text 7"/>
          <p:cNvSpPr/>
          <p:nvPr/>
        </p:nvSpPr>
        <p:spPr>
          <a:xfrm>
            <a:off x="6583680" y="2359152"/>
            <a:ext cx="466344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With SMAART Institute</a:t>
            </a:r>
            <a:endParaRPr lang="en-US" sz="1700" dirty="0"/>
          </a:p>
        </p:txBody>
      </p:sp>
      <p:sp>
        <p:nvSpPr>
          <p:cNvPr id="11" name="Text 8"/>
          <p:cNvSpPr/>
          <p:nvPr/>
        </p:nvSpPr>
        <p:spPr>
          <a:xfrm>
            <a:off x="6583680" y="2798064"/>
            <a:ext cx="4663440" cy="237744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300" dirty="0">
                <a:solidFill>
                  <a:srgbClr val="DCE5F5"/>
                </a:solidFill>
                <a:latin typeface="Calibri" pitchFamily="34" charset="0"/>
                <a:ea typeface="Calibri" pitchFamily="34" charset="-122"/>
                <a:cs typeface="Calibri" pitchFamily="34" charset="-120"/>
              </a:rPr>
              <a:t>A measured baseline on day one, re-measured at every stage.</a:t>
            </a:r>
            <a:endParaRPr lang="en-US" sz="1300" dirty="0"/>
          </a:p>
          <a:p>
            <a:pPr marL="342900" indent="-342900">
              <a:lnSpc>
                <a:spcPct val="115000"/>
              </a:lnSpc>
              <a:spcAft>
                <a:spcPts val="1000"/>
              </a:spcAft>
              <a:buSzPct val="100000"/>
              <a:buChar char="•"/>
            </a:pPr>
            <a:r>
              <a:rPr lang="en-US" sz="1300" dirty="0">
                <a:solidFill>
                  <a:srgbClr val="DCE5F5"/>
                </a:solidFill>
                <a:latin typeface="Calibri" pitchFamily="34" charset="0"/>
                <a:ea typeface="Calibri" pitchFamily="34" charset="-122"/>
                <a:cs typeface="Calibri" pitchFamily="34" charset="-120"/>
              </a:rPr>
              <a:t>Learning, assessment, coaching and placement in one record.</a:t>
            </a:r>
            <a:endParaRPr lang="en-US" sz="1300" dirty="0"/>
          </a:p>
          <a:p>
            <a:pPr marL="342900" indent="-342900">
              <a:lnSpc>
                <a:spcPct val="115000"/>
              </a:lnSpc>
              <a:spcAft>
                <a:spcPts val="1000"/>
              </a:spcAft>
              <a:buSzPct val="100000"/>
              <a:buChar char="•"/>
            </a:pPr>
            <a:r>
              <a:rPr lang="en-US" sz="1300" dirty="0">
                <a:solidFill>
                  <a:srgbClr val="DCE5F5"/>
                </a:solidFill>
                <a:latin typeface="Calibri" pitchFamily="34" charset="0"/>
                <a:ea typeface="Calibri" pitchFamily="34" charset="-122"/>
                <a:cs typeface="Calibri" pitchFamily="34" charset="-120"/>
              </a:rPr>
              <a:t>Live dashboards for the college, the coach and the platform team.</a:t>
            </a:r>
            <a:endParaRPr lang="en-US" sz="1300" dirty="0"/>
          </a:p>
          <a:p>
            <a:pPr marL="342900" indent="-342900">
              <a:lnSpc>
                <a:spcPct val="115000"/>
              </a:lnSpc>
              <a:spcAft>
                <a:spcPts val="1000"/>
              </a:spcAft>
              <a:buSzPct val="100000"/>
              <a:buChar char="•"/>
            </a:pPr>
            <a:r>
              <a:rPr lang="en-US" sz="1300" dirty="0">
                <a:solidFill>
                  <a:srgbClr val="DCE5F5"/>
                </a:solidFill>
                <a:latin typeface="Calibri" pitchFamily="34" charset="0"/>
                <a:ea typeface="Calibri" pitchFamily="34" charset="-122"/>
                <a:cs typeface="Calibri" pitchFamily="34" charset="-120"/>
              </a:rPr>
              <a:t>A skills passport and certificates anyone can verify from a public link.</a:t>
            </a:r>
            <a:endParaRPr lang="en-US" sz="1300" dirty="0"/>
          </a:p>
          <a:p>
            <a:pPr marL="342900" indent="-342900">
              <a:lnSpc>
                <a:spcPct val="115000"/>
              </a:lnSpc>
              <a:spcAft>
                <a:spcPts val="1000"/>
              </a:spcAft>
              <a:buSzPct val="100000"/>
              <a:buChar char="•"/>
            </a:pPr>
            <a:r>
              <a:rPr lang="en-US" sz="1300" dirty="0">
                <a:solidFill>
                  <a:srgbClr val="DCE5F5"/>
                </a:solidFill>
                <a:latin typeface="Calibri" pitchFamily="34" charset="0"/>
                <a:ea typeface="Calibri" pitchFamily="34" charset="-122"/>
                <a:cs typeface="Calibri" pitchFamily="34" charset="-120"/>
              </a:rPr>
              <a:t>Proctored assessments, so a score means something.</a:t>
            </a:r>
            <a:endParaRPr lang="en-US" sz="1300" dirty="0"/>
          </a:p>
        </p:txBody>
      </p:sp>
      <p:sp>
        <p:nvSpPr>
          <p:cNvPr id="12" name="Text 9"/>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13" name="Text 10"/>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ARCHITECTURE</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One platform, two front doors</a:t>
            </a:r>
            <a:endParaRPr lang="en-US" sz="3200" dirty="0"/>
          </a:p>
        </p:txBody>
      </p:sp>
      <p:sp>
        <p:nvSpPr>
          <p:cNvPr id="5" name="Shape 2"/>
          <p:cNvSpPr/>
          <p:nvPr/>
        </p:nvSpPr>
        <p:spPr>
          <a:xfrm>
            <a:off x="640080" y="1554480"/>
            <a:ext cx="5285232" cy="3063240"/>
          </a:xfrm>
          <a:prstGeom prst="roundRect">
            <a:avLst>
              <a:gd name="adj" fmla="val 2687"/>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6" name="Text 3"/>
          <p:cNvSpPr/>
          <p:nvPr/>
        </p:nvSpPr>
        <p:spPr>
          <a:xfrm>
            <a:off x="960120" y="1783080"/>
            <a:ext cx="4572000" cy="329184"/>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Student Dashboard</a:t>
            </a:r>
            <a:endParaRPr lang="en-US" sz="1900" dirty="0"/>
          </a:p>
        </p:txBody>
      </p:sp>
      <p:sp>
        <p:nvSpPr>
          <p:cNvPr id="7" name="Text 4"/>
          <p:cNvSpPr/>
          <p:nvPr/>
        </p:nvSpPr>
        <p:spPr>
          <a:xfrm>
            <a:off x="960120" y="2121408"/>
            <a:ext cx="4572000" cy="237744"/>
          </a:xfrm>
          <a:prstGeom prst="rect">
            <a:avLst/>
          </a:prstGeom>
          <a:noFill/>
          <a:ln/>
        </p:spPr>
        <p:txBody>
          <a:bodyPr wrap="square" lIns="0" tIns="0" rIns="0" bIns="0" rtlCol="0" anchor="ctr"/>
          <a:lstStyle/>
          <a:p>
            <a:pPr indent="0" marL="0">
              <a:buNone/>
            </a:pPr>
            <a:r>
              <a:rPr lang="en-US" sz="1200" b="1" dirty="0">
                <a:solidFill>
                  <a:srgbClr val="1A3884"/>
                </a:solidFill>
                <a:latin typeface="Calibri" pitchFamily="34" charset="0"/>
                <a:ea typeface="Calibri" pitchFamily="34" charset="-122"/>
                <a:cs typeface="Calibri" pitchFamily="34" charset="-120"/>
              </a:rPr>
              <a:t>smaartinstitute.com</a:t>
            </a:r>
            <a:endParaRPr lang="en-US" sz="1200" dirty="0"/>
          </a:p>
        </p:txBody>
      </p:sp>
      <p:sp>
        <p:nvSpPr>
          <p:cNvPr id="8" name="Text 5"/>
          <p:cNvSpPr/>
          <p:nvPr/>
        </p:nvSpPr>
        <p:spPr>
          <a:xfrm>
            <a:off x="960120" y="2395728"/>
            <a:ext cx="4572000" cy="274320"/>
          </a:xfrm>
          <a:prstGeom prst="rect">
            <a:avLst/>
          </a:prstGeom>
          <a:noFill/>
          <a:ln/>
        </p:spPr>
        <p:txBody>
          <a:bodyPr wrap="square" lIns="0" tIns="0" rIns="0" bIns="0" rtlCol="0" anchor="t"/>
          <a:lstStyle/>
          <a:p>
            <a:pPr algn="l" indent="0" marL="0">
              <a:lnSpc>
                <a:spcPct val="118000"/>
              </a:lnSpc>
              <a:buNone/>
            </a:pPr>
            <a:r>
              <a:rPr lang="en-US" sz="1150" dirty="0">
                <a:solidFill>
                  <a:srgbClr val="64748B"/>
                </a:solidFill>
                <a:latin typeface="Calibri" pitchFamily="34" charset="0"/>
                <a:ea typeface="Calibri" pitchFamily="34" charset="-122"/>
                <a:cs typeface="Calibri" pitchFamily="34" charset="-120"/>
              </a:rPr>
              <a:t>What learners, coaches and recruiters use every day.</a:t>
            </a:r>
            <a:endParaRPr lang="en-US" sz="1150" dirty="0"/>
          </a:p>
        </p:txBody>
      </p:sp>
      <p:sp>
        <p:nvSpPr>
          <p:cNvPr id="9" name="Text 6"/>
          <p:cNvSpPr/>
          <p:nvPr/>
        </p:nvSpPr>
        <p:spPr>
          <a:xfrm>
            <a:off x="960120" y="2743200"/>
            <a:ext cx="4617720" cy="182880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Registration, OTP verification and profile</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Courses, learning player and progress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Assessments with AI proctoring</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Skills passport, badges and certificates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Jobs, job fairs and applications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Community, groups and support</a:t>
            </a:r>
            <a:endParaRPr lang="en-US" sz="1200" dirty="0"/>
          </a:p>
        </p:txBody>
      </p:sp>
      <p:sp>
        <p:nvSpPr>
          <p:cNvPr id="10" name="Shape 7"/>
          <p:cNvSpPr/>
          <p:nvPr/>
        </p:nvSpPr>
        <p:spPr>
          <a:xfrm>
            <a:off x="6263640" y="1554480"/>
            <a:ext cx="5285232" cy="3063240"/>
          </a:xfrm>
          <a:prstGeom prst="roundRect">
            <a:avLst>
              <a:gd name="adj" fmla="val 2687"/>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1" name="Text 8"/>
          <p:cNvSpPr/>
          <p:nvPr/>
        </p:nvSpPr>
        <p:spPr>
          <a:xfrm>
            <a:off x="6583680" y="1783080"/>
            <a:ext cx="4572000" cy="329184"/>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Admin Panel</a:t>
            </a:r>
            <a:endParaRPr lang="en-US" sz="1900" dirty="0"/>
          </a:p>
        </p:txBody>
      </p:sp>
      <p:sp>
        <p:nvSpPr>
          <p:cNvPr id="12" name="Text 9"/>
          <p:cNvSpPr/>
          <p:nvPr/>
        </p:nvSpPr>
        <p:spPr>
          <a:xfrm>
            <a:off x="6583680" y="2121408"/>
            <a:ext cx="4572000" cy="237744"/>
          </a:xfrm>
          <a:prstGeom prst="rect">
            <a:avLst/>
          </a:prstGeom>
          <a:noFill/>
          <a:ln/>
        </p:spPr>
        <p:txBody>
          <a:bodyPr wrap="square" lIns="0" tIns="0" rIns="0" bIns="0" rtlCol="0" anchor="ctr"/>
          <a:lstStyle/>
          <a:p>
            <a:pPr indent="0" marL="0">
              <a:buNone/>
            </a:pPr>
            <a:r>
              <a:rPr lang="en-US" sz="1200" b="1" dirty="0">
                <a:solidFill>
                  <a:srgbClr val="1A3884"/>
                </a:solidFill>
                <a:latin typeface="Calibri" pitchFamily="34" charset="0"/>
                <a:ea typeface="Calibri" pitchFamily="34" charset="-122"/>
                <a:cs typeface="Calibri" pitchFamily="34" charset="-120"/>
              </a:rPr>
              <a:t>admin.smaartinstitute.com</a:t>
            </a:r>
            <a:endParaRPr lang="en-US" sz="1200" dirty="0"/>
          </a:p>
        </p:txBody>
      </p:sp>
      <p:sp>
        <p:nvSpPr>
          <p:cNvPr id="13" name="Text 10"/>
          <p:cNvSpPr/>
          <p:nvPr/>
        </p:nvSpPr>
        <p:spPr>
          <a:xfrm>
            <a:off x="6583680" y="2395728"/>
            <a:ext cx="4572000" cy="274320"/>
          </a:xfrm>
          <a:prstGeom prst="rect">
            <a:avLst/>
          </a:prstGeom>
          <a:noFill/>
          <a:ln/>
        </p:spPr>
        <p:txBody>
          <a:bodyPr wrap="square" lIns="0" tIns="0" rIns="0" bIns="0" rtlCol="0" anchor="t"/>
          <a:lstStyle/>
          <a:p>
            <a:pPr algn="l" indent="0" marL="0">
              <a:lnSpc>
                <a:spcPct val="118000"/>
              </a:lnSpc>
              <a:buNone/>
            </a:pPr>
            <a:r>
              <a:rPr lang="en-US" sz="1150" dirty="0">
                <a:solidFill>
                  <a:srgbClr val="64748B"/>
                </a:solidFill>
                <a:latin typeface="Calibri" pitchFamily="34" charset="0"/>
                <a:ea typeface="Calibri" pitchFamily="34" charset="-122"/>
                <a:cs typeface="Calibri" pitchFamily="34" charset="-120"/>
              </a:rPr>
              <a:t>Where the platform and each college are run.</a:t>
            </a:r>
            <a:endParaRPr lang="en-US" sz="1150" dirty="0"/>
          </a:p>
        </p:txBody>
      </p:sp>
      <p:sp>
        <p:nvSpPr>
          <p:cNvPr id="14" name="Text 11"/>
          <p:cNvSpPr/>
          <p:nvPr/>
        </p:nvSpPr>
        <p:spPr>
          <a:xfrm>
            <a:off x="6583680" y="2743200"/>
            <a:ext cx="4617720" cy="182880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Onboard colleges, chains and departments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Create users, students and recruiters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Author courses and question banks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Build and publish assessments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Placement office, job fairs, applicants</a:t>
            </a:r>
            <a:endParaRPr lang="en-US" sz="1200" dirty="0"/>
          </a:p>
          <a:p>
            <a:pPr marL="342900" indent="-342900">
              <a:lnSpc>
                <a:spcPct val="115000"/>
              </a:lnSpc>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Analytics, moderation, tickets, logs</a:t>
            </a:r>
            <a:endParaRPr lang="en-US" sz="1200" dirty="0"/>
          </a:p>
        </p:txBody>
      </p:sp>
      <p:sp>
        <p:nvSpPr>
          <p:cNvPr id="15" name="Shape 12"/>
          <p:cNvSpPr/>
          <p:nvPr/>
        </p:nvSpPr>
        <p:spPr>
          <a:xfrm>
            <a:off x="640080" y="4846320"/>
            <a:ext cx="10908792" cy="1097280"/>
          </a:xfrm>
          <a:prstGeom prst="roundRect">
            <a:avLst>
              <a:gd name="adj" fmla="val 7500"/>
            </a:avLst>
          </a:prstGeom>
          <a:solidFill>
            <a:srgbClr val="0E2136"/>
          </a:solidFill>
          <a:ln w="12700">
            <a:solidFill>
              <a:srgbClr val="0E2136"/>
            </a:solidFill>
            <a:prstDash val="solid"/>
          </a:ln>
          <a:effectLst>
            <a:outerShdw sx="100000" sy="100000" kx="0" ky="0" algn="bl" rotWithShape="0" blurRad="127000" dist="25400" dir="5400000">
              <a:srgbClr val="0E2136">
                <a:alpha val="10000"/>
              </a:srgbClr>
            </a:outerShdw>
          </a:effectLst>
        </p:spPr>
      </p:sp>
      <p:sp>
        <p:nvSpPr>
          <p:cNvPr id="16" name="Text 13"/>
          <p:cNvSpPr/>
          <p:nvPr/>
        </p:nvSpPr>
        <p:spPr>
          <a:xfrm>
            <a:off x="960120" y="5029200"/>
            <a:ext cx="100584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Both applications share one MongoDB Atlas database.</a:t>
            </a:r>
            <a:endParaRPr lang="en-US" sz="1500" dirty="0"/>
          </a:p>
        </p:txBody>
      </p:sp>
      <p:sp>
        <p:nvSpPr>
          <p:cNvPr id="17" name="Text 14"/>
          <p:cNvSpPr/>
          <p:nvPr/>
        </p:nvSpPr>
        <p:spPr>
          <a:xfrm>
            <a:off x="960120" y="5340096"/>
            <a:ext cx="10058400" cy="457200"/>
          </a:xfrm>
          <a:prstGeom prst="rect">
            <a:avLst/>
          </a:prstGeom>
          <a:noFill/>
          <a:ln/>
        </p:spPr>
        <p:txBody>
          <a:bodyPr wrap="square" lIns="0" tIns="0" rIns="0" bIns="0" rtlCol="0" anchor="t"/>
          <a:lstStyle/>
          <a:p>
            <a:pPr algn="l" indent="0" marL="0">
              <a:lnSpc>
                <a:spcPct val="118000"/>
              </a:lnSpc>
              <a:buNone/>
            </a:pPr>
            <a:r>
              <a:rPr lang="en-US" sz="1200" dirty="0">
                <a:solidFill>
                  <a:srgbClr val="B7C4D6"/>
                </a:solidFill>
                <a:latin typeface="Calibri" pitchFamily="34" charset="0"/>
                <a:ea typeface="Calibri" pitchFamily="34" charset="-122"/>
                <a:cs typeface="Calibri" pitchFamily="34" charset="-120"/>
              </a:rPr>
              <a:t>A course published in the admin panel reaches students immediately, and a student result reaches college analytics immediately. There is no sync job to fail and no second copy of the truth.</a:t>
            </a:r>
            <a:endParaRPr lang="en-US" sz="1200" dirty="0"/>
          </a:p>
        </p:txBody>
      </p:sp>
      <p:sp>
        <p:nvSpPr>
          <p:cNvPr id="18" name="Text 15"/>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19" name="Text 16"/>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PEOPLE</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Who uses it</a:t>
            </a:r>
            <a:endParaRPr lang="en-US" sz="3200" dirty="0"/>
          </a:p>
        </p:txBody>
      </p:sp>
      <p:sp>
        <p:nvSpPr>
          <p:cNvPr id="5" name="Text 2"/>
          <p:cNvSpPr/>
          <p:nvPr/>
        </p:nvSpPr>
        <p:spPr>
          <a:xfrm>
            <a:off x="640080" y="1481328"/>
            <a:ext cx="10881360" cy="457200"/>
          </a:xfrm>
          <a:prstGeom prst="rect">
            <a:avLst/>
          </a:prstGeom>
          <a:noFill/>
          <a:ln/>
        </p:spPr>
        <p:txBody>
          <a:bodyPr wrap="square" lIns="0" tIns="0" rIns="0" bIns="0" rtlCol="0" anchor="t"/>
          <a:lstStyle/>
          <a:p>
            <a:pPr algn="l" indent="0" marL="0">
              <a:lnSpc>
                <a:spcPct val="118000"/>
              </a:lnSpc>
              <a:buNone/>
            </a:pPr>
            <a:r>
              <a:rPr lang="en-US" sz="1400" dirty="0">
                <a:solidFill>
                  <a:srgbClr val="64748B"/>
                </a:solidFill>
                <a:latin typeface="Calibri" pitchFamily="34" charset="0"/>
                <a:ea typeface="Calibri" pitchFamily="34" charset="-122"/>
                <a:cs typeface="Calibri" pitchFamily="34" charset="-120"/>
              </a:rPr>
              <a:t>Every account has one role, and the role decides what is visible. The same page shows a college admin their own students and shows the platform admin every college.</a:t>
            </a:r>
            <a:endParaRPr lang="en-US" sz="1400" dirty="0"/>
          </a:p>
        </p:txBody>
      </p:sp>
      <p:sp>
        <p:nvSpPr>
          <p:cNvPr id="6" name="Shape 3"/>
          <p:cNvSpPr/>
          <p:nvPr/>
        </p:nvSpPr>
        <p:spPr>
          <a:xfrm>
            <a:off x="640080" y="2148840"/>
            <a:ext cx="3520440" cy="1627632"/>
          </a:xfrm>
          <a:prstGeom prst="roundRect">
            <a:avLst>
              <a:gd name="adj" fmla="val 505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Shape 4"/>
          <p:cNvSpPr/>
          <p:nvPr/>
        </p:nvSpPr>
        <p:spPr>
          <a:xfrm>
            <a:off x="941832" y="2423160"/>
            <a:ext cx="475488" cy="475488"/>
          </a:xfrm>
          <a:prstGeom prst="ellipse">
            <a:avLst/>
          </a:prstGeom>
          <a:solidFill>
            <a:srgbClr val="1A3884"/>
          </a:solidFill>
          <a:ln w="12700">
            <a:solidFill>
              <a:srgbClr val="1A3884"/>
            </a:solidFill>
            <a:prstDash val="solid"/>
          </a:ln>
        </p:spPr>
      </p:sp>
      <p:sp>
        <p:nvSpPr>
          <p:cNvPr id="8" name="Text 5"/>
          <p:cNvSpPr/>
          <p:nvPr/>
        </p:nvSpPr>
        <p:spPr>
          <a:xfrm>
            <a:off x="941832" y="242316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9" name="Text 6"/>
          <p:cNvSpPr/>
          <p:nvPr/>
        </p:nvSpPr>
        <p:spPr>
          <a:xfrm>
            <a:off x="1536192" y="2459736"/>
            <a:ext cx="246888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Student</a:t>
            </a:r>
            <a:endParaRPr lang="en-US" sz="1500" dirty="0"/>
          </a:p>
        </p:txBody>
      </p:sp>
      <p:sp>
        <p:nvSpPr>
          <p:cNvPr id="10" name="Text 7"/>
          <p:cNvSpPr/>
          <p:nvPr/>
        </p:nvSpPr>
        <p:spPr>
          <a:xfrm>
            <a:off x="941832" y="3044952"/>
            <a:ext cx="2926080" cy="640080"/>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Learns, is assessed, builds a skills passport, applies to jobs.</a:t>
            </a:r>
            <a:endParaRPr lang="en-US" sz="1150" dirty="0"/>
          </a:p>
        </p:txBody>
      </p:sp>
      <p:sp>
        <p:nvSpPr>
          <p:cNvPr id="11" name="Shape 8"/>
          <p:cNvSpPr/>
          <p:nvPr/>
        </p:nvSpPr>
        <p:spPr>
          <a:xfrm>
            <a:off x="4416552" y="2148840"/>
            <a:ext cx="3520440" cy="1627632"/>
          </a:xfrm>
          <a:prstGeom prst="roundRect">
            <a:avLst>
              <a:gd name="adj" fmla="val 505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2" name="Shape 9"/>
          <p:cNvSpPr/>
          <p:nvPr/>
        </p:nvSpPr>
        <p:spPr>
          <a:xfrm>
            <a:off x="4718304" y="2423160"/>
            <a:ext cx="475488" cy="475488"/>
          </a:xfrm>
          <a:prstGeom prst="ellipse">
            <a:avLst/>
          </a:prstGeom>
          <a:solidFill>
            <a:srgbClr val="1A3884"/>
          </a:solidFill>
          <a:ln w="12700">
            <a:solidFill>
              <a:srgbClr val="1A3884"/>
            </a:solidFill>
            <a:prstDash val="solid"/>
          </a:ln>
        </p:spPr>
      </p:sp>
      <p:sp>
        <p:nvSpPr>
          <p:cNvPr id="13" name="Text 10"/>
          <p:cNvSpPr/>
          <p:nvPr/>
        </p:nvSpPr>
        <p:spPr>
          <a:xfrm>
            <a:off x="4718304" y="242316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4" name="Text 11"/>
          <p:cNvSpPr/>
          <p:nvPr/>
        </p:nvSpPr>
        <p:spPr>
          <a:xfrm>
            <a:off x="5312664" y="2459736"/>
            <a:ext cx="246888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College Admin</a:t>
            </a:r>
            <a:endParaRPr lang="en-US" sz="1500" dirty="0"/>
          </a:p>
        </p:txBody>
      </p:sp>
      <p:sp>
        <p:nvSpPr>
          <p:cNvPr id="15" name="Text 12"/>
          <p:cNvSpPr/>
          <p:nvPr/>
        </p:nvSpPr>
        <p:spPr>
          <a:xfrm>
            <a:off x="4718304" y="3044952"/>
            <a:ext cx="2926080" cy="640080"/>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Runs one institution: students, batches, degrees, placement office, reports.</a:t>
            </a:r>
            <a:endParaRPr lang="en-US" sz="1150" dirty="0"/>
          </a:p>
        </p:txBody>
      </p:sp>
      <p:sp>
        <p:nvSpPr>
          <p:cNvPr id="16" name="Shape 13"/>
          <p:cNvSpPr/>
          <p:nvPr/>
        </p:nvSpPr>
        <p:spPr>
          <a:xfrm>
            <a:off x="8193024" y="2148840"/>
            <a:ext cx="3520440" cy="1627632"/>
          </a:xfrm>
          <a:prstGeom prst="roundRect">
            <a:avLst>
              <a:gd name="adj" fmla="val 505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7" name="Shape 14"/>
          <p:cNvSpPr/>
          <p:nvPr/>
        </p:nvSpPr>
        <p:spPr>
          <a:xfrm>
            <a:off x="8494776" y="2423160"/>
            <a:ext cx="475488" cy="475488"/>
          </a:xfrm>
          <a:prstGeom prst="ellipse">
            <a:avLst/>
          </a:prstGeom>
          <a:solidFill>
            <a:srgbClr val="1A3884"/>
          </a:solidFill>
          <a:ln w="12700">
            <a:solidFill>
              <a:srgbClr val="1A3884"/>
            </a:solidFill>
            <a:prstDash val="solid"/>
          </a:ln>
        </p:spPr>
      </p:sp>
      <p:sp>
        <p:nvSpPr>
          <p:cNvPr id="18" name="Text 15"/>
          <p:cNvSpPr/>
          <p:nvPr/>
        </p:nvSpPr>
        <p:spPr>
          <a:xfrm>
            <a:off x="8494776" y="242316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t>
            </a:r>
            <a:endParaRPr lang="en-US" sz="1600" dirty="0"/>
          </a:p>
        </p:txBody>
      </p:sp>
      <p:sp>
        <p:nvSpPr>
          <p:cNvPr id="19" name="Text 16"/>
          <p:cNvSpPr/>
          <p:nvPr/>
        </p:nvSpPr>
        <p:spPr>
          <a:xfrm>
            <a:off x="9089136" y="2459736"/>
            <a:ext cx="246888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Coach</a:t>
            </a:r>
            <a:endParaRPr lang="en-US" sz="1500" dirty="0"/>
          </a:p>
        </p:txBody>
      </p:sp>
      <p:sp>
        <p:nvSpPr>
          <p:cNvPr id="20" name="Text 17"/>
          <p:cNvSpPr/>
          <p:nvPr/>
        </p:nvSpPr>
        <p:spPr>
          <a:xfrm>
            <a:off x="8494776" y="3044952"/>
            <a:ext cx="2926080" cy="640080"/>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Runs coaching and MindCare sessions, tracks red flags and escalations.</a:t>
            </a:r>
            <a:endParaRPr lang="en-US" sz="1150" dirty="0"/>
          </a:p>
        </p:txBody>
      </p:sp>
      <p:sp>
        <p:nvSpPr>
          <p:cNvPr id="21" name="Shape 18"/>
          <p:cNvSpPr/>
          <p:nvPr/>
        </p:nvSpPr>
        <p:spPr>
          <a:xfrm>
            <a:off x="640080" y="4023360"/>
            <a:ext cx="3520440" cy="1627632"/>
          </a:xfrm>
          <a:prstGeom prst="roundRect">
            <a:avLst>
              <a:gd name="adj" fmla="val 505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2" name="Shape 19"/>
          <p:cNvSpPr/>
          <p:nvPr/>
        </p:nvSpPr>
        <p:spPr>
          <a:xfrm>
            <a:off x="941832" y="4297680"/>
            <a:ext cx="475488" cy="475488"/>
          </a:xfrm>
          <a:prstGeom prst="ellipse">
            <a:avLst/>
          </a:prstGeom>
          <a:solidFill>
            <a:srgbClr val="1A3884"/>
          </a:solidFill>
          <a:ln w="12700">
            <a:solidFill>
              <a:srgbClr val="1A3884"/>
            </a:solidFill>
            <a:prstDash val="solid"/>
          </a:ln>
        </p:spPr>
      </p:sp>
      <p:sp>
        <p:nvSpPr>
          <p:cNvPr id="23" name="Text 20"/>
          <p:cNvSpPr/>
          <p:nvPr/>
        </p:nvSpPr>
        <p:spPr>
          <a:xfrm>
            <a:off x="941832" y="42976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24" name="Text 21"/>
          <p:cNvSpPr/>
          <p:nvPr/>
        </p:nvSpPr>
        <p:spPr>
          <a:xfrm>
            <a:off x="1536192" y="4334256"/>
            <a:ext cx="246888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Recruiter</a:t>
            </a:r>
            <a:endParaRPr lang="en-US" sz="1500" dirty="0"/>
          </a:p>
        </p:txBody>
      </p:sp>
      <p:sp>
        <p:nvSpPr>
          <p:cNvPr id="25" name="Text 22"/>
          <p:cNvSpPr/>
          <p:nvPr/>
        </p:nvSpPr>
        <p:spPr>
          <a:xfrm>
            <a:off x="941832" y="4919472"/>
            <a:ext cx="2926080" cy="640080"/>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Posts jobs and job fairs, screens applicants, moves the hiring pipeline.</a:t>
            </a:r>
            <a:endParaRPr lang="en-US" sz="1150" dirty="0"/>
          </a:p>
        </p:txBody>
      </p:sp>
      <p:sp>
        <p:nvSpPr>
          <p:cNvPr id="26" name="Shape 23"/>
          <p:cNvSpPr/>
          <p:nvPr/>
        </p:nvSpPr>
        <p:spPr>
          <a:xfrm>
            <a:off x="4416552" y="4023360"/>
            <a:ext cx="3520440" cy="1627632"/>
          </a:xfrm>
          <a:prstGeom prst="roundRect">
            <a:avLst>
              <a:gd name="adj" fmla="val 505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7" name="Shape 24"/>
          <p:cNvSpPr/>
          <p:nvPr/>
        </p:nvSpPr>
        <p:spPr>
          <a:xfrm>
            <a:off x="4718304" y="4297680"/>
            <a:ext cx="475488" cy="475488"/>
          </a:xfrm>
          <a:prstGeom prst="ellipse">
            <a:avLst/>
          </a:prstGeom>
          <a:solidFill>
            <a:srgbClr val="1A3884"/>
          </a:solidFill>
          <a:ln w="12700">
            <a:solidFill>
              <a:srgbClr val="1A3884"/>
            </a:solidFill>
            <a:prstDash val="solid"/>
          </a:ln>
        </p:spPr>
      </p:sp>
      <p:sp>
        <p:nvSpPr>
          <p:cNvPr id="28" name="Text 25"/>
          <p:cNvSpPr/>
          <p:nvPr/>
        </p:nvSpPr>
        <p:spPr>
          <a:xfrm>
            <a:off x="4718304" y="42976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9" name="Text 26"/>
          <p:cNvSpPr/>
          <p:nvPr/>
        </p:nvSpPr>
        <p:spPr>
          <a:xfrm>
            <a:off x="5312664" y="4334256"/>
            <a:ext cx="246888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Platform Admin</a:t>
            </a:r>
            <a:endParaRPr lang="en-US" sz="1500" dirty="0"/>
          </a:p>
        </p:txBody>
      </p:sp>
      <p:sp>
        <p:nvSpPr>
          <p:cNvPr id="30" name="Text 27"/>
          <p:cNvSpPr/>
          <p:nvPr/>
        </p:nvSpPr>
        <p:spPr>
          <a:xfrm>
            <a:off x="4718304" y="4919472"/>
            <a:ext cx="2926080" cy="640080"/>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Owns the whole system: colleges, courses, assessments, analytics, config.</a:t>
            </a:r>
            <a:endParaRPr lang="en-US" sz="1150" dirty="0"/>
          </a:p>
        </p:txBody>
      </p:sp>
      <p:sp>
        <p:nvSpPr>
          <p:cNvPr id="31" name="Shape 28"/>
          <p:cNvSpPr/>
          <p:nvPr/>
        </p:nvSpPr>
        <p:spPr>
          <a:xfrm>
            <a:off x="8193024" y="4023360"/>
            <a:ext cx="3520440" cy="1627632"/>
          </a:xfrm>
          <a:prstGeom prst="roundRect">
            <a:avLst>
              <a:gd name="adj" fmla="val 505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2" name="Shape 29"/>
          <p:cNvSpPr/>
          <p:nvPr/>
        </p:nvSpPr>
        <p:spPr>
          <a:xfrm>
            <a:off x="8494776" y="4297680"/>
            <a:ext cx="475488" cy="475488"/>
          </a:xfrm>
          <a:prstGeom prst="ellipse">
            <a:avLst/>
          </a:prstGeom>
          <a:solidFill>
            <a:srgbClr val="1A3884"/>
          </a:solidFill>
          <a:ln w="12700">
            <a:solidFill>
              <a:srgbClr val="1A3884"/>
            </a:solidFill>
            <a:prstDash val="solid"/>
          </a:ln>
        </p:spPr>
      </p:sp>
      <p:sp>
        <p:nvSpPr>
          <p:cNvPr id="33" name="Text 30"/>
          <p:cNvSpPr/>
          <p:nvPr/>
        </p:nvSpPr>
        <p:spPr>
          <a:xfrm>
            <a:off x="8494776" y="42976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t>
            </a:r>
            <a:endParaRPr lang="en-US" sz="1600" dirty="0"/>
          </a:p>
        </p:txBody>
      </p:sp>
      <p:sp>
        <p:nvSpPr>
          <p:cNvPr id="34" name="Text 31"/>
          <p:cNvSpPr/>
          <p:nvPr/>
        </p:nvSpPr>
        <p:spPr>
          <a:xfrm>
            <a:off x="9089136" y="4334256"/>
            <a:ext cx="246888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Support &amp; Moderation</a:t>
            </a:r>
            <a:endParaRPr lang="en-US" sz="1500" dirty="0"/>
          </a:p>
        </p:txBody>
      </p:sp>
      <p:sp>
        <p:nvSpPr>
          <p:cNvPr id="35" name="Text 32"/>
          <p:cNvSpPr/>
          <p:nvPr/>
        </p:nvSpPr>
        <p:spPr>
          <a:xfrm>
            <a:off x="8494776" y="4919472"/>
            <a:ext cx="2926080" cy="640080"/>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Handles tickets, grievances and the community moderation queue.</a:t>
            </a:r>
            <a:endParaRPr lang="en-US" sz="1150" dirty="0"/>
          </a:p>
        </p:txBody>
      </p:sp>
      <p:sp>
        <p:nvSpPr>
          <p:cNvPr id="36" name="Text 33"/>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37" name="Text 34"/>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HOW IT WORKS</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The student journey, end to end</a:t>
            </a:r>
            <a:endParaRPr lang="en-US" sz="3200" dirty="0"/>
          </a:p>
        </p:txBody>
      </p:sp>
      <p:sp>
        <p:nvSpPr>
          <p:cNvPr id="5" name="Shape 2"/>
          <p:cNvSpPr/>
          <p:nvPr/>
        </p:nvSpPr>
        <p:spPr>
          <a:xfrm>
            <a:off x="640080" y="1645920"/>
            <a:ext cx="3520440" cy="1783080"/>
          </a:xfrm>
          <a:prstGeom prst="roundRect">
            <a:avLst>
              <a:gd name="adj" fmla="val 461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6" name="Shape 3"/>
          <p:cNvSpPr/>
          <p:nvPr/>
        </p:nvSpPr>
        <p:spPr>
          <a:xfrm>
            <a:off x="941832" y="1920240"/>
            <a:ext cx="457200" cy="457200"/>
          </a:xfrm>
          <a:prstGeom prst="ellipse">
            <a:avLst/>
          </a:prstGeom>
          <a:solidFill>
            <a:srgbClr val="1A3884"/>
          </a:solidFill>
          <a:ln w="12700">
            <a:solidFill>
              <a:srgbClr val="1A3884"/>
            </a:solidFill>
            <a:prstDash val="solid"/>
          </a:ln>
        </p:spPr>
      </p:sp>
      <p:sp>
        <p:nvSpPr>
          <p:cNvPr id="7" name="Text 4"/>
          <p:cNvSpPr/>
          <p:nvPr/>
        </p:nvSpPr>
        <p:spPr>
          <a:xfrm>
            <a:off x="941832" y="1920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08760" y="1947672"/>
            <a:ext cx="251460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Register</a:t>
            </a:r>
            <a:endParaRPr lang="en-US" sz="1500" dirty="0"/>
          </a:p>
        </p:txBody>
      </p:sp>
      <p:sp>
        <p:nvSpPr>
          <p:cNvPr id="9" name="Text 6"/>
          <p:cNvSpPr/>
          <p:nvPr/>
        </p:nvSpPr>
        <p:spPr>
          <a:xfrm>
            <a:off x="941832" y="2542032"/>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334155"/>
                </a:solidFill>
                <a:latin typeface="Calibri" pitchFamily="34" charset="0"/>
                <a:ea typeface="Calibri" pitchFamily="34" charset="-122"/>
                <a:cs typeface="Calibri" pitchFamily="34" charset="-120"/>
              </a:rPr>
              <a:t>Email OTP, then a guided profile covering education, projects, experience and career goals.</a:t>
            </a:r>
            <a:endParaRPr lang="en-US" sz="1150" dirty="0"/>
          </a:p>
        </p:txBody>
      </p:sp>
      <p:sp>
        <p:nvSpPr>
          <p:cNvPr id="10" name="Shape 7"/>
          <p:cNvSpPr/>
          <p:nvPr/>
        </p:nvSpPr>
        <p:spPr>
          <a:xfrm>
            <a:off x="4416552" y="1645920"/>
            <a:ext cx="3520440" cy="1783080"/>
          </a:xfrm>
          <a:prstGeom prst="roundRect">
            <a:avLst>
              <a:gd name="adj" fmla="val 461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1" name="Shape 8"/>
          <p:cNvSpPr/>
          <p:nvPr/>
        </p:nvSpPr>
        <p:spPr>
          <a:xfrm>
            <a:off x="4718304" y="1920240"/>
            <a:ext cx="457200" cy="457200"/>
          </a:xfrm>
          <a:prstGeom prst="ellipse">
            <a:avLst/>
          </a:prstGeom>
          <a:solidFill>
            <a:srgbClr val="1A3884"/>
          </a:solidFill>
          <a:ln w="12700">
            <a:solidFill>
              <a:srgbClr val="1A3884"/>
            </a:solidFill>
            <a:prstDash val="solid"/>
          </a:ln>
        </p:spPr>
      </p:sp>
      <p:sp>
        <p:nvSpPr>
          <p:cNvPr id="12" name="Text 9"/>
          <p:cNvSpPr/>
          <p:nvPr/>
        </p:nvSpPr>
        <p:spPr>
          <a:xfrm>
            <a:off x="4718304" y="1920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5285232" y="1947672"/>
            <a:ext cx="251460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Baseline (T1)</a:t>
            </a:r>
            <a:endParaRPr lang="en-US" sz="1500" dirty="0"/>
          </a:p>
        </p:txBody>
      </p:sp>
      <p:sp>
        <p:nvSpPr>
          <p:cNvPr id="14" name="Text 11"/>
          <p:cNvSpPr/>
          <p:nvPr/>
        </p:nvSpPr>
        <p:spPr>
          <a:xfrm>
            <a:off x="4718304" y="2542032"/>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334155"/>
                </a:solidFill>
                <a:latin typeface="Calibri" pitchFamily="34" charset="0"/>
                <a:ea typeface="Calibri" pitchFamily="34" charset="-122"/>
                <a:cs typeface="Calibri" pitchFamily="34" charset="-120"/>
              </a:rPr>
              <a:t>A 36-question proctored baseline measures all six entry quotients before any course opens.</a:t>
            </a:r>
            <a:endParaRPr lang="en-US" sz="1150" dirty="0"/>
          </a:p>
        </p:txBody>
      </p:sp>
      <p:sp>
        <p:nvSpPr>
          <p:cNvPr id="15" name="Shape 12"/>
          <p:cNvSpPr/>
          <p:nvPr/>
        </p:nvSpPr>
        <p:spPr>
          <a:xfrm>
            <a:off x="8193024" y="1645920"/>
            <a:ext cx="3520440" cy="1783080"/>
          </a:xfrm>
          <a:prstGeom prst="roundRect">
            <a:avLst>
              <a:gd name="adj" fmla="val 461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6" name="Shape 13"/>
          <p:cNvSpPr/>
          <p:nvPr/>
        </p:nvSpPr>
        <p:spPr>
          <a:xfrm>
            <a:off x="8494776" y="1920240"/>
            <a:ext cx="457200" cy="457200"/>
          </a:xfrm>
          <a:prstGeom prst="ellipse">
            <a:avLst/>
          </a:prstGeom>
          <a:solidFill>
            <a:srgbClr val="1A3884"/>
          </a:solidFill>
          <a:ln w="12700">
            <a:solidFill>
              <a:srgbClr val="1A3884"/>
            </a:solidFill>
            <a:prstDash val="solid"/>
          </a:ln>
        </p:spPr>
      </p:sp>
      <p:sp>
        <p:nvSpPr>
          <p:cNvPr id="17" name="Text 14"/>
          <p:cNvSpPr/>
          <p:nvPr/>
        </p:nvSpPr>
        <p:spPr>
          <a:xfrm>
            <a:off x="8494776" y="1920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p:nvPr/>
        </p:nvSpPr>
        <p:spPr>
          <a:xfrm>
            <a:off x="9061704" y="1947672"/>
            <a:ext cx="251460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Learn</a:t>
            </a:r>
            <a:endParaRPr lang="en-US" sz="1500" dirty="0"/>
          </a:p>
        </p:txBody>
      </p:sp>
      <p:sp>
        <p:nvSpPr>
          <p:cNvPr id="19" name="Text 16"/>
          <p:cNvSpPr/>
          <p:nvPr/>
        </p:nvSpPr>
        <p:spPr>
          <a:xfrm>
            <a:off x="8494776" y="2542032"/>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334155"/>
                </a:solidFill>
                <a:latin typeface="Calibri" pitchFamily="34" charset="0"/>
                <a:ea typeface="Calibri" pitchFamily="34" charset="-122"/>
                <a:cs typeface="Calibri" pitchFamily="34" charset="-120"/>
              </a:rPr>
              <a:t>Courses unlock in order. Each one runs as an eight-step flow: why, watch, practise, reflect, notes.</a:t>
            </a:r>
            <a:endParaRPr lang="en-US" sz="1150" dirty="0"/>
          </a:p>
        </p:txBody>
      </p:sp>
      <p:sp>
        <p:nvSpPr>
          <p:cNvPr id="20" name="Shape 17"/>
          <p:cNvSpPr/>
          <p:nvPr/>
        </p:nvSpPr>
        <p:spPr>
          <a:xfrm>
            <a:off x="640080" y="3703320"/>
            <a:ext cx="3520440" cy="1783080"/>
          </a:xfrm>
          <a:prstGeom prst="roundRect">
            <a:avLst>
              <a:gd name="adj" fmla="val 461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1" name="Shape 18"/>
          <p:cNvSpPr/>
          <p:nvPr/>
        </p:nvSpPr>
        <p:spPr>
          <a:xfrm>
            <a:off x="941832" y="3977640"/>
            <a:ext cx="457200" cy="457200"/>
          </a:xfrm>
          <a:prstGeom prst="ellipse">
            <a:avLst/>
          </a:prstGeom>
          <a:solidFill>
            <a:srgbClr val="1A3884"/>
          </a:solidFill>
          <a:ln w="12700">
            <a:solidFill>
              <a:srgbClr val="1A3884"/>
            </a:solidFill>
            <a:prstDash val="solid"/>
          </a:ln>
        </p:spPr>
      </p:sp>
      <p:sp>
        <p:nvSpPr>
          <p:cNvPr id="22" name="Text 19"/>
          <p:cNvSpPr/>
          <p:nvPr/>
        </p:nvSpPr>
        <p:spPr>
          <a:xfrm>
            <a:off x="941832" y="3977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508760" y="4005072"/>
            <a:ext cx="251460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Prove (T2–T4)</a:t>
            </a:r>
            <a:endParaRPr lang="en-US" sz="1500" dirty="0"/>
          </a:p>
        </p:txBody>
      </p:sp>
      <p:sp>
        <p:nvSpPr>
          <p:cNvPr id="24" name="Text 21"/>
          <p:cNvSpPr/>
          <p:nvPr/>
        </p:nvSpPr>
        <p:spPr>
          <a:xfrm>
            <a:off x="941832" y="4599432"/>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334155"/>
                </a:solidFill>
                <a:latin typeface="Calibri" pitchFamily="34" charset="0"/>
                <a:ea typeface="Calibri" pitchFamily="34" charset="-122"/>
                <a:cs typeface="Calibri" pitchFamily="34" charset="-120"/>
              </a:rPr>
              <a:t>Stage gate assessments. Clear the gate and the next stage of the curriculum opens.</a:t>
            </a:r>
            <a:endParaRPr lang="en-US" sz="1150" dirty="0"/>
          </a:p>
        </p:txBody>
      </p:sp>
      <p:sp>
        <p:nvSpPr>
          <p:cNvPr id="25" name="Shape 22"/>
          <p:cNvSpPr/>
          <p:nvPr/>
        </p:nvSpPr>
        <p:spPr>
          <a:xfrm>
            <a:off x="4416552" y="3703320"/>
            <a:ext cx="3520440" cy="1783080"/>
          </a:xfrm>
          <a:prstGeom prst="roundRect">
            <a:avLst>
              <a:gd name="adj" fmla="val 461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6" name="Shape 23"/>
          <p:cNvSpPr/>
          <p:nvPr/>
        </p:nvSpPr>
        <p:spPr>
          <a:xfrm>
            <a:off x="4718304" y="3977640"/>
            <a:ext cx="457200" cy="457200"/>
          </a:xfrm>
          <a:prstGeom prst="ellipse">
            <a:avLst/>
          </a:prstGeom>
          <a:solidFill>
            <a:srgbClr val="1A3884"/>
          </a:solidFill>
          <a:ln w="12700">
            <a:solidFill>
              <a:srgbClr val="1A3884"/>
            </a:solidFill>
            <a:prstDash val="solid"/>
          </a:ln>
        </p:spPr>
      </p:sp>
      <p:sp>
        <p:nvSpPr>
          <p:cNvPr id="27" name="Text 24"/>
          <p:cNvSpPr/>
          <p:nvPr/>
        </p:nvSpPr>
        <p:spPr>
          <a:xfrm>
            <a:off x="4718304" y="3977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p:nvPr/>
        </p:nvSpPr>
        <p:spPr>
          <a:xfrm>
            <a:off x="5285232" y="4005072"/>
            <a:ext cx="251460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Build a passport</a:t>
            </a:r>
            <a:endParaRPr lang="en-US" sz="1500" dirty="0"/>
          </a:p>
        </p:txBody>
      </p:sp>
      <p:sp>
        <p:nvSpPr>
          <p:cNvPr id="29" name="Text 26"/>
          <p:cNvSpPr/>
          <p:nvPr/>
        </p:nvSpPr>
        <p:spPr>
          <a:xfrm>
            <a:off x="4718304" y="4599432"/>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334155"/>
                </a:solidFill>
                <a:latin typeface="Calibri" pitchFamily="34" charset="0"/>
                <a:ea typeface="Calibri" pitchFamily="34" charset="-122"/>
                <a:cs typeface="Calibri" pitchFamily="34" charset="-120"/>
              </a:rPr>
              <a:t>Quotient scores, badges, streaks and certificates collect into one verifiable skills passport.</a:t>
            </a:r>
            <a:endParaRPr lang="en-US" sz="1150" dirty="0"/>
          </a:p>
        </p:txBody>
      </p:sp>
      <p:sp>
        <p:nvSpPr>
          <p:cNvPr id="30" name="Shape 27"/>
          <p:cNvSpPr/>
          <p:nvPr/>
        </p:nvSpPr>
        <p:spPr>
          <a:xfrm>
            <a:off x="8193024" y="3703320"/>
            <a:ext cx="3520440" cy="1783080"/>
          </a:xfrm>
          <a:prstGeom prst="roundRect">
            <a:avLst>
              <a:gd name="adj" fmla="val 461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1" name="Shape 28"/>
          <p:cNvSpPr/>
          <p:nvPr/>
        </p:nvSpPr>
        <p:spPr>
          <a:xfrm>
            <a:off x="8494776" y="3977640"/>
            <a:ext cx="457200" cy="457200"/>
          </a:xfrm>
          <a:prstGeom prst="ellipse">
            <a:avLst/>
          </a:prstGeom>
          <a:solidFill>
            <a:srgbClr val="1A3884"/>
          </a:solidFill>
          <a:ln w="12700">
            <a:solidFill>
              <a:srgbClr val="1A3884"/>
            </a:solidFill>
            <a:prstDash val="solid"/>
          </a:ln>
        </p:spPr>
      </p:sp>
      <p:sp>
        <p:nvSpPr>
          <p:cNvPr id="32" name="Text 29"/>
          <p:cNvSpPr/>
          <p:nvPr/>
        </p:nvSpPr>
        <p:spPr>
          <a:xfrm>
            <a:off x="8494776" y="3977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9061704" y="4005072"/>
            <a:ext cx="251460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Get placed</a:t>
            </a:r>
            <a:endParaRPr lang="en-US" sz="1500" dirty="0"/>
          </a:p>
        </p:txBody>
      </p:sp>
      <p:sp>
        <p:nvSpPr>
          <p:cNvPr id="34" name="Text 31"/>
          <p:cNvSpPr/>
          <p:nvPr/>
        </p:nvSpPr>
        <p:spPr>
          <a:xfrm>
            <a:off x="8494776" y="4599432"/>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334155"/>
                </a:solidFill>
                <a:latin typeface="Calibri" pitchFamily="34" charset="0"/>
                <a:ea typeface="Calibri" pitchFamily="34" charset="-122"/>
                <a:cs typeface="Calibri" pitchFamily="34" charset="-120"/>
              </a:rPr>
              <a:t>Apply to jobs and job fairs; recruiters screen against the verified profile, not a claim.</a:t>
            </a:r>
            <a:endParaRPr lang="en-US" sz="1150" dirty="0"/>
          </a:p>
        </p:txBody>
      </p:sp>
      <p:sp>
        <p:nvSpPr>
          <p:cNvPr id="35" name="Text 32"/>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36" name="Text 33"/>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THE MEASUREMENT MODEL</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The seven quotients</a:t>
            </a:r>
            <a:endParaRPr lang="en-US" sz="3200" dirty="0"/>
          </a:p>
        </p:txBody>
      </p:sp>
      <p:sp>
        <p:nvSpPr>
          <p:cNvPr id="5" name="Text 2"/>
          <p:cNvSpPr/>
          <p:nvPr/>
        </p:nvSpPr>
        <p:spPr>
          <a:xfrm>
            <a:off x="640080" y="1481328"/>
            <a:ext cx="10881360" cy="457200"/>
          </a:xfrm>
          <a:prstGeom prst="rect">
            <a:avLst/>
          </a:prstGeom>
          <a:noFill/>
          <a:ln/>
        </p:spPr>
        <p:txBody>
          <a:bodyPr wrap="square" lIns="0" tIns="0" rIns="0" bIns="0" rtlCol="0" anchor="t"/>
          <a:lstStyle/>
          <a:p>
            <a:pPr algn="l" indent="0" marL="0">
              <a:lnSpc>
                <a:spcPct val="118000"/>
              </a:lnSpc>
              <a:buNone/>
            </a:pPr>
            <a:r>
              <a:rPr lang="en-US" sz="1400" dirty="0">
                <a:solidFill>
                  <a:srgbClr val="64748B"/>
                </a:solidFill>
                <a:latin typeface="Calibri" pitchFamily="34" charset="0"/>
                <a:ea typeface="Calibri" pitchFamily="34" charset="-122"/>
                <a:cs typeface="Calibri" pitchFamily="34" charset="-120"/>
              </a:rPr>
              <a:t>Every assessment question is tagged to a quotient, so a score is never one flat number — it says which capability is strong and which needs work.</a:t>
            </a:r>
            <a:endParaRPr lang="en-US" sz="1400" dirty="0"/>
          </a:p>
        </p:txBody>
      </p:sp>
      <p:sp>
        <p:nvSpPr>
          <p:cNvPr id="6" name="Shape 3"/>
          <p:cNvSpPr/>
          <p:nvPr/>
        </p:nvSpPr>
        <p:spPr>
          <a:xfrm>
            <a:off x="640080" y="2148840"/>
            <a:ext cx="2578608" cy="1554480"/>
          </a:xfrm>
          <a:prstGeom prst="roundRect">
            <a:avLst>
              <a:gd name="adj" fmla="val 529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Text 4"/>
          <p:cNvSpPr/>
          <p:nvPr/>
        </p:nvSpPr>
        <p:spPr>
          <a:xfrm>
            <a:off x="896112" y="2350008"/>
            <a:ext cx="2103120" cy="365760"/>
          </a:xfrm>
          <a:prstGeom prst="rect">
            <a:avLst/>
          </a:prstGeom>
          <a:noFill/>
          <a:ln/>
        </p:spPr>
        <p:txBody>
          <a:bodyPr wrap="square" lIns="0" tIns="0" rIns="0" bIns="0" rtlCol="0" anchor="ctr"/>
          <a:lstStyle/>
          <a:p>
            <a:pPr indent="0" marL="0">
              <a:buNone/>
            </a:pPr>
            <a:r>
              <a:rPr lang="en-US" sz="2200" b="1" dirty="0">
                <a:solidFill>
                  <a:srgbClr val="1A3884"/>
                </a:solidFill>
                <a:latin typeface="Calibri" pitchFamily="34" charset="0"/>
                <a:ea typeface="Calibri" pitchFamily="34" charset="-122"/>
                <a:cs typeface="Calibri" pitchFamily="34" charset="-120"/>
              </a:rPr>
              <a:t>CRQ</a:t>
            </a:r>
            <a:endParaRPr lang="en-US" sz="2200" dirty="0"/>
          </a:p>
        </p:txBody>
      </p:sp>
      <p:sp>
        <p:nvSpPr>
          <p:cNvPr id="8" name="Text 5"/>
          <p:cNvSpPr/>
          <p:nvPr/>
        </p:nvSpPr>
        <p:spPr>
          <a:xfrm>
            <a:off x="896112" y="2734056"/>
            <a:ext cx="21031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Cognitive Reasoning</a:t>
            </a:r>
            <a:endParaRPr lang="en-US" sz="1250" dirty="0"/>
          </a:p>
        </p:txBody>
      </p:sp>
      <p:sp>
        <p:nvSpPr>
          <p:cNvPr id="9" name="Text 6"/>
          <p:cNvSpPr/>
          <p:nvPr/>
        </p:nvSpPr>
        <p:spPr>
          <a:xfrm>
            <a:off x="896112" y="3044952"/>
            <a:ext cx="2103120" cy="548640"/>
          </a:xfrm>
          <a:prstGeom prst="rect">
            <a:avLst/>
          </a:prstGeom>
          <a:noFill/>
          <a:ln/>
        </p:spPr>
        <p:txBody>
          <a:bodyPr wrap="square" lIns="0" tIns="0" rIns="0" bIns="0" rtlCol="0" anchor="t"/>
          <a:lstStyle/>
          <a:p>
            <a:pPr algn="l" indent="0" marL="0">
              <a:lnSpc>
                <a:spcPct val="112000"/>
              </a:lnSpc>
              <a:buNone/>
            </a:pPr>
            <a:r>
              <a:rPr lang="en-US" sz="1050" dirty="0">
                <a:solidFill>
                  <a:srgbClr val="64748B"/>
                </a:solidFill>
                <a:latin typeface="Calibri" pitchFamily="34" charset="0"/>
                <a:ea typeface="Calibri" pitchFamily="34" charset="-122"/>
                <a:cs typeface="Calibri" pitchFamily="34" charset="-120"/>
              </a:rPr>
              <a:t>Critical thinking, logic and problem solving.</a:t>
            </a:r>
            <a:endParaRPr lang="en-US" sz="1050" dirty="0"/>
          </a:p>
        </p:txBody>
      </p:sp>
      <p:sp>
        <p:nvSpPr>
          <p:cNvPr id="10" name="Shape 7"/>
          <p:cNvSpPr/>
          <p:nvPr/>
        </p:nvSpPr>
        <p:spPr>
          <a:xfrm>
            <a:off x="3438144" y="2148840"/>
            <a:ext cx="2578608" cy="1554480"/>
          </a:xfrm>
          <a:prstGeom prst="roundRect">
            <a:avLst>
              <a:gd name="adj" fmla="val 529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1" name="Text 8"/>
          <p:cNvSpPr/>
          <p:nvPr/>
        </p:nvSpPr>
        <p:spPr>
          <a:xfrm>
            <a:off x="3694176" y="2350008"/>
            <a:ext cx="2103120" cy="365760"/>
          </a:xfrm>
          <a:prstGeom prst="rect">
            <a:avLst/>
          </a:prstGeom>
          <a:noFill/>
          <a:ln/>
        </p:spPr>
        <p:txBody>
          <a:bodyPr wrap="square" lIns="0" tIns="0" rIns="0" bIns="0" rtlCol="0" anchor="ctr"/>
          <a:lstStyle/>
          <a:p>
            <a:pPr indent="0" marL="0">
              <a:buNone/>
            </a:pPr>
            <a:r>
              <a:rPr lang="en-US" sz="2200" b="1" dirty="0">
                <a:solidFill>
                  <a:srgbClr val="1A3884"/>
                </a:solidFill>
                <a:latin typeface="Calibri" pitchFamily="34" charset="0"/>
                <a:ea typeface="Calibri" pitchFamily="34" charset="-122"/>
                <a:cs typeface="Calibri" pitchFamily="34" charset="-120"/>
              </a:rPr>
              <a:t>SRQ</a:t>
            </a:r>
            <a:endParaRPr lang="en-US" sz="2200" dirty="0"/>
          </a:p>
        </p:txBody>
      </p:sp>
      <p:sp>
        <p:nvSpPr>
          <p:cNvPr id="12" name="Text 9"/>
          <p:cNvSpPr/>
          <p:nvPr/>
        </p:nvSpPr>
        <p:spPr>
          <a:xfrm>
            <a:off x="3694176" y="2734056"/>
            <a:ext cx="21031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Self-Regulation &amp; Drive</a:t>
            </a:r>
            <a:endParaRPr lang="en-US" sz="1250" dirty="0"/>
          </a:p>
        </p:txBody>
      </p:sp>
      <p:sp>
        <p:nvSpPr>
          <p:cNvPr id="13" name="Text 10"/>
          <p:cNvSpPr/>
          <p:nvPr/>
        </p:nvSpPr>
        <p:spPr>
          <a:xfrm>
            <a:off x="3694176" y="3044952"/>
            <a:ext cx="2103120" cy="548640"/>
          </a:xfrm>
          <a:prstGeom prst="rect">
            <a:avLst/>
          </a:prstGeom>
          <a:noFill/>
          <a:ln/>
        </p:spPr>
        <p:txBody>
          <a:bodyPr wrap="square" lIns="0" tIns="0" rIns="0" bIns="0" rtlCol="0" anchor="t"/>
          <a:lstStyle/>
          <a:p>
            <a:pPr algn="l" indent="0" marL="0">
              <a:lnSpc>
                <a:spcPct val="112000"/>
              </a:lnSpc>
              <a:buNone/>
            </a:pPr>
            <a:r>
              <a:rPr lang="en-US" sz="1050" dirty="0">
                <a:solidFill>
                  <a:srgbClr val="64748B"/>
                </a:solidFill>
                <a:latin typeface="Calibri" pitchFamily="34" charset="0"/>
                <a:ea typeface="Calibri" pitchFamily="34" charset="-122"/>
                <a:cs typeface="Calibri" pitchFamily="34" charset="-120"/>
              </a:rPr>
              <a:t>Motivation, resilience and emotional control.</a:t>
            </a:r>
            <a:endParaRPr lang="en-US" sz="1050" dirty="0"/>
          </a:p>
        </p:txBody>
      </p:sp>
      <p:sp>
        <p:nvSpPr>
          <p:cNvPr id="14" name="Shape 11"/>
          <p:cNvSpPr/>
          <p:nvPr/>
        </p:nvSpPr>
        <p:spPr>
          <a:xfrm>
            <a:off x="6236208" y="2148840"/>
            <a:ext cx="2578608" cy="1554480"/>
          </a:xfrm>
          <a:prstGeom prst="roundRect">
            <a:avLst>
              <a:gd name="adj" fmla="val 529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5" name="Text 12"/>
          <p:cNvSpPr/>
          <p:nvPr/>
        </p:nvSpPr>
        <p:spPr>
          <a:xfrm>
            <a:off x="6492240" y="2350008"/>
            <a:ext cx="2103120" cy="365760"/>
          </a:xfrm>
          <a:prstGeom prst="rect">
            <a:avLst/>
          </a:prstGeom>
          <a:noFill/>
          <a:ln/>
        </p:spPr>
        <p:txBody>
          <a:bodyPr wrap="square" lIns="0" tIns="0" rIns="0" bIns="0" rtlCol="0" anchor="ctr"/>
          <a:lstStyle/>
          <a:p>
            <a:pPr indent="0" marL="0">
              <a:buNone/>
            </a:pPr>
            <a:r>
              <a:rPr lang="en-US" sz="2200" b="1" dirty="0">
                <a:solidFill>
                  <a:srgbClr val="1A3884"/>
                </a:solidFill>
                <a:latin typeface="Calibri" pitchFamily="34" charset="0"/>
                <a:ea typeface="Calibri" pitchFamily="34" charset="-122"/>
                <a:cs typeface="Calibri" pitchFamily="34" charset="-120"/>
              </a:rPr>
              <a:t>LQ</a:t>
            </a:r>
            <a:endParaRPr lang="en-US" sz="2200" dirty="0"/>
          </a:p>
        </p:txBody>
      </p:sp>
      <p:sp>
        <p:nvSpPr>
          <p:cNvPr id="16" name="Text 13"/>
          <p:cNvSpPr/>
          <p:nvPr/>
        </p:nvSpPr>
        <p:spPr>
          <a:xfrm>
            <a:off x="6492240" y="2734056"/>
            <a:ext cx="21031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Learning Agility</a:t>
            </a:r>
            <a:endParaRPr lang="en-US" sz="1250" dirty="0"/>
          </a:p>
        </p:txBody>
      </p:sp>
      <p:sp>
        <p:nvSpPr>
          <p:cNvPr id="17" name="Text 14"/>
          <p:cNvSpPr/>
          <p:nvPr/>
        </p:nvSpPr>
        <p:spPr>
          <a:xfrm>
            <a:off x="6492240" y="3044952"/>
            <a:ext cx="2103120" cy="548640"/>
          </a:xfrm>
          <a:prstGeom prst="rect">
            <a:avLst/>
          </a:prstGeom>
          <a:noFill/>
          <a:ln/>
        </p:spPr>
        <p:txBody>
          <a:bodyPr wrap="square" lIns="0" tIns="0" rIns="0" bIns="0" rtlCol="0" anchor="t"/>
          <a:lstStyle/>
          <a:p>
            <a:pPr algn="l" indent="0" marL="0">
              <a:lnSpc>
                <a:spcPct val="112000"/>
              </a:lnSpc>
              <a:buNone/>
            </a:pPr>
            <a:r>
              <a:rPr lang="en-US" sz="1050" dirty="0">
                <a:solidFill>
                  <a:srgbClr val="64748B"/>
                </a:solidFill>
                <a:latin typeface="Calibri" pitchFamily="34" charset="0"/>
                <a:ea typeface="Calibri" pitchFamily="34" charset="-122"/>
                <a:cs typeface="Calibri" pitchFamily="34" charset="-120"/>
              </a:rPr>
              <a:t>Adaptability and the habit of continuous learning.</a:t>
            </a:r>
            <a:endParaRPr lang="en-US" sz="1050" dirty="0"/>
          </a:p>
        </p:txBody>
      </p:sp>
      <p:sp>
        <p:nvSpPr>
          <p:cNvPr id="18" name="Shape 15"/>
          <p:cNvSpPr/>
          <p:nvPr/>
        </p:nvSpPr>
        <p:spPr>
          <a:xfrm>
            <a:off x="9034272" y="2148840"/>
            <a:ext cx="2578608" cy="1554480"/>
          </a:xfrm>
          <a:prstGeom prst="roundRect">
            <a:avLst>
              <a:gd name="adj" fmla="val 529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9" name="Text 16"/>
          <p:cNvSpPr/>
          <p:nvPr/>
        </p:nvSpPr>
        <p:spPr>
          <a:xfrm>
            <a:off x="9290304" y="2350008"/>
            <a:ext cx="2103120" cy="365760"/>
          </a:xfrm>
          <a:prstGeom prst="rect">
            <a:avLst/>
          </a:prstGeom>
          <a:noFill/>
          <a:ln/>
        </p:spPr>
        <p:txBody>
          <a:bodyPr wrap="square" lIns="0" tIns="0" rIns="0" bIns="0" rtlCol="0" anchor="ctr"/>
          <a:lstStyle/>
          <a:p>
            <a:pPr indent="0" marL="0">
              <a:buNone/>
            </a:pPr>
            <a:r>
              <a:rPr lang="en-US" sz="2200" b="1" dirty="0">
                <a:solidFill>
                  <a:srgbClr val="1A3884"/>
                </a:solidFill>
                <a:latin typeface="Calibri" pitchFamily="34" charset="0"/>
                <a:ea typeface="Calibri" pitchFamily="34" charset="-122"/>
                <a:cs typeface="Calibri" pitchFamily="34" charset="-120"/>
              </a:rPr>
              <a:t>SIQ</a:t>
            </a:r>
            <a:endParaRPr lang="en-US" sz="2200" dirty="0"/>
          </a:p>
        </p:txBody>
      </p:sp>
      <p:sp>
        <p:nvSpPr>
          <p:cNvPr id="20" name="Text 17"/>
          <p:cNvSpPr/>
          <p:nvPr/>
        </p:nvSpPr>
        <p:spPr>
          <a:xfrm>
            <a:off x="9290304" y="2734056"/>
            <a:ext cx="21031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Social Interaction</a:t>
            </a:r>
            <a:endParaRPr lang="en-US" sz="1250" dirty="0"/>
          </a:p>
        </p:txBody>
      </p:sp>
      <p:sp>
        <p:nvSpPr>
          <p:cNvPr id="21" name="Text 18"/>
          <p:cNvSpPr/>
          <p:nvPr/>
        </p:nvSpPr>
        <p:spPr>
          <a:xfrm>
            <a:off x="9290304" y="3044952"/>
            <a:ext cx="2103120" cy="548640"/>
          </a:xfrm>
          <a:prstGeom prst="rect">
            <a:avLst/>
          </a:prstGeom>
          <a:noFill/>
          <a:ln/>
        </p:spPr>
        <p:txBody>
          <a:bodyPr wrap="square" lIns="0" tIns="0" rIns="0" bIns="0" rtlCol="0" anchor="t"/>
          <a:lstStyle/>
          <a:p>
            <a:pPr algn="l" indent="0" marL="0">
              <a:lnSpc>
                <a:spcPct val="112000"/>
              </a:lnSpc>
              <a:buNone/>
            </a:pPr>
            <a:r>
              <a:rPr lang="en-US" sz="1050" dirty="0">
                <a:solidFill>
                  <a:srgbClr val="64748B"/>
                </a:solidFill>
                <a:latin typeface="Calibri" pitchFamily="34" charset="0"/>
                <a:ea typeface="Calibri" pitchFamily="34" charset="-122"/>
                <a:cs typeface="Calibri" pitchFamily="34" charset="-120"/>
              </a:rPr>
              <a:t>Collaboration, empathy and communication.</a:t>
            </a:r>
            <a:endParaRPr lang="en-US" sz="1050" dirty="0"/>
          </a:p>
        </p:txBody>
      </p:sp>
      <p:sp>
        <p:nvSpPr>
          <p:cNvPr id="22" name="Shape 19"/>
          <p:cNvSpPr/>
          <p:nvPr/>
        </p:nvSpPr>
        <p:spPr>
          <a:xfrm>
            <a:off x="640080" y="3931920"/>
            <a:ext cx="2578608" cy="1554480"/>
          </a:xfrm>
          <a:prstGeom prst="roundRect">
            <a:avLst>
              <a:gd name="adj" fmla="val 529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3" name="Text 20"/>
          <p:cNvSpPr/>
          <p:nvPr/>
        </p:nvSpPr>
        <p:spPr>
          <a:xfrm>
            <a:off x="896112" y="4133088"/>
            <a:ext cx="2103120" cy="365760"/>
          </a:xfrm>
          <a:prstGeom prst="rect">
            <a:avLst/>
          </a:prstGeom>
          <a:noFill/>
          <a:ln/>
        </p:spPr>
        <p:txBody>
          <a:bodyPr wrap="square" lIns="0" tIns="0" rIns="0" bIns="0" rtlCol="0" anchor="ctr"/>
          <a:lstStyle/>
          <a:p>
            <a:pPr indent="0" marL="0">
              <a:buNone/>
            </a:pPr>
            <a:r>
              <a:rPr lang="en-US" sz="2200" b="1" dirty="0">
                <a:solidFill>
                  <a:srgbClr val="1A3884"/>
                </a:solidFill>
                <a:latin typeface="Calibri" pitchFamily="34" charset="0"/>
                <a:ea typeface="Calibri" pitchFamily="34" charset="-122"/>
                <a:cs typeface="Calibri" pitchFamily="34" charset="-120"/>
              </a:rPr>
              <a:t>PEQ</a:t>
            </a:r>
            <a:endParaRPr lang="en-US" sz="2200" dirty="0"/>
          </a:p>
        </p:txBody>
      </p:sp>
      <p:sp>
        <p:nvSpPr>
          <p:cNvPr id="24" name="Text 21"/>
          <p:cNvSpPr/>
          <p:nvPr/>
        </p:nvSpPr>
        <p:spPr>
          <a:xfrm>
            <a:off x="896112" y="4517136"/>
            <a:ext cx="21031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Professional Execution</a:t>
            </a:r>
            <a:endParaRPr lang="en-US" sz="1250" dirty="0"/>
          </a:p>
        </p:txBody>
      </p:sp>
      <p:sp>
        <p:nvSpPr>
          <p:cNvPr id="25" name="Text 22"/>
          <p:cNvSpPr/>
          <p:nvPr/>
        </p:nvSpPr>
        <p:spPr>
          <a:xfrm>
            <a:off x="896112" y="4828032"/>
            <a:ext cx="2103120" cy="548640"/>
          </a:xfrm>
          <a:prstGeom prst="rect">
            <a:avLst/>
          </a:prstGeom>
          <a:noFill/>
          <a:ln/>
        </p:spPr>
        <p:txBody>
          <a:bodyPr wrap="square" lIns="0" tIns="0" rIns="0" bIns="0" rtlCol="0" anchor="t"/>
          <a:lstStyle/>
          <a:p>
            <a:pPr algn="l" indent="0" marL="0">
              <a:lnSpc>
                <a:spcPct val="112000"/>
              </a:lnSpc>
              <a:buNone/>
            </a:pPr>
            <a:r>
              <a:rPr lang="en-US" sz="1050" dirty="0">
                <a:solidFill>
                  <a:srgbClr val="64748B"/>
                </a:solidFill>
                <a:latin typeface="Calibri" pitchFamily="34" charset="0"/>
                <a:ea typeface="Calibri" pitchFamily="34" charset="-122"/>
                <a:cs typeface="Calibri" pitchFamily="34" charset="-120"/>
              </a:rPr>
              <a:t>Work ethic, reliability and delivery.</a:t>
            </a:r>
            <a:endParaRPr lang="en-US" sz="1050" dirty="0"/>
          </a:p>
        </p:txBody>
      </p:sp>
      <p:sp>
        <p:nvSpPr>
          <p:cNvPr id="26" name="Shape 23"/>
          <p:cNvSpPr/>
          <p:nvPr/>
        </p:nvSpPr>
        <p:spPr>
          <a:xfrm>
            <a:off x="3438144" y="3931920"/>
            <a:ext cx="2578608" cy="1554480"/>
          </a:xfrm>
          <a:prstGeom prst="roundRect">
            <a:avLst>
              <a:gd name="adj" fmla="val 529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7" name="Text 24"/>
          <p:cNvSpPr/>
          <p:nvPr/>
        </p:nvSpPr>
        <p:spPr>
          <a:xfrm>
            <a:off x="3694176" y="4133088"/>
            <a:ext cx="2103120" cy="365760"/>
          </a:xfrm>
          <a:prstGeom prst="rect">
            <a:avLst/>
          </a:prstGeom>
          <a:noFill/>
          <a:ln/>
        </p:spPr>
        <p:txBody>
          <a:bodyPr wrap="square" lIns="0" tIns="0" rIns="0" bIns="0" rtlCol="0" anchor="ctr"/>
          <a:lstStyle/>
          <a:p>
            <a:pPr indent="0" marL="0">
              <a:buNone/>
            </a:pPr>
            <a:r>
              <a:rPr lang="en-US" sz="2200" b="1" dirty="0">
                <a:solidFill>
                  <a:srgbClr val="1A3884"/>
                </a:solidFill>
                <a:latin typeface="Calibri" pitchFamily="34" charset="0"/>
                <a:ea typeface="Calibri" pitchFamily="34" charset="-122"/>
                <a:cs typeface="Calibri" pitchFamily="34" charset="-120"/>
              </a:rPr>
              <a:t>DAQ</a:t>
            </a:r>
            <a:endParaRPr lang="en-US" sz="2200" dirty="0"/>
          </a:p>
        </p:txBody>
      </p:sp>
      <p:sp>
        <p:nvSpPr>
          <p:cNvPr id="28" name="Text 25"/>
          <p:cNvSpPr/>
          <p:nvPr/>
        </p:nvSpPr>
        <p:spPr>
          <a:xfrm>
            <a:off x="3694176" y="4517136"/>
            <a:ext cx="21031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Digital &amp; AI Literacy</a:t>
            </a:r>
            <a:endParaRPr lang="en-US" sz="1250" dirty="0"/>
          </a:p>
        </p:txBody>
      </p:sp>
      <p:sp>
        <p:nvSpPr>
          <p:cNvPr id="29" name="Text 26"/>
          <p:cNvSpPr/>
          <p:nvPr/>
        </p:nvSpPr>
        <p:spPr>
          <a:xfrm>
            <a:off x="3694176" y="4828032"/>
            <a:ext cx="2103120" cy="548640"/>
          </a:xfrm>
          <a:prstGeom prst="rect">
            <a:avLst/>
          </a:prstGeom>
          <a:noFill/>
          <a:ln/>
        </p:spPr>
        <p:txBody>
          <a:bodyPr wrap="square" lIns="0" tIns="0" rIns="0" bIns="0" rtlCol="0" anchor="t"/>
          <a:lstStyle/>
          <a:p>
            <a:pPr algn="l" indent="0" marL="0">
              <a:lnSpc>
                <a:spcPct val="112000"/>
              </a:lnSpc>
              <a:buNone/>
            </a:pPr>
            <a:r>
              <a:rPr lang="en-US" sz="1050" dirty="0">
                <a:solidFill>
                  <a:srgbClr val="64748B"/>
                </a:solidFill>
                <a:latin typeface="Calibri" pitchFamily="34" charset="0"/>
                <a:ea typeface="Calibri" pitchFamily="34" charset="-122"/>
                <a:cs typeface="Calibri" pitchFamily="34" charset="-120"/>
              </a:rPr>
              <a:t>Technology proficiency and AI readiness.</a:t>
            </a:r>
            <a:endParaRPr lang="en-US" sz="1050" dirty="0"/>
          </a:p>
        </p:txBody>
      </p:sp>
      <p:sp>
        <p:nvSpPr>
          <p:cNvPr id="30" name="Shape 27"/>
          <p:cNvSpPr/>
          <p:nvPr/>
        </p:nvSpPr>
        <p:spPr>
          <a:xfrm>
            <a:off x="6236208" y="3931920"/>
            <a:ext cx="2578608" cy="1554480"/>
          </a:xfrm>
          <a:prstGeom prst="roundRect">
            <a:avLst>
              <a:gd name="adj" fmla="val 529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1" name="Text 28"/>
          <p:cNvSpPr/>
          <p:nvPr/>
        </p:nvSpPr>
        <p:spPr>
          <a:xfrm>
            <a:off x="6492240" y="4133088"/>
            <a:ext cx="2103120" cy="365760"/>
          </a:xfrm>
          <a:prstGeom prst="rect">
            <a:avLst/>
          </a:prstGeom>
          <a:noFill/>
          <a:ln/>
        </p:spPr>
        <p:txBody>
          <a:bodyPr wrap="square" lIns="0" tIns="0" rIns="0" bIns="0" rtlCol="0" anchor="ctr"/>
          <a:lstStyle/>
          <a:p>
            <a:pPr indent="0" marL="0">
              <a:buNone/>
            </a:pPr>
            <a:r>
              <a:rPr lang="en-US" sz="2200" b="1" dirty="0">
                <a:solidFill>
                  <a:srgbClr val="1A3884"/>
                </a:solidFill>
                <a:latin typeface="Calibri" pitchFamily="34" charset="0"/>
                <a:ea typeface="Calibri" pitchFamily="34" charset="-122"/>
                <a:cs typeface="Calibri" pitchFamily="34" charset="-120"/>
              </a:rPr>
              <a:t>SEQ</a:t>
            </a:r>
            <a:endParaRPr lang="en-US" sz="2200" dirty="0"/>
          </a:p>
        </p:txBody>
      </p:sp>
      <p:sp>
        <p:nvSpPr>
          <p:cNvPr id="32" name="Text 29"/>
          <p:cNvSpPr/>
          <p:nvPr/>
        </p:nvSpPr>
        <p:spPr>
          <a:xfrm>
            <a:off x="6492240" y="4517136"/>
            <a:ext cx="21031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Social &amp; Emotional</a:t>
            </a:r>
            <a:endParaRPr lang="en-US" sz="1250" dirty="0"/>
          </a:p>
        </p:txBody>
      </p:sp>
      <p:sp>
        <p:nvSpPr>
          <p:cNvPr id="33" name="Text 30"/>
          <p:cNvSpPr/>
          <p:nvPr/>
        </p:nvSpPr>
        <p:spPr>
          <a:xfrm>
            <a:off x="6492240" y="4828032"/>
            <a:ext cx="2103120" cy="548640"/>
          </a:xfrm>
          <a:prstGeom prst="rect">
            <a:avLst/>
          </a:prstGeom>
          <a:noFill/>
          <a:ln/>
        </p:spPr>
        <p:txBody>
          <a:bodyPr wrap="square" lIns="0" tIns="0" rIns="0" bIns="0" rtlCol="0" anchor="t"/>
          <a:lstStyle/>
          <a:p>
            <a:pPr algn="l" indent="0" marL="0">
              <a:lnSpc>
                <a:spcPct val="112000"/>
              </a:lnSpc>
              <a:buNone/>
            </a:pPr>
            <a:r>
              <a:rPr lang="en-US" sz="1050" dirty="0">
                <a:solidFill>
                  <a:srgbClr val="64748B"/>
                </a:solidFill>
                <a:latin typeface="Calibri" pitchFamily="34" charset="0"/>
                <a:ea typeface="Calibri" pitchFamily="34" charset="-122"/>
                <a:cs typeface="Calibri" pitchFamily="34" charset="-120"/>
              </a:rPr>
              <a:t>Emotional intelligence and social awareness.</a:t>
            </a:r>
            <a:endParaRPr lang="en-US" sz="1050" dirty="0"/>
          </a:p>
        </p:txBody>
      </p:sp>
      <p:sp>
        <p:nvSpPr>
          <p:cNvPr id="34" name="Shape 31"/>
          <p:cNvSpPr/>
          <p:nvPr/>
        </p:nvSpPr>
        <p:spPr>
          <a:xfrm>
            <a:off x="9034272" y="3931920"/>
            <a:ext cx="2578608" cy="1554480"/>
          </a:xfrm>
          <a:prstGeom prst="roundRect">
            <a:avLst>
              <a:gd name="adj" fmla="val 5294"/>
            </a:avLst>
          </a:prstGeom>
          <a:solidFill>
            <a:srgbClr val="EEF2FB"/>
          </a:solidFill>
          <a:ln w="12700">
            <a:solidFill>
              <a:srgbClr val="D3DEF3"/>
            </a:solidFill>
            <a:prstDash val="solid"/>
          </a:ln>
          <a:effectLst>
            <a:outerShdw sx="100000" sy="100000" kx="0" ky="0" algn="bl" rotWithShape="0" blurRad="127000" dist="25400" dir="5400000">
              <a:srgbClr val="0E2136">
                <a:alpha val="10000"/>
              </a:srgbClr>
            </a:outerShdw>
          </a:effectLst>
        </p:spPr>
      </p:sp>
      <p:sp>
        <p:nvSpPr>
          <p:cNvPr id="35" name="Text 32"/>
          <p:cNvSpPr/>
          <p:nvPr/>
        </p:nvSpPr>
        <p:spPr>
          <a:xfrm>
            <a:off x="9290304" y="4133088"/>
            <a:ext cx="2103120" cy="548640"/>
          </a:xfrm>
          <a:prstGeom prst="rect">
            <a:avLst/>
          </a:prstGeom>
          <a:noFill/>
          <a:ln/>
        </p:spPr>
        <p:txBody>
          <a:bodyPr wrap="square" lIns="0" tIns="0" rIns="0" bIns="0" rtlCol="0" anchor="ctr"/>
          <a:lstStyle/>
          <a:p>
            <a:pPr indent="0" marL="0">
              <a:lnSpc>
                <a:spcPct val="110000"/>
              </a:lnSpc>
              <a:buNone/>
            </a:pPr>
            <a:r>
              <a:rPr lang="en-US" sz="1400" b="1" dirty="0">
                <a:solidFill>
                  <a:srgbClr val="1A3884"/>
                </a:solidFill>
                <a:latin typeface="Calibri" pitchFamily="34" charset="0"/>
                <a:ea typeface="Calibri" pitchFamily="34" charset="-122"/>
                <a:cs typeface="Calibri" pitchFamily="34" charset="-120"/>
              </a:rPr>
              <a:t>Measured, not</a:t>
            </a:r>
            <a:endParaRPr lang="en-US" sz="1400" dirty="0"/>
          </a:p>
          <a:p>
            <a:pPr indent="0" marL="0">
              <a:lnSpc>
                <a:spcPct val="110000"/>
              </a:lnSpc>
              <a:buNone/>
            </a:pPr>
            <a:r>
              <a:rPr lang="en-US" sz="1400" b="1" dirty="0">
                <a:solidFill>
                  <a:srgbClr val="1A3884"/>
                </a:solidFill>
                <a:latin typeface="Calibri" pitchFamily="34" charset="0"/>
                <a:ea typeface="Calibri" pitchFamily="34" charset="-122"/>
                <a:cs typeface="Calibri" pitchFamily="34" charset="-120"/>
              </a:rPr>
              <a:t>self-reported</a:t>
            </a:r>
            <a:endParaRPr lang="en-US" sz="1400" dirty="0"/>
          </a:p>
        </p:txBody>
      </p:sp>
      <p:sp>
        <p:nvSpPr>
          <p:cNvPr id="36" name="Text 33"/>
          <p:cNvSpPr/>
          <p:nvPr/>
        </p:nvSpPr>
        <p:spPr>
          <a:xfrm>
            <a:off x="9290304" y="4773168"/>
            <a:ext cx="2103120" cy="640080"/>
          </a:xfrm>
          <a:prstGeom prst="rect">
            <a:avLst/>
          </a:prstGeom>
          <a:noFill/>
          <a:ln/>
        </p:spPr>
        <p:txBody>
          <a:bodyPr wrap="square" lIns="0" tIns="0" rIns="0" bIns="0" rtlCol="0" anchor="t"/>
          <a:lstStyle/>
          <a:p>
            <a:pPr algn="l" indent="0" marL="0">
              <a:lnSpc>
                <a:spcPct val="112000"/>
              </a:lnSpc>
              <a:buNone/>
            </a:pPr>
            <a:r>
              <a:rPr lang="en-US" sz="1050" dirty="0">
                <a:solidFill>
                  <a:srgbClr val="334155"/>
                </a:solidFill>
                <a:latin typeface="Calibri" pitchFamily="34" charset="0"/>
                <a:ea typeface="Calibri" pitchFamily="34" charset="-122"/>
                <a:cs typeface="Calibri" pitchFamily="34" charset="-120"/>
              </a:rPr>
              <a:t>Questions are stratified by quotient and difficulty, then weighted per stage.</a:t>
            </a:r>
            <a:endParaRPr lang="en-US" sz="1050" dirty="0"/>
          </a:p>
        </p:txBody>
      </p:sp>
      <p:sp>
        <p:nvSpPr>
          <p:cNvPr id="37" name="Text 34"/>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38" name="Text 35"/>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ASSESSMENT &amp; INTEGRITY</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The assessment ladder</a:t>
            </a:r>
            <a:endParaRPr lang="en-US" sz="3200" dirty="0"/>
          </a:p>
        </p:txBody>
      </p:sp>
      <p:sp>
        <p:nvSpPr>
          <p:cNvPr id="5" name="Shape 2"/>
          <p:cNvSpPr/>
          <p:nvPr/>
        </p:nvSpPr>
        <p:spPr>
          <a:xfrm>
            <a:off x="640080" y="1572768"/>
            <a:ext cx="2578608" cy="2148840"/>
          </a:xfrm>
          <a:prstGeom prst="roundRect">
            <a:avLst>
              <a:gd name="adj" fmla="val 383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6" name="Shape 3"/>
          <p:cNvSpPr/>
          <p:nvPr/>
        </p:nvSpPr>
        <p:spPr>
          <a:xfrm>
            <a:off x="896112" y="1810512"/>
            <a:ext cx="566928" cy="566928"/>
          </a:xfrm>
          <a:prstGeom prst="ellipse">
            <a:avLst/>
          </a:prstGeom>
          <a:solidFill>
            <a:srgbClr val="1A3884"/>
          </a:solidFill>
          <a:ln w="12700">
            <a:solidFill>
              <a:srgbClr val="1A3884"/>
            </a:solidFill>
            <a:prstDash val="solid"/>
          </a:ln>
        </p:spPr>
      </p:sp>
      <p:sp>
        <p:nvSpPr>
          <p:cNvPr id="7" name="Text 4"/>
          <p:cNvSpPr/>
          <p:nvPr/>
        </p:nvSpPr>
        <p:spPr>
          <a:xfrm>
            <a:off x="896112" y="181051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T1</a:t>
            </a:r>
            <a:endParaRPr lang="en-US" sz="1500" dirty="0"/>
          </a:p>
        </p:txBody>
      </p:sp>
      <p:sp>
        <p:nvSpPr>
          <p:cNvPr id="8" name="Text 5"/>
          <p:cNvSpPr/>
          <p:nvPr/>
        </p:nvSpPr>
        <p:spPr>
          <a:xfrm>
            <a:off x="896112" y="2487168"/>
            <a:ext cx="210312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Baseline</a:t>
            </a:r>
            <a:endParaRPr lang="en-US" sz="1400" dirty="0"/>
          </a:p>
        </p:txBody>
      </p:sp>
      <p:sp>
        <p:nvSpPr>
          <p:cNvPr id="9" name="Text 6"/>
          <p:cNvSpPr/>
          <p:nvPr/>
        </p:nvSpPr>
        <p:spPr>
          <a:xfrm>
            <a:off x="896112" y="2798064"/>
            <a:ext cx="2103120" cy="914400"/>
          </a:xfrm>
          <a:prstGeom prst="rect">
            <a:avLst/>
          </a:prstGeom>
          <a:noFill/>
          <a:ln/>
        </p:spPr>
        <p:txBody>
          <a:bodyPr wrap="square" lIns="0" tIns="0" rIns="0" bIns="0" rtlCol="0" anchor="t"/>
          <a:lstStyle/>
          <a:p>
            <a:pPr algn="l" indent="0" marL="0">
              <a:lnSpc>
                <a:spcPct val="115000"/>
              </a:lnSpc>
              <a:buNone/>
            </a:pPr>
            <a:r>
              <a:rPr lang="en-US" sz="1100" dirty="0">
                <a:solidFill>
                  <a:srgbClr val="64748B"/>
                </a:solidFill>
                <a:latin typeface="Calibri" pitchFamily="34" charset="0"/>
                <a:ea typeface="Calibri" pitchFamily="34" charset="-122"/>
                <a:cs typeface="Calibri" pitchFamily="34" charset="-120"/>
              </a:rPr>
              <a:t>Taken before anything unlocks. 36 questions, stratified across six quotients and three difficulty levels.</a:t>
            </a:r>
            <a:endParaRPr lang="en-US" sz="1100" dirty="0"/>
          </a:p>
        </p:txBody>
      </p:sp>
      <p:sp>
        <p:nvSpPr>
          <p:cNvPr id="10" name="Shape 7"/>
          <p:cNvSpPr/>
          <p:nvPr/>
        </p:nvSpPr>
        <p:spPr>
          <a:xfrm>
            <a:off x="3438144" y="1572768"/>
            <a:ext cx="2578608" cy="2148840"/>
          </a:xfrm>
          <a:prstGeom prst="roundRect">
            <a:avLst>
              <a:gd name="adj" fmla="val 383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1" name="Shape 8"/>
          <p:cNvSpPr/>
          <p:nvPr/>
        </p:nvSpPr>
        <p:spPr>
          <a:xfrm>
            <a:off x="3694176" y="1810512"/>
            <a:ext cx="566928" cy="566928"/>
          </a:xfrm>
          <a:prstGeom prst="ellipse">
            <a:avLst/>
          </a:prstGeom>
          <a:solidFill>
            <a:srgbClr val="1A3884"/>
          </a:solidFill>
          <a:ln w="12700">
            <a:solidFill>
              <a:srgbClr val="1A3884"/>
            </a:solidFill>
            <a:prstDash val="solid"/>
          </a:ln>
        </p:spPr>
      </p:sp>
      <p:sp>
        <p:nvSpPr>
          <p:cNvPr id="12" name="Text 9"/>
          <p:cNvSpPr/>
          <p:nvPr/>
        </p:nvSpPr>
        <p:spPr>
          <a:xfrm>
            <a:off x="3694176" y="181051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T2</a:t>
            </a:r>
            <a:endParaRPr lang="en-US" sz="1500" dirty="0"/>
          </a:p>
        </p:txBody>
      </p:sp>
      <p:sp>
        <p:nvSpPr>
          <p:cNvPr id="13" name="Text 10"/>
          <p:cNvSpPr/>
          <p:nvPr/>
        </p:nvSpPr>
        <p:spPr>
          <a:xfrm>
            <a:off x="3694176" y="2487168"/>
            <a:ext cx="210312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Stage 1 gate</a:t>
            </a:r>
            <a:endParaRPr lang="en-US" sz="1400" dirty="0"/>
          </a:p>
        </p:txBody>
      </p:sp>
      <p:sp>
        <p:nvSpPr>
          <p:cNvPr id="14" name="Text 11"/>
          <p:cNvSpPr/>
          <p:nvPr/>
        </p:nvSpPr>
        <p:spPr>
          <a:xfrm>
            <a:off x="3694176" y="2798064"/>
            <a:ext cx="2103120" cy="914400"/>
          </a:xfrm>
          <a:prstGeom prst="rect">
            <a:avLst/>
          </a:prstGeom>
          <a:noFill/>
          <a:ln/>
        </p:spPr>
        <p:txBody>
          <a:bodyPr wrap="square" lIns="0" tIns="0" rIns="0" bIns="0" rtlCol="0" anchor="t"/>
          <a:lstStyle/>
          <a:p>
            <a:pPr algn="l" indent="0" marL="0">
              <a:lnSpc>
                <a:spcPct val="115000"/>
              </a:lnSpc>
              <a:buNone/>
            </a:pPr>
            <a:r>
              <a:rPr lang="en-US" sz="1100" dirty="0">
                <a:solidFill>
                  <a:srgbClr val="64748B"/>
                </a:solidFill>
                <a:latin typeface="Calibri" pitchFamily="34" charset="0"/>
                <a:ea typeface="Calibri" pitchFamily="34" charset="-122"/>
                <a:cs typeface="Calibri" pitchFamily="34" charset="-120"/>
              </a:rPr>
              <a:t>Cleared after the Capacity courses. Opens Stage 2 — Capability.</a:t>
            </a:r>
            <a:endParaRPr lang="en-US" sz="1100" dirty="0"/>
          </a:p>
        </p:txBody>
      </p:sp>
      <p:sp>
        <p:nvSpPr>
          <p:cNvPr id="15" name="Shape 12"/>
          <p:cNvSpPr/>
          <p:nvPr/>
        </p:nvSpPr>
        <p:spPr>
          <a:xfrm>
            <a:off x="6236208" y="1572768"/>
            <a:ext cx="2578608" cy="2148840"/>
          </a:xfrm>
          <a:prstGeom prst="roundRect">
            <a:avLst>
              <a:gd name="adj" fmla="val 383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6" name="Shape 13"/>
          <p:cNvSpPr/>
          <p:nvPr/>
        </p:nvSpPr>
        <p:spPr>
          <a:xfrm>
            <a:off x="6492240" y="1810512"/>
            <a:ext cx="566928" cy="566928"/>
          </a:xfrm>
          <a:prstGeom prst="ellipse">
            <a:avLst/>
          </a:prstGeom>
          <a:solidFill>
            <a:srgbClr val="1A3884"/>
          </a:solidFill>
          <a:ln w="12700">
            <a:solidFill>
              <a:srgbClr val="1A3884"/>
            </a:solidFill>
            <a:prstDash val="solid"/>
          </a:ln>
        </p:spPr>
      </p:sp>
      <p:sp>
        <p:nvSpPr>
          <p:cNvPr id="17" name="Text 14"/>
          <p:cNvSpPr/>
          <p:nvPr/>
        </p:nvSpPr>
        <p:spPr>
          <a:xfrm>
            <a:off x="6492240" y="181051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T3</a:t>
            </a:r>
            <a:endParaRPr lang="en-US" sz="1500" dirty="0"/>
          </a:p>
        </p:txBody>
      </p:sp>
      <p:sp>
        <p:nvSpPr>
          <p:cNvPr id="18" name="Text 15"/>
          <p:cNvSpPr/>
          <p:nvPr/>
        </p:nvSpPr>
        <p:spPr>
          <a:xfrm>
            <a:off x="6492240" y="2487168"/>
            <a:ext cx="210312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Stage 2 gate</a:t>
            </a:r>
            <a:endParaRPr lang="en-US" sz="1400" dirty="0"/>
          </a:p>
        </p:txBody>
      </p:sp>
      <p:sp>
        <p:nvSpPr>
          <p:cNvPr id="19" name="Text 16"/>
          <p:cNvSpPr/>
          <p:nvPr/>
        </p:nvSpPr>
        <p:spPr>
          <a:xfrm>
            <a:off x="6492240" y="2798064"/>
            <a:ext cx="2103120" cy="914400"/>
          </a:xfrm>
          <a:prstGeom prst="rect">
            <a:avLst/>
          </a:prstGeom>
          <a:noFill/>
          <a:ln/>
        </p:spPr>
        <p:txBody>
          <a:bodyPr wrap="square" lIns="0" tIns="0" rIns="0" bIns="0" rtlCol="0" anchor="t"/>
          <a:lstStyle/>
          <a:p>
            <a:pPr algn="l" indent="0" marL="0">
              <a:lnSpc>
                <a:spcPct val="115000"/>
              </a:lnSpc>
              <a:buNone/>
            </a:pPr>
            <a:r>
              <a:rPr lang="en-US" sz="1100" dirty="0">
                <a:solidFill>
                  <a:srgbClr val="64748B"/>
                </a:solidFill>
                <a:latin typeface="Calibri" pitchFamily="34" charset="0"/>
                <a:ea typeface="Calibri" pitchFamily="34" charset="-122"/>
                <a:cs typeface="Calibri" pitchFamily="34" charset="-120"/>
              </a:rPr>
              <a:t>Cleared after the Capability courses. Opens Stage 3 — Leadership.</a:t>
            </a:r>
            <a:endParaRPr lang="en-US" sz="1100" dirty="0"/>
          </a:p>
        </p:txBody>
      </p:sp>
      <p:sp>
        <p:nvSpPr>
          <p:cNvPr id="20" name="Shape 17"/>
          <p:cNvSpPr/>
          <p:nvPr/>
        </p:nvSpPr>
        <p:spPr>
          <a:xfrm>
            <a:off x="9034272" y="1572768"/>
            <a:ext cx="2578608" cy="2148840"/>
          </a:xfrm>
          <a:prstGeom prst="roundRect">
            <a:avLst>
              <a:gd name="adj" fmla="val 383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1" name="Shape 18"/>
          <p:cNvSpPr/>
          <p:nvPr/>
        </p:nvSpPr>
        <p:spPr>
          <a:xfrm>
            <a:off x="9290304" y="1810512"/>
            <a:ext cx="566928" cy="566928"/>
          </a:xfrm>
          <a:prstGeom prst="ellipse">
            <a:avLst/>
          </a:prstGeom>
          <a:solidFill>
            <a:srgbClr val="1A3884"/>
          </a:solidFill>
          <a:ln w="12700">
            <a:solidFill>
              <a:srgbClr val="1A3884"/>
            </a:solidFill>
            <a:prstDash val="solid"/>
          </a:ln>
        </p:spPr>
      </p:sp>
      <p:sp>
        <p:nvSpPr>
          <p:cNvPr id="22" name="Text 19"/>
          <p:cNvSpPr/>
          <p:nvPr/>
        </p:nvSpPr>
        <p:spPr>
          <a:xfrm>
            <a:off x="9290304" y="181051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T4</a:t>
            </a:r>
            <a:endParaRPr lang="en-US" sz="1500" dirty="0"/>
          </a:p>
        </p:txBody>
      </p:sp>
      <p:sp>
        <p:nvSpPr>
          <p:cNvPr id="23" name="Text 20"/>
          <p:cNvSpPr/>
          <p:nvPr/>
        </p:nvSpPr>
        <p:spPr>
          <a:xfrm>
            <a:off x="9290304" y="2487168"/>
            <a:ext cx="210312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Final</a:t>
            </a:r>
            <a:endParaRPr lang="en-US" sz="1400" dirty="0"/>
          </a:p>
        </p:txBody>
      </p:sp>
      <p:sp>
        <p:nvSpPr>
          <p:cNvPr id="24" name="Text 21"/>
          <p:cNvSpPr/>
          <p:nvPr/>
        </p:nvSpPr>
        <p:spPr>
          <a:xfrm>
            <a:off x="9290304" y="2798064"/>
            <a:ext cx="2103120" cy="914400"/>
          </a:xfrm>
          <a:prstGeom prst="rect">
            <a:avLst/>
          </a:prstGeom>
          <a:noFill/>
          <a:ln/>
        </p:spPr>
        <p:txBody>
          <a:bodyPr wrap="square" lIns="0" tIns="0" rIns="0" bIns="0" rtlCol="0" anchor="t"/>
          <a:lstStyle/>
          <a:p>
            <a:pPr algn="l" indent="0" marL="0">
              <a:lnSpc>
                <a:spcPct val="115000"/>
              </a:lnSpc>
              <a:buNone/>
            </a:pPr>
            <a:r>
              <a:rPr lang="en-US" sz="1100" dirty="0">
                <a:solidFill>
                  <a:srgbClr val="64748B"/>
                </a:solidFill>
                <a:latin typeface="Calibri" pitchFamily="34" charset="0"/>
                <a:ea typeface="Calibri" pitchFamily="34" charset="-122"/>
                <a:cs typeface="Calibri" pitchFamily="34" charset="-120"/>
              </a:rPr>
              <a:t>The full seven-quotient measure, including SEQ. Feeds the skills passport.</a:t>
            </a:r>
            <a:endParaRPr lang="en-US" sz="1100" dirty="0"/>
          </a:p>
        </p:txBody>
      </p:sp>
      <p:sp>
        <p:nvSpPr>
          <p:cNvPr id="25" name="Shape 22"/>
          <p:cNvSpPr/>
          <p:nvPr/>
        </p:nvSpPr>
        <p:spPr>
          <a:xfrm>
            <a:off x="640080" y="3931920"/>
            <a:ext cx="5394960" cy="1874520"/>
          </a:xfrm>
          <a:prstGeom prst="roundRect">
            <a:avLst>
              <a:gd name="adj" fmla="val 4390"/>
            </a:avLst>
          </a:prstGeom>
          <a:solidFill>
            <a:srgbClr val="0E2136"/>
          </a:solidFill>
          <a:ln w="12700">
            <a:solidFill>
              <a:srgbClr val="0E2136"/>
            </a:solidFill>
            <a:prstDash val="solid"/>
          </a:ln>
          <a:effectLst>
            <a:outerShdw sx="100000" sy="100000" kx="0" ky="0" algn="bl" rotWithShape="0" blurRad="127000" dist="25400" dir="5400000">
              <a:srgbClr val="0E2136">
                <a:alpha val="10000"/>
              </a:srgbClr>
            </a:outerShdw>
          </a:effectLst>
        </p:spPr>
      </p:sp>
      <p:sp>
        <p:nvSpPr>
          <p:cNvPr id="26" name="Text 23"/>
          <p:cNvSpPr/>
          <p:nvPr/>
        </p:nvSpPr>
        <p:spPr>
          <a:xfrm>
            <a:off x="932688" y="4160520"/>
            <a:ext cx="4754880" cy="2926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AI proctoring</a:t>
            </a:r>
            <a:endParaRPr lang="en-US" sz="1700" dirty="0"/>
          </a:p>
        </p:txBody>
      </p:sp>
      <p:sp>
        <p:nvSpPr>
          <p:cNvPr id="27" name="Text 24"/>
          <p:cNvSpPr/>
          <p:nvPr/>
        </p:nvSpPr>
        <p:spPr>
          <a:xfrm>
            <a:off x="932688" y="4572000"/>
            <a:ext cx="4846320"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150" dirty="0">
                <a:solidFill>
                  <a:srgbClr val="C6D2E5"/>
                </a:solidFill>
                <a:latin typeface="Calibri" pitchFamily="34" charset="0"/>
                <a:ea typeface="Calibri" pitchFamily="34" charset="-122"/>
                <a:cs typeface="Calibri" pitchFamily="34" charset="-120"/>
              </a:rPr>
              <a:t>Camera, focus and tab-switch events are scored, not just counted.</a:t>
            </a:r>
            <a:endParaRPr lang="en-US" sz="1150" dirty="0"/>
          </a:p>
          <a:p>
            <a:pPr marL="342900" indent="-342900">
              <a:lnSpc>
                <a:spcPct val="115000"/>
              </a:lnSpc>
              <a:spcAft>
                <a:spcPts val="600"/>
              </a:spcAft>
              <a:buSzPct val="100000"/>
              <a:buChar char="•"/>
            </a:pPr>
            <a:r>
              <a:rPr lang="en-US" sz="1150" dirty="0">
                <a:solidFill>
                  <a:srgbClr val="C6D2E5"/>
                </a:solidFill>
                <a:latin typeface="Calibri" pitchFamily="34" charset="0"/>
                <a:ea typeface="Calibri" pitchFamily="34" charset="-122"/>
                <a:cs typeface="Calibri" pitchFamily="34" charset="-120"/>
              </a:rPr>
              <a:t>The candidate is never interrupted — the server decides once, at submit.</a:t>
            </a:r>
            <a:endParaRPr lang="en-US" sz="1150" dirty="0"/>
          </a:p>
          <a:p>
            <a:pPr marL="342900" indent="-342900">
              <a:lnSpc>
                <a:spcPct val="115000"/>
              </a:lnSpc>
              <a:spcAft>
                <a:spcPts val="600"/>
              </a:spcAft>
              <a:buSzPct val="100000"/>
              <a:buChar char="•"/>
            </a:pPr>
            <a:r>
              <a:rPr lang="en-US" sz="1150" dirty="0">
                <a:solidFill>
                  <a:srgbClr val="C6D2E5"/>
                </a:solidFill>
                <a:latin typeface="Calibri" pitchFamily="34" charset="0"/>
                <a:ea typeface="Calibri" pitchFamily="34" charset="-122"/>
                <a:cs typeface="Calibri" pitchFamily="34" charset="-120"/>
              </a:rPr>
              <a:t>A flagged attempt is marked unverified; up to three re-sits, each with a different paper.</a:t>
            </a:r>
            <a:endParaRPr lang="en-US" sz="1150" dirty="0"/>
          </a:p>
        </p:txBody>
      </p:sp>
      <p:sp>
        <p:nvSpPr>
          <p:cNvPr id="28" name="Shape 25"/>
          <p:cNvSpPr/>
          <p:nvPr/>
        </p:nvSpPr>
        <p:spPr>
          <a:xfrm>
            <a:off x="6355080" y="3931920"/>
            <a:ext cx="5193792" cy="1874520"/>
          </a:xfrm>
          <a:prstGeom prst="roundRect">
            <a:avLst>
              <a:gd name="adj" fmla="val 439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9" name="Text 26"/>
          <p:cNvSpPr/>
          <p:nvPr/>
        </p:nvSpPr>
        <p:spPr>
          <a:xfrm>
            <a:off x="6647688" y="4160520"/>
            <a:ext cx="4572000" cy="292608"/>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What stops a shortcut</a:t>
            </a:r>
            <a:endParaRPr lang="en-US" sz="1700" dirty="0"/>
          </a:p>
        </p:txBody>
      </p:sp>
      <p:sp>
        <p:nvSpPr>
          <p:cNvPr id="30" name="Text 27"/>
          <p:cNvSpPr/>
          <p:nvPr/>
        </p:nvSpPr>
        <p:spPr>
          <a:xfrm>
            <a:off x="6647688" y="4572000"/>
            <a:ext cx="4663440"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150" dirty="0">
                <a:solidFill>
                  <a:srgbClr val="334155"/>
                </a:solidFill>
                <a:latin typeface="Calibri" pitchFamily="34" charset="0"/>
                <a:ea typeface="Calibri" pitchFamily="34" charset="-122"/>
                <a:cs typeface="Calibri" pitchFamily="34" charset="-120"/>
              </a:rPr>
              <a:t>Question order is shuffled per candidate; retries draw a fresh set.</a:t>
            </a:r>
            <a:endParaRPr lang="en-US" sz="1150" dirty="0"/>
          </a:p>
          <a:p>
            <a:pPr marL="342900" indent="-342900">
              <a:lnSpc>
                <a:spcPct val="115000"/>
              </a:lnSpc>
              <a:spcAft>
                <a:spcPts val="600"/>
              </a:spcAft>
              <a:buSzPct val="100000"/>
              <a:buChar char="•"/>
            </a:pPr>
            <a:r>
              <a:rPr lang="en-US" sz="1150" dirty="0">
                <a:solidFill>
                  <a:srgbClr val="334155"/>
                </a:solidFill>
                <a:latin typeface="Calibri" pitchFamily="34" charset="0"/>
                <a:ea typeface="Calibri" pitchFamily="34" charset="-122"/>
                <a:cs typeface="Calibri" pitchFamily="34" charset="-120"/>
              </a:rPr>
              <a:t>Progression gates are enforced on the server, not only in the interface.</a:t>
            </a:r>
            <a:endParaRPr lang="en-US" sz="1150" dirty="0"/>
          </a:p>
          <a:p>
            <a:pPr marL="342900" indent="-342900">
              <a:lnSpc>
                <a:spcPct val="115000"/>
              </a:lnSpc>
              <a:spcAft>
                <a:spcPts val="600"/>
              </a:spcAft>
              <a:buSzPct val="100000"/>
              <a:buChar char="•"/>
            </a:pPr>
            <a:r>
              <a:rPr lang="en-US" sz="1150" dirty="0">
                <a:solidFill>
                  <a:srgbClr val="334155"/>
                </a:solidFill>
                <a:latin typeface="Calibri" pitchFamily="34" charset="0"/>
                <a:ea typeface="Calibri" pitchFamily="34" charset="-122"/>
                <a:cs typeface="Calibri" pitchFamily="34" charset="-120"/>
              </a:rPr>
              <a:t>Each attempt is scoped by its own assessment token and one active session per account.</a:t>
            </a:r>
            <a:endParaRPr lang="en-US" sz="1150" dirty="0"/>
          </a:p>
        </p:txBody>
      </p:sp>
      <p:sp>
        <p:nvSpPr>
          <p:cNvPr id="31" name="Text 28"/>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32" name="Text 29"/>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CURRICULUM</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The learning architecture</a:t>
            </a:r>
            <a:endParaRPr lang="en-US" sz="3200" dirty="0"/>
          </a:p>
        </p:txBody>
      </p:sp>
      <p:sp>
        <p:nvSpPr>
          <p:cNvPr id="5" name="Shape 2"/>
          <p:cNvSpPr/>
          <p:nvPr/>
        </p:nvSpPr>
        <p:spPr>
          <a:xfrm>
            <a:off x="640080" y="1572768"/>
            <a:ext cx="3520440" cy="1572768"/>
          </a:xfrm>
          <a:prstGeom prst="roundRect">
            <a:avLst>
              <a:gd name="adj" fmla="val 5233"/>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6" name="Text 3"/>
          <p:cNvSpPr/>
          <p:nvPr/>
        </p:nvSpPr>
        <p:spPr>
          <a:xfrm>
            <a:off x="932688" y="1755648"/>
            <a:ext cx="2926080" cy="237744"/>
          </a:xfrm>
          <a:prstGeom prst="rect">
            <a:avLst/>
          </a:prstGeom>
          <a:noFill/>
          <a:ln/>
        </p:spPr>
        <p:txBody>
          <a:bodyPr wrap="square" lIns="0" tIns="0" rIns="0" bIns="0" rtlCol="0" anchor="ctr"/>
          <a:lstStyle/>
          <a:p>
            <a:pPr indent="0" marL="0">
              <a:buNone/>
            </a:pPr>
            <a:r>
              <a:rPr lang="en-US" sz="1100" b="1" spc="150" kern="0" dirty="0">
                <a:solidFill>
                  <a:srgbClr val="1A3884"/>
                </a:solidFill>
                <a:latin typeface="Calibri" pitchFamily="34" charset="0"/>
                <a:ea typeface="Calibri" pitchFamily="34" charset="-122"/>
                <a:cs typeface="Calibri" pitchFamily="34" charset="-120"/>
              </a:rPr>
              <a:t>Stage 1</a:t>
            </a:r>
            <a:endParaRPr lang="en-US" sz="1100" dirty="0"/>
          </a:p>
        </p:txBody>
      </p:sp>
      <p:sp>
        <p:nvSpPr>
          <p:cNvPr id="7" name="Text 4"/>
          <p:cNvSpPr/>
          <p:nvPr/>
        </p:nvSpPr>
        <p:spPr>
          <a:xfrm>
            <a:off x="932688" y="2011680"/>
            <a:ext cx="2926080" cy="329184"/>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Capacity</a:t>
            </a:r>
            <a:endParaRPr lang="en-US" sz="1900" dirty="0"/>
          </a:p>
        </p:txBody>
      </p:sp>
      <p:sp>
        <p:nvSpPr>
          <p:cNvPr id="8" name="Text 5"/>
          <p:cNvSpPr/>
          <p:nvPr/>
        </p:nvSpPr>
        <p:spPr>
          <a:xfrm>
            <a:off x="932688" y="2377440"/>
            <a:ext cx="2926080" cy="237744"/>
          </a:xfrm>
          <a:prstGeom prst="rect">
            <a:avLst/>
          </a:prstGeom>
          <a:noFill/>
          <a:ln/>
        </p:spPr>
        <p:txBody>
          <a:bodyPr wrap="square" lIns="0" tIns="0" rIns="0" bIns="0" rtlCol="0" anchor="ctr"/>
          <a:lstStyle/>
          <a:p>
            <a:pPr indent="0" marL="0">
              <a:buNone/>
            </a:pPr>
            <a:r>
              <a:rPr lang="en-US" sz="1150" b="1" dirty="0">
                <a:solidFill>
                  <a:srgbClr val="334155"/>
                </a:solidFill>
                <a:latin typeface="Calibri" pitchFamily="34" charset="0"/>
                <a:ea typeface="Calibri" pitchFamily="34" charset="-122"/>
                <a:cs typeface="Calibri" pitchFamily="34" charset="-120"/>
              </a:rPr>
              <a:t>10 courses  ·  S01–S10</a:t>
            </a:r>
            <a:endParaRPr lang="en-US" sz="1150" dirty="0"/>
          </a:p>
        </p:txBody>
      </p:sp>
      <p:sp>
        <p:nvSpPr>
          <p:cNvPr id="9" name="Text 6"/>
          <p:cNvSpPr/>
          <p:nvPr/>
        </p:nvSpPr>
        <p:spPr>
          <a:xfrm>
            <a:off x="932688" y="2651760"/>
            <a:ext cx="2926080" cy="365760"/>
          </a:xfrm>
          <a:prstGeom prst="rect">
            <a:avLst/>
          </a:prstGeom>
          <a:noFill/>
          <a:ln/>
        </p:spPr>
        <p:txBody>
          <a:bodyPr wrap="square" lIns="0" tIns="0" rIns="0" bIns="0" rtlCol="0" anchor="t"/>
          <a:lstStyle/>
          <a:p>
            <a:pPr algn="l" indent="0" marL="0">
              <a:lnSpc>
                <a:spcPct val="118000"/>
              </a:lnSpc>
              <a:buNone/>
            </a:pPr>
            <a:r>
              <a:rPr lang="en-US" sz="1100" dirty="0">
                <a:solidFill>
                  <a:srgbClr val="64748B"/>
                </a:solidFill>
                <a:latin typeface="Calibri" pitchFamily="34" charset="0"/>
                <a:ea typeface="Calibri" pitchFamily="34" charset="-122"/>
                <a:cs typeface="Calibri" pitchFamily="34" charset="-120"/>
              </a:rPr>
              <a:t>Open from day one.</a:t>
            </a:r>
            <a:endParaRPr lang="en-US" sz="1100" dirty="0"/>
          </a:p>
        </p:txBody>
      </p:sp>
      <p:sp>
        <p:nvSpPr>
          <p:cNvPr id="10" name="Shape 7"/>
          <p:cNvSpPr/>
          <p:nvPr/>
        </p:nvSpPr>
        <p:spPr>
          <a:xfrm>
            <a:off x="4416552" y="1572768"/>
            <a:ext cx="3520440" cy="1572768"/>
          </a:xfrm>
          <a:prstGeom prst="roundRect">
            <a:avLst>
              <a:gd name="adj" fmla="val 5233"/>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1" name="Text 8"/>
          <p:cNvSpPr/>
          <p:nvPr/>
        </p:nvSpPr>
        <p:spPr>
          <a:xfrm>
            <a:off x="4709160" y="1755648"/>
            <a:ext cx="2926080" cy="237744"/>
          </a:xfrm>
          <a:prstGeom prst="rect">
            <a:avLst/>
          </a:prstGeom>
          <a:noFill/>
          <a:ln/>
        </p:spPr>
        <p:txBody>
          <a:bodyPr wrap="square" lIns="0" tIns="0" rIns="0" bIns="0" rtlCol="0" anchor="ctr"/>
          <a:lstStyle/>
          <a:p>
            <a:pPr indent="0" marL="0">
              <a:buNone/>
            </a:pPr>
            <a:r>
              <a:rPr lang="en-US" sz="1100" b="1" spc="150" kern="0" dirty="0">
                <a:solidFill>
                  <a:srgbClr val="1A3884"/>
                </a:solidFill>
                <a:latin typeface="Calibri" pitchFamily="34" charset="0"/>
                <a:ea typeface="Calibri" pitchFamily="34" charset="-122"/>
                <a:cs typeface="Calibri" pitchFamily="34" charset="-120"/>
              </a:rPr>
              <a:t>Stage 2</a:t>
            </a:r>
            <a:endParaRPr lang="en-US" sz="1100" dirty="0"/>
          </a:p>
        </p:txBody>
      </p:sp>
      <p:sp>
        <p:nvSpPr>
          <p:cNvPr id="12" name="Text 9"/>
          <p:cNvSpPr/>
          <p:nvPr/>
        </p:nvSpPr>
        <p:spPr>
          <a:xfrm>
            <a:off x="4709160" y="2011680"/>
            <a:ext cx="2926080" cy="329184"/>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Capability</a:t>
            </a:r>
            <a:endParaRPr lang="en-US" sz="1900" dirty="0"/>
          </a:p>
        </p:txBody>
      </p:sp>
      <p:sp>
        <p:nvSpPr>
          <p:cNvPr id="13" name="Text 10"/>
          <p:cNvSpPr/>
          <p:nvPr/>
        </p:nvSpPr>
        <p:spPr>
          <a:xfrm>
            <a:off x="4709160" y="2377440"/>
            <a:ext cx="2926080" cy="237744"/>
          </a:xfrm>
          <a:prstGeom prst="rect">
            <a:avLst/>
          </a:prstGeom>
          <a:noFill/>
          <a:ln/>
        </p:spPr>
        <p:txBody>
          <a:bodyPr wrap="square" lIns="0" tIns="0" rIns="0" bIns="0" rtlCol="0" anchor="ctr"/>
          <a:lstStyle/>
          <a:p>
            <a:pPr indent="0" marL="0">
              <a:buNone/>
            </a:pPr>
            <a:r>
              <a:rPr lang="en-US" sz="1150" b="1" dirty="0">
                <a:solidFill>
                  <a:srgbClr val="334155"/>
                </a:solidFill>
                <a:latin typeface="Calibri" pitchFamily="34" charset="0"/>
                <a:ea typeface="Calibri" pitchFamily="34" charset="-122"/>
                <a:cs typeface="Calibri" pitchFamily="34" charset="-120"/>
              </a:rPr>
              <a:t>9 courses  ·  S11–S19</a:t>
            </a:r>
            <a:endParaRPr lang="en-US" sz="1150" dirty="0"/>
          </a:p>
        </p:txBody>
      </p:sp>
      <p:sp>
        <p:nvSpPr>
          <p:cNvPr id="14" name="Text 11"/>
          <p:cNvSpPr/>
          <p:nvPr/>
        </p:nvSpPr>
        <p:spPr>
          <a:xfrm>
            <a:off x="4709160" y="2651760"/>
            <a:ext cx="2926080" cy="365760"/>
          </a:xfrm>
          <a:prstGeom prst="rect">
            <a:avLst/>
          </a:prstGeom>
          <a:noFill/>
          <a:ln/>
        </p:spPr>
        <p:txBody>
          <a:bodyPr wrap="square" lIns="0" tIns="0" rIns="0" bIns="0" rtlCol="0" anchor="t"/>
          <a:lstStyle/>
          <a:p>
            <a:pPr algn="l" indent="0" marL="0">
              <a:lnSpc>
                <a:spcPct val="118000"/>
              </a:lnSpc>
              <a:buNone/>
            </a:pPr>
            <a:r>
              <a:rPr lang="en-US" sz="1100" dirty="0">
                <a:solidFill>
                  <a:srgbClr val="64748B"/>
                </a:solidFill>
                <a:latin typeface="Calibri" pitchFamily="34" charset="0"/>
                <a:ea typeface="Calibri" pitchFamily="34" charset="-122"/>
                <a:cs typeface="Calibri" pitchFamily="34" charset="-120"/>
              </a:rPr>
              <a:t>Opens after Stage 1 and the T2 gate.</a:t>
            </a:r>
            <a:endParaRPr lang="en-US" sz="1100" dirty="0"/>
          </a:p>
        </p:txBody>
      </p:sp>
      <p:sp>
        <p:nvSpPr>
          <p:cNvPr id="15" name="Shape 12"/>
          <p:cNvSpPr/>
          <p:nvPr/>
        </p:nvSpPr>
        <p:spPr>
          <a:xfrm>
            <a:off x="8193024" y="1572768"/>
            <a:ext cx="3520440" cy="1572768"/>
          </a:xfrm>
          <a:prstGeom prst="roundRect">
            <a:avLst>
              <a:gd name="adj" fmla="val 5233"/>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6" name="Text 13"/>
          <p:cNvSpPr/>
          <p:nvPr/>
        </p:nvSpPr>
        <p:spPr>
          <a:xfrm>
            <a:off x="8485632" y="1755648"/>
            <a:ext cx="2926080" cy="237744"/>
          </a:xfrm>
          <a:prstGeom prst="rect">
            <a:avLst/>
          </a:prstGeom>
          <a:noFill/>
          <a:ln/>
        </p:spPr>
        <p:txBody>
          <a:bodyPr wrap="square" lIns="0" tIns="0" rIns="0" bIns="0" rtlCol="0" anchor="ctr"/>
          <a:lstStyle/>
          <a:p>
            <a:pPr indent="0" marL="0">
              <a:buNone/>
            </a:pPr>
            <a:r>
              <a:rPr lang="en-US" sz="1100" b="1" spc="150" kern="0" dirty="0">
                <a:solidFill>
                  <a:srgbClr val="1A3884"/>
                </a:solidFill>
                <a:latin typeface="Calibri" pitchFamily="34" charset="0"/>
                <a:ea typeface="Calibri" pitchFamily="34" charset="-122"/>
                <a:cs typeface="Calibri" pitchFamily="34" charset="-120"/>
              </a:rPr>
              <a:t>Stage 3</a:t>
            </a:r>
            <a:endParaRPr lang="en-US" sz="1100" dirty="0"/>
          </a:p>
        </p:txBody>
      </p:sp>
      <p:sp>
        <p:nvSpPr>
          <p:cNvPr id="17" name="Text 14"/>
          <p:cNvSpPr/>
          <p:nvPr/>
        </p:nvSpPr>
        <p:spPr>
          <a:xfrm>
            <a:off x="8485632" y="2011680"/>
            <a:ext cx="2926080" cy="329184"/>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Leadership</a:t>
            </a:r>
            <a:endParaRPr lang="en-US" sz="1900" dirty="0"/>
          </a:p>
        </p:txBody>
      </p:sp>
      <p:sp>
        <p:nvSpPr>
          <p:cNvPr id="18" name="Text 15"/>
          <p:cNvSpPr/>
          <p:nvPr/>
        </p:nvSpPr>
        <p:spPr>
          <a:xfrm>
            <a:off x="8485632" y="2377440"/>
            <a:ext cx="2926080" cy="237744"/>
          </a:xfrm>
          <a:prstGeom prst="rect">
            <a:avLst/>
          </a:prstGeom>
          <a:noFill/>
          <a:ln/>
        </p:spPr>
        <p:txBody>
          <a:bodyPr wrap="square" lIns="0" tIns="0" rIns="0" bIns="0" rtlCol="0" anchor="ctr"/>
          <a:lstStyle/>
          <a:p>
            <a:pPr indent="0" marL="0">
              <a:buNone/>
            </a:pPr>
            <a:r>
              <a:rPr lang="en-US" sz="1150" b="1" dirty="0">
                <a:solidFill>
                  <a:srgbClr val="334155"/>
                </a:solidFill>
                <a:latin typeface="Calibri" pitchFamily="34" charset="0"/>
                <a:ea typeface="Calibri" pitchFamily="34" charset="-122"/>
                <a:cs typeface="Calibri" pitchFamily="34" charset="-120"/>
              </a:rPr>
              <a:t>6 courses  ·  S20–S25</a:t>
            </a:r>
            <a:endParaRPr lang="en-US" sz="1150" dirty="0"/>
          </a:p>
        </p:txBody>
      </p:sp>
      <p:sp>
        <p:nvSpPr>
          <p:cNvPr id="19" name="Text 16"/>
          <p:cNvSpPr/>
          <p:nvPr/>
        </p:nvSpPr>
        <p:spPr>
          <a:xfrm>
            <a:off x="8485632" y="2651760"/>
            <a:ext cx="2926080" cy="365760"/>
          </a:xfrm>
          <a:prstGeom prst="rect">
            <a:avLst/>
          </a:prstGeom>
          <a:noFill/>
          <a:ln/>
        </p:spPr>
        <p:txBody>
          <a:bodyPr wrap="square" lIns="0" tIns="0" rIns="0" bIns="0" rtlCol="0" anchor="t"/>
          <a:lstStyle/>
          <a:p>
            <a:pPr algn="l" indent="0" marL="0">
              <a:lnSpc>
                <a:spcPct val="118000"/>
              </a:lnSpc>
              <a:buNone/>
            </a:pPr>
            <a:r>
              <a:rPr lang="en-US" sz="1100" dirty="0">
                <a:solidFill>
                  <a:srgbClr val="64748B"/>
                </a:solidFill>
                <a:latin typeface="Calibri" pitchFamily="34" charset="0"/>
                <a:ea typeface="Calibri" pitchFamily="34" charset="-122"/>
                <a:cs typeface="Calibri" pitchFamily="34" charset="-120"/>
              </a:rPr>
              <a:t>Opens after Stage 2 and the T3 gate.</a:t>
            </a:r>
            <a:endParaRPr lang="en-US" sz="1100" dirty="0"/>
          </a:p>
        </p:txBody>
      </p:sp>
      <p:sp>
        <p:nvSpPr>
          <p:cNvPr id="20" name="Shape 17"/>
          <p:cNvSpPr/>
          <p:nvPr/>
        </p:nvSpPr>
        <p:spPr>
          <a:xfrm>
            <a:off x="640080" y="3310128"/>
            <a:ext cx="5394960" cy="1234440"/>
          </a:xfrm>
          <a:prstGeom prst="roundRect">
            <a:avLst>
              <a:gd name="adj" fmla="val 6667"/>
            </a:avLst>
          </a:prstGeom>
          <a:solidFill>
            <a:srgbClr val="EEF2FB"/>
          </a:solidFill>
          <a:ln w="12700">
            <a:solidFill>
              <a:srgbClr val="D3DEF3"/>
            </a:solidFill>
            <a:prstDash val="solid"/>
          </a:ln>
          <a:effectLst>
            <a:outerShdw sx="100000" sy="100000" kx="0" ky="0" algn="bl" rotWithShape="0" blurRad="127000" dist="25400" dir="5400000">
              <a:srgbClr val="0E2136">
                <a:alpha val="10000"/>
              </a:srgbClr>
            </a:outerShdw>
          </a:effectLst>
        </p:spPr>
      </p:sp>
      <p:sp>
        <p:nvSpPr>
          <p:cNvPr id="21" name="Text 18"/>
          <p:cNvSpPr/>
          <p:nvPr/>
        </p:nvSpPr>
        <p:spPr>
          <a:xfrm>
            <a:off x="932688" y="3493008"/>
            <a:ext cx="484632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Four specialist tracks run alongside the core</a:t>
            </a:r>
            <a:endParaRPr lang="en-US" sz="1400" dirty="0"/>
          </a:p>
        </p:txBody>
      </p:sp>
      <p:sp>
        <p:nvSpPr>
          <p:cNvPr id="22" name="Text 19"/>
          <p:cNvSpPr/>
          <p:nvPr/>
        </p:nvSpPr>
        <p:spPr>
          <a:xfrm>
            <a:off x="932688" y="3794760"/>
            <a:ext cx="4846320" cy="685800"/>
          </a:xfrm>
          <a:prstGeom prst="rect">
            <a:avLst/>
          </a:prstGeom>
          <a:noFill/>
          <a:ln/>
        </p:spPr>
        <p:txBody>
          <a:bodyPr wrap="square" lIns="0" tIns="0" rIns="0" bIns="0" rtlCol="0" anchor="t"/>
          <a:lstStyle/>
          <a:p>
            <a:pPr algn="l" indent="0" marL="0">
              <a:lnSpc>
                <a:spcPct val="120000"/>
              </a:lnSpc>
              <a:buNone/>
            </a:pPr>
            <a:r>
              <a:rPr lang="en-US" sz="1200" dirty="0">
                <a:solidFill>
                  <a:srgbClr val="334155"/>
                </a:solidFill>
                <a:latin typeface="Calibri" pitchFamily="34" charset="0"/>
                <a:ea typeface="Calibri" pitchFamily="34" charset="-122"/>
                <a:cs typeface="Calibri" pitchFamily="34" charset="-120"/>
              </a:rPr>
              <a:t>PIQ  ·  AIQ  ·  SQ  ·  English for Work (British Council portal)</a:t>
            </a:r>
            <a:endParaRPr lang="en-US" sz="1200" dirty="0"/>
          </a:p>
          <a:p>
            <a:pPr algn="l" indent="0" marL="0">
              <a:lnSpc>
                <a:spcPct val="120000"/>
              </a:lnSpc>
              <a:buNone/>
            </a:pPr>
            <a:r>
              <a:rPr lang="en-US" sz="1200" dirty="0">
                <a:solidFill>
                  <a:srgbClr val="334155"/>
                </a:solidFill>
                <a:latin typeface="Calibri" pitchFamily="34" charset="0"/>
                <a:ea typeface="Calibri" pitchFamily="34" charset="-122"/>
                <a:cs typeface="Calibri" pitchFamily="34" charset="-120"/>
              </a:rPr>
              <a:t>Five courses each, each unlocking at its own point in the core path.</a:t>
            </a:r>
            <a:endParaRPr lang="en-US" sz="1200" dirty="0"/>
          </a:p>
        </p:txBody>
      </p:sp>
      <p:sp>
        <p:nvSpPr>
          <p:cNvPr id="23" name="Shape 20"/>
          <p:cNvSpPr/>
          <p:nvPr/>
        </p:nvSpPr>
        <p:spPr>
          <a:xfrm>
            <a:off x="6355080" y="3310128"/>
            <a:ext cx="5193792" cy="1234440"/>
          </a:xfrm>
          <a:prstGeom prst="roundRect">
            <a:avLst>
              <a:gd name="adj" fmla="val 6667"/>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4" name="Text 21"/>
          <p:cNvSpPr/>
          <p:nvPr/>
        </p:nvSpPr>
        <p:spPr>
          <a:xfrm>
            <a:off x="6647688" y="3493008"/>
            <a:ext cx="466344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Sequential unlocking, enforced twice</a:t>
            </a:r>
            <a:endParaRPr lang="en-US" sz="1400" dirty="0"/>
          </a:p>
        </p:txBody>
      </p:sp>
      <p:sp>
        <p:nvSpPr>
          <p:cNvPr id="25" name="Text 22"/>
          <p:cNvSpPr/>
          <p:nvPr/>
        </p:nvSpPr>
        <p:spPr>
          <a:xfrm>
            <a:off x="6647688" y="3794760"/>
            <a:ext cx="4663440" cy="731520"/>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A course opens only when the one before it is complete. The rule is checked in the interface and again on the server, so it cannot be skipped by calling the API directly.</a:t>
            </a:r>
            <a:endParaRPr lang="en-US" sz="1150" dirty="0"/>
          </a:p>
        </p:txBody>
      </p:sp>
      <p:sp>
        <p:nvSpPr>
          <p:cNvPr id="26" name="Text 23"/>
          <p:cNvSpPr/>
          <p:nvPr/>
        </p:nvSpPr>
        <p:spPr>
          <a:xfrm>
            <a:off x="640080" y="4864608"/>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Every course runs the same eight-step flow</a:t>
            </a:r>
            <a:endParaRPr lang="en-US" sz="1400" dirty="0"/>
          </a:p>
        </p:txBody>
      </p:sp>
      <p:sp>
        <p:nvSpPr>
          <p:cNvPr id="27" name="Shape 24"/>
          <p:cNvSpPr/>
          <p:nvPr/>
        </p:nvSpPr>
        <p:spPr>
          <a:xfrm>
            <a:off x="6400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8" name="Text 25"/>
          <p:cNvSpPr/>
          <p:nvPr/>
        </p:nvSpPr>
        <p:spPr>
          <a:xfrm>
            <a:off x="6400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A</a:t>
            </a:r>
            <a:endParaRPr lang="en-US" sz="1000" dirty="0"/>
          </a:p>
        </p:txBody>
      </p:sp>
      <p:sp>
        <p:nvSpPr>
          <p:cNvPr id="29" name="Text 26"/>
          <p:cNvSpPr/>
          <p:nvPr/>
        </p:nvSpPr>
        <p:spPr>
          <a:xfrm>
            <a:off x="6949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Why it matters</a:t>
            </a:r>
            <a:endParaRPr lang="en-US" sz="950" dirty="0"/>
          </a:p>
        </p:txBody>
      </p:sp>
      <p:sp>
        <p:nvSpPr>
          <p:cNvPr id="30" name="Shape 27"/>
          <p:cNvSpPr/>
          <p:nvPr/>
        </p:nvSpPr>
        <p:spPr>
          <a:xfrm>
            <a:off x="20116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1" name="Text 28"/>
          <p:cNvSpPr/>
          <p:nvPr/>
        </p:nvSpPr>
        <p:spPr>
          <a:xfrm>
            <a:off x="20116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B</a:t>
            </a:r>
            <a:endParaRPr lang="en-US" sz="1000" dirty="0"/>
          </a:p>
        </p:txBody>
      </p:sp>
      <p:sp>
        <p:nvSpPr>
          <p:cNvPr id="32" name="Text 29"/>
          <p:cNvSpPr/>
          <p:nvPr/>
        </p:nvSpPr>
        <p:spPr>
          <a:xfrm>
            <a:off x="20665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Concept</a:t>
            </a:r>
            <a:endParaRPr lang="en-US" sz="950" dirty="0"/>
          </a:p>
        </p:txBody>
      </p:sp>
      <p:sp>
        <p:nvSpPr>
          <p:cNvPr id="33" name="Shape 30"/>
          <p:cNvSpPr/>
          <p:nvPr/>
        </p:nvSpPr>
        <p:spPr>
          <a:xfrm>
            <a:off x="33832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4" name="Text 31"/>
          <p:cNvSpPr/>
          <p:nvPr/>
        </p:nvSpPr>
        <p:spPr>
          <a:xfrm>
            <a:off x="33832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C</a:t>
            </a:r>
            <a:endParaRPr lang="en-US" sz="1000" dirty="0"/>
          </a:p>
        </p:txBody>
      </p:sp>
      <p:sp>
        <p:nvSpPr>
          <p:cNvPr id="35" name="Text 32"/>
          <p:cNvSpPr/>
          <p:nvPr/>
        </p:nvSpPr>
        <p:spPr>
          <a:xfrm>
            <a:off x="34381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Video</a:t>
            </a:r>
            <a:endParaRPr lang="en-US" sz="950" dirty="0"/>
          </a:p>
        </p:txBody>
      </p:sp>
      <p:sp>
        <p:nvSpPr>
          <p:cNvPr id="36" name="Shape 33"/>
          <p:cNvSpPr/>
          <p:nvPr/>
        </p:nvSpPr>
        <p:spPr>
          <a:xfrm>
            <a:off x="47548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7" name="Text 34"/>
          <p:cNvSpPr/>
          <p:nvPr/>
        </p:nvSpPr>
        <p:spPr>
          <a:xfrm>
            <a:off x="47548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D</a:t>
            </a:r>
            <a:endParaRPr lang="en-US" sz="1000" dirty="0"/>
          </a:p>
        </p:txBody>
      </p:sp>
      <p:sp>
        <p:nvSpPr>
          <p:cNvPr id="38" name="Text 35"/>
          <p:cNvSpPr/>
          <p:nvPr/>
        </p:nvSpPr>
        <p:spPr>
          <a:xfrm>
            <a:off x="48097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Practice</a:t>
            </a:r>
            <a:endParaRPr lang="en-US" sz="950" dirty="0"/>
          </a:p>
        </p:txBody>
      </p:sp>
      <p:sp>
        <p:nvSpPr>
          <p:cNvPr id="39" name="Shape 36"/>
          <p:cNvSpPr/>
          <p:nvPr/>
        </p:nvSpPr>
        <p:spPr>
          <a:xfrm>
            <a:off x="61264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40" name="Text 37"/>
          <p:cNvSpPr/>
          <p:nvPr/>
        </p:nvSpPr>
        <p:spPr>
          <a:xfrm>
            <a:off x="61264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E</a:t>
            </a:r>
            <a:endParaRPr lang="en-US" sz="1000" dirty="0"/>
          </a:p>
        </p:txBody>
      </p:sp>
      <p:sp>
        <p:nvSpPr>
          <p:cNvPr id="41" name="Text 38"/>
          <p:cNvSpPr/>
          <p:nvPr/>
        </p:nvSpPr>
        <p:spPr>
          <a:xfrm>
            <a:off x="61813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Case study</a:t>
            </a:r>
            <a:endParaRPr lang="en-US" sz="950" dirty="0"/>
          </a:p>
        </p:txBody>
      </p:sp>
      <p:sp>
        <p:nvSpPr>
          <p:cNvPr id="42" name="Shape 39"/>
          <p:cNvSpPr/>
          <p:nvPr/>
        </p:nvSpPr>
        <p:spPr>
          <a:xfrm>
            <a:off x="74980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43" name="Text 40"/>
          <p:cNvSpPr/>
          <p:nvPr/>
        </p:nvSpPr>
        <p:spPr>
          <a:xfrm>
            <a:off x="74980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F</a:t>
            </a:r>
            <a:endParaRPr lang="en-US" sz="1000" dirty="0"/>
          </a:p>
        </p:txBody>
      </p:sp>
      <p:sp>
        <p:nvSpPr>
          <p:cNvPr id="44" name="Text 41"/>
          <p:cNvSpPr/>
          <p:nvPr/>
        </p:nvSpPr>
        <p:spPr>
          <a:xfrm>
            <a:off x="75529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Assessment</a:t>
            </a:r>
            <a:endParaRPr lang="en-US" sz="950" dirty="0"/>
          </a:p>
        </p:txBody>
      </p:sp>
      <p:sp>
        <p:nvSpPr>
          <p:cNvPr id="45" name="Shape 42"/>
          <p:cNvSpPr/>
          <p:nvPr/>
        </p:nvSpPr>
        <p:spPr>
          <a:xfrm>
            <a:off x="88696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46" name="Text 43"/>
          <p:cNvSpPr/>
          <p:nvPr/>
        </p:nvSpPr>
        <p:spPr>
          <a:xfrm>
            <a:off x="88696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G</a:t>
            </a:r>
            <a:endParaRPr lang="en-US" sz="1000" dirty="0"/>
          </a:p>
        </p:txBody>
      </p:sp>
      <p:sp>
        <p:nvSpPr>
          <p:cNvPr id="47" name="Text 44"/>
          <p:cNvSpPr/>
          <p:nvPr/>
        </p:nvSpPr>
        <p:spPr>
          <a:xfrm>
            <a:off x="89245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Reflection</a:t>
            </a:r>
            <a:endParaRPr lang="en-US" sz="950" dirty="0"/>
          </a:p>
        </p:txBody>
      </p:sp>
      <p:sp>
        <p:nvSpPr>
          <p:cNvPr id="48" name="Shape 45"/>
          <p:cNvSpPr/>
          <p:nvPr/>
        </p:nvSpPr>
        <p:spPr>
          <a:xfrm>
            <a:off x="10241280" y="5230368"/>
            <a:ext cx="1280160" cy="658368"/>
          </a:xfrm>
          <a:prstGeom prst="roundRect">
            <a:avLst>
              <a:gd name="adj" fmla="val 125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49" name="Text 46"/>
          <p:cNvSpPr/>
          <p:nvPr/>
        </p:nvSpPr>
        <p:spPr>
          <a:xfrm>
            <a:off x="10241280" y="5321808"/>
            <a:ext cx="1280160" cy="201168"/>
          </a:xfrm>
          <a:prstGeom prst="rect">
            <a:avLst/>
          </a:prstGeom>
          <a:noFill/>
          <a:ln/>
        </p:spPr>
        <p:txBody>
          <a:bodyPr wrap="square" lIns="0" tIns="0" rIns="0" bIns="0" rtlCol="0" anchor="ctr"/>
          <a:lstStyle/>
          <a:p>
            <a:pPr algn="ctr" indent="0" marL="0">
              <a:buNone/>
            </a:pPr>
            <a:r>
              <a:rPr lang="en-US" sz="1000" b="1" dirty="0">
                <a:solidFill>
                  <a:srgbClr val="1A3884"/>
                </a:solidFill>
                <a:latin typeface="Calibri" pitchFamily="34" charset="0"/>
                <a:ea typeface="Calibri" pitchFamily="34" charset="-122"/>
                <a:cs typeface="Calibri" pitchFamily="34" charset="-120"/>
              </a:rPr>
              <a:t>H</a:t>
            </a:r>
            <a:endParaRPr lang="en-US" sz="1000" dirty="0"/>
          </a:p>
        </p:txBody>
      </p:sp>
      <p:sp>
        <p:nvSpPr>
          <p:cNvPr id="50" name="Text 47"/>
          <p:cNvSpPr/>
          <p:nvPr/>
        </p:nvSpPr>
        <p:spPr>
          <a:xfrm>
            <a:off x="10296144" y="5522976"/>
            <a:ext cx="1170432" cy="292608"/>
          </a:xfrm>
          <a:prstGeom prst="rect">
            <a:avLst/>
          </a:prstGeom>
          <a:noFill/>
          <a:ln/>
        </p:spPr>
        <p:txBody>
          <a:bodyPr wrap="square" lIns="0" tIns="0" rIns="0" bIns="0" rtlCol="0" anchor="t"/>
          <a:lstStyle/>
          <a:p>
            <a:pPr algn="ctr" indent="0" marL="0">
              <a:buNone/>
            </a:pPr>
            <a:r>
              <a:rPr lang="en-US" sz="950" dirty="0">
                <a:solidFill>
                  <a:srgbClr val="334155"/>
                </a:solidFill>
                <a:latin typeface="Calibri" pitchFamily="34" charset="0"/>
                <a:ea typeface="Calibri" pitchFamily="34" charset="-122"/>
                <a:cs typeface="Calibri" pitchFamily="34" charset="-120"/>
              </a:rPr>
              <a:t>Notes</a:t>
            </a:r>
            <a:endParaRPr lang="en-US" sz="950" dirty="0"/>
          </a:p>
        </p:txBody>
      </p:sp>
      <p:sp>
        <p:nvSpPr>
          <p:cNvPr id="51" name="Text 48"/>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52" name="Text 49"/>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PLACEMENT</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From learning to hiring</a:t>
            </a:r>
            <a:endParaRPr lang="en-US" sz="3200" dirty="0"/>
          </a:p>
        </p:txBody>
      </p:sp>
      <p:sp>
        <p:nvSpPr>
          <p:cNvPr id="5" name="Text 2"/>
          <p:cNvSpPr/>
          <p:nvPr/>
        </p:nvSpPr>
        <p:spPr>
          <a:xfrm>
            <a:off x="640080" y="1481328"/>
            <a:ext cx="10881360" cy="365760"/>
          </a:xfrm>
          <a:prstGeom prst="rect">
            <a:avLst/>
          </a:prstGeom>
          <a:noFill/>
          <a:ln/>
        </p:spPr>
        <p:txBody>
          <a:bodyPr wrap="square" lIns="0" tIns="0" rIns="0" bIns="0" rtlCol="0" anchor="t"/>
          <a:lstStyle/>
          <a:p>
            <a:pPr algn="l" indent="0" marL="0">
              <a:lnSpc>
                <a:spcPct val="118000"/>
              </a:lnSpc>
              <a:buNone/>
            </a:pPr>
            <a:r>
              <a:rPr lang="en-US" sz="1400" dirty="0">
                <a:solidFill>
                  <a:srgbClr val="64748B"/>
                </a:solidFill>
                <a:latin typeface="Calibri" pitchFamily="34" charset="0"/>
                <a:ea typeface="Calibri" pitchFamily="34" charset="-122"/>
                <a:cs typeface="Calibri" pitchFamily="34" charset="-120"/>
              </a:rPr>
              <a:t>The placement side is not a separate product. It reads the same student record the learning side writes.</a:t>
            </a:r>
            <a:endParaRPr lang="en-US" sz="1400" dirty="0"/>
          </a:p>
        </p:txBody>
      </p:sp>
      <p:sp>
        <p:nvSpPr>
          <p:cNvPr id="6" name="Shape 3"/>
          <p:cNvSpPr/>
          <p:nvPr/>
        </p:nvSpPr>
        <p:spPr>
          <a:xfrm>
            <a:off x="640080" y="2057400"/>
            <a:ext cx="1664208" cy="786384"/>
          </a:xfrm>
          <a:prstGeom prst="roundRect">
            <a:avLst>
              <a:gd name="adj" fmla="val 1046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Text 4"/>
          <p:cNvSpPr/>
          <p:nvPr/>
        </p:nvSpPr>
        <p:spPr>
          <a:xfrm>
            <a:off x="713232" y="2057400"/>
            <a:ext cx="1517904" cy="786384"/>
          </a:xfrm>
          <a:prstGeom prst="rect">
            <a:avLst/>
          </a:prstGeom>
          <a:noFill/>
          <a:ln/>
        </p:spPr>
        <p:txBody>
          <a:bodyPr wrap="square" lIns="0" tIns="0" rIns="0" bIns="0" rtlCol="0" anchor="ctr"/>
          <a:lstStyle/>
          <a:p>
            <a:pPr algn="ctr" indent="0" marL="0">
              <a:buNone/>
            </a:pPr>
            <a:r>
              <a:rPr lang="en-US" sz="1250" b="1" dirty="0">
                <a:solidFill>
                  <a:srgbClr val="0F172A"/>
                </a:solidFill>
                <a:latin typeface="Calibri" pitchFamily="34" charset="0"/>
                <a:ea typeface="Calibri" pitchFamily="34" charset="-122"/>
                <a:cs typeface="Calibri" pitchFamily="34" charset="-120"/>
              </a:rPr>
              <a:t>Applied</a:t>
            </a:r>
            <a:endParaRPr lang="en-US" sz="1250" dirty="0"/>
          </a:p>
        </p:txBody>
      </p:sp>
      <p:sp>
        <p:nvSpPr>
          <p:cNvPr id="8" name="Text 5"/>
          <p:cNvSpPr/>
          <p:nvPr/>
        </p:nvSpPr>
        <p:spPr>
          <a:xfrm>
            <a:off x="2304288" y="2057400"/>
            <a:ext cx="164592" cy="786384"/>
          </a:xfrm>
          <a:prstGeom prst="rect">
            <a:avLst/>
          </a:prstGeom>
          <a:noFill/>
          <a:ln/>
        </p:spPr>
        <p:txBody>
          <a:bodyPr wrap="square" lIns="0" tIns="0" rIns="0" bIns="0" rtlCol="0" anchor="ctr"/>
          <a:lstStyle/>
          <a:p>
            <a:pPr algn="ctr" indent="0" marL="0">
              <a:buNone/>
            </a:pPr>
            <a:r>
              <a:rPr lang="en-US" sz="1800" b="1" dirty="0">
                <a:solidFill>
                  <a:srgbClr val="9AA9BE"/>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2468880" y="2057400"/>
            <a:ext cx="1664208" cy="786384"/>
          </a:xfrm>
          <a:prstGeom prst="roundRect">
            <a:avLst>
              <a:gd name="adj" fmla="val 1046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0" name="Text 7"/>
          <p:cNvSpPr/>
          <p:nvPr/>
        </p:nvSpPr>
        <p:spPr>
          <a:xfrm>
            <a:off x="2542032" y="2057400"/>
            <a:ext cx="1517904" cy="786384"/>
          </a:xfrm>
          <a:prstGeom prst="rect">
            <a:avLst/>
          </a:prstGeom>
          <a:noFill/>
          <a:ln/>
        </p:spPr>
        <p:txBody>
          <a:bodyPr wrap="square" lIns="0" tIns="0" rIns="0" bIns="0" rtlCol="0" anchor="ctr"/>
          <a:lstStyle/>
          <a:p>
            <a:pPr algn="ctr" indent="0" marL="0">
              <a:buNone/>
            </a:pPr>
            <a:r>
              <a:rPr lang="en-US" sz="1250" b="1" dirty="0">
                <a:solidFill>
                  <a:srgbClr val="0F172A"/>
                </a:solidFill>
                <a:latin typeface="Calibri" pitchFamily="34" charset="0"/>
                <a:ea typeface="Calibri" pitchFamily="34" charset="-122"/>
                <a:cs typeface="Calibri" pitchFamily="34" charset="-120"/>
              </a:rPr>
              <a:t>Under review</a:t>
            </a:r>
            <a:endParaRPr lang="en-US" sz="1250" dirty="0"/>
          </a:p>
        </p:txBody>
      </p:sp>
      <p:sp>
        <p:nvSpPr>
          <p:cNvPr id="11" name="Text 8"/>
          <p:cNvSpPr/>
          <p:nvPr/>
        </p:nvSpPr>
        <p:spPr>
          <a:xfrm>
            <a:off x="4133088" y="2057400"/>
            <a:ext cx="164592" cy="786384"/>
          </a:xfrm>
          <a:prstGeom prst="rect">
            <a:avLst/>
          </a:prstGeom>
          <a:noFill/>
          <a:ln/>
        </p:spPr>
        <p:txBody>
          <a:bodyPr wrap="square" lIns="0" tIns="0" rIns="0" bIns="0" rtlCol="0" anchor="ctr"/>
          <a:lstStyle/>
          <a:p>
            <a:pPr algn="ctr" indent="0" marL="0">
              <a:buNone/>
            </a:pPr>
            <a:r>
              <a:rPr lang="en-US" sz="1800" b="1" dirty="0">
                <a:solidFill>
                  <a:srgbClr val="9AA9BE"/>
                </a:solidFill>
                <a:latin typeface="Calibri" pitchFamily="34" charset="0"/>
                <a:ea typeface="Calibri" pitchFamily="34" charset="-122"/>
                <a:cs typeface="Calibri" pitchFamily="34" charset="-120"/>
              </a:rPr>
              <a:t>›</a:t>
            </a:r>
            <a:endParaRPr lang="en-US" sz="1800" dirty="0"/>
          </a:p>
        </p:txBody>
      </p:sp>
      <p:sp>
        <p:nvSpPr>
          <p:cNvPr id="12" name="Shape 9"/>
          <p:cNvSpPr/>
          <p:nvPr/>
        </p:nvSpPr>
        <p:spPr>
          <a:xfrm>
            <a:off x="4297680" y="2057400"/>
            <a:ext cx="1664208" cy="786384"/>
          </a:xfrm>
          <a:prstGeom prst="roundRect">
            <a:avLst>
              <a:gd name="adj" fmla="val 1046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3" name="Text 10"/>
          <p:cNvSpPr/>
          <p:nvPr/>
        </p:nvSpPr>
        <p:spPr>
          <a:xfrm>
            <a:off x="4370832" y="2057400"/>
            <a:ext cx="1517904" cy="786384"/>
          </a:xfrm>
          <a:prstGeom prst="rect">
            <a:avLst/>
          </a:prstGeom>
          <a:noFill/>
          <a:ln/>
        </p:spPr>
        <p:txBody>
          <a:bodyPr wrap="square" lIns="0" tIns="0" rIns="0" bIns="0" rtlCol="0" anchor="ctr"/>
          <a:lstStyle/>
          <a:p>
            <a:pPr algn="ctr" indent="0" marL="0">
              <a:buNone/>
            </a:pPr>
            <a:r>
              <a:rPr lang="en-US" sz="1250" b="1" dirty="0">
                <a:solidFill>
                  <a:srgbClr val="0F172A"/>
                </a:solidFill>
                <a:latin typeface="Calibri" pitchFamily="34" charset="0"/>
                <a:ea typeface="Calibri" pitchFamily="34" charset="-122"/>
                <a:cs typeface="Calibri" pitchFamily="34" charset="-120"/>
              </a:rPr>
              <a:t>Shortlisted</a:t>
            </a:r>
            <a:endParaRPr lang="en-US" sz="1250" dirty="0"/>
          </a:p>
        </p:txBody>
      </p:sp>
      <p:sp>
        <p:nvSpPr>
          <p:cNvPr id="14" name="Text 11"/>
          <p:cNvSpPr/>
          <p:nvPr/>
        </p:nvSpPr>
        <p:spPr>
          <a:xfrm>
            <a:off x="5961888" y="2057400"/>
            <a:ext cx="164592" cy="786384"/>
          </a:xfrm>
          <a:prstGeom prst="rect">
            <a:avLst/>
          </a:prstGeom>
          <a:noFill/>
          <a:ln/>
        </p:spPr>
        <p:txBody>
          <a:bodyPr wrap="square" lIns="0" tIns="0" rIns="0" bIns="0" rtlCol="0" anchor="ctr"/>
          <a:lstStyle/>
          <a:p>
            <a:pPr algn="ctr" indent="0" marL="0">
              <a:buNone/>
            </a:pPr>
            <a:r>
              <a:rPr lang="en-US" sz="1800" b="1" dirty="0">
                <a:solidFill>
                  <a:srgbClr val="9AA9BE"/>
                </a:solidFill>
                <a:latin typeface="Calibri" pitchFamily="34" charset="0"/>
                <a:ea typeface="Calibri" pitchFamily="34" charset="-122"/>
                <a:cs typeface="Calibri" pitchFamily="34" charset="-120"/>
              </a:rPr>
              <a:t>›</a:t>
            </a:r>
            <a:endParaRPr lang="en-US" sz="1800" dirty="0"/>
          </a:p>
        </p:txBody>
      </p:sp>
      <p:sp>
        <p:nvSpPr>
          <p:cNvPr id="15" name="Shape 12"/>
          <p:cNvSpPr/>
          <p:nvPr/>
        </p:nvSpPr>
        <p:spPr>
          <a:xfrm>
            <a:off x="6126480" y="2057400"/>
            <a:ext cx="1664208" cy="786384"/>
          </a:xfrm>
          <a:prstGeom prst="roundRect">
            <a:avLst>
              <a:gd name="adj" fmla="val 1046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6" name="Text 13"/>
          <p:cNvSpPr/>
          <p:nvPr/>
        </p:nvSpPr>
        <p:spPr>
          <a:xfrm>
            <a:off x="6199632" y="2057400"/>
            <a:ext cx="1517904" cy="786384"/>
          </a:xfrm>
          <a:prstGeom prst="rect">
            <a:avLst/>
          </a:prstGeom>
          <a:noFill/>
          <a:ln/>
        </p:spPr>
        <p:txBody>
          <a:bodyPr wrap="square" lIns="0" tIns="0" rIns="0" bIns="0" rtlCol="0" anchor="ctr"/>
          <a:lstStyle/>
          <a:p>
            <a:pPr algn="ctr" indent="0" marL="0">
              <a:buNone/>
            </a:pPr>
            <a:r>
              <a:rPr lang="en-US" sz="1250" b="1" dirty="0">
                <a:solidFill>
                  <a:srgbClr val="0F172A"/>
                </a:solidFill>
                <a:latin typeface="Calibri" pitchFamily="34" charset="0"/>
                <a:ea typeface="Calibri" pitchFamily="34" charset="-122"/>
                <a:cs typeface="Calibri" pitchFamily="34" charset="-120"/>
              </a:rPr>
              <a:t>Interviewing</a:t>
            </a:r>
            <a:endParaRPr lang="en-US" sz="1250" dirty="0"/>
          </a:p>
        </p:txBody>
      </p:sp>
      <p:sp>
        <p:nvSpPr>
          <p:cNvPr id="17" name="Text 14"/>
          <p:cNvSpPr/>
          <p:nvPr/>
        </p:nvSpPr>
        <p:spPr>
          <a:xfrm>
            <a:off x="7790688" y="2057400"/>
            <a:ext cx="164592" cy="786384"/>
          </a:xfrm>
          <a:prstGeom prst="rect">
            <a:avLst/>
          </a:prstGeom>
          <a:noFill/>
          <a:ln/>
        </p:spPr>
        <p:txBody>
          <a:bodyPr wrap="square" lIns="0" tIns="0" rIns="0" bIns="0" rtlCol="0" anchor="ctr"/>
          <a:lstStyle/>
          <a:p>
            <a:pPr algn="ctr" indent="0" marL="0">
              <a:buNone/>
            </a:pPr>
            <a:r>
              <a:rPr lang="en-US" sz="1800" b="1" dirty="0">
                <a:solidFill>
                  <a:srgbClr val="9AA9BE"/>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7955280" y="2057400"/>
            <a:ext cx="1664208" cy="786384"/>
          </a:xfrm>
          <a:prstGeom prst="roundRect">
            <a:avLst>
              <a:gd name="adj" fmla="val 1046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9" name="Text 16"/>
          <p:cNvSpPr/>
          <p:nvPr/>
        </p:nvSpPr>
        <p:spPr>
          <a:xfrm>
            <a:off x="8028432" y="2057400"/>
            <a:ext cx="1517904" cy="786384"/>
          </a:xfrm>
          <a:prstGeom prst="rect">
            <a:avLst/>
          </a:prstGeom>
          <a:noFill/>
          <a:ln/>
        </p:spPr>
        <p:txBody>
          <a:bodyPr wrap="square" lIns="0" tIns="0" rIns="0" bIns="0" rtlCol="0" anchor="ctr"/>
          <a:lstStyle/>
          <a:p>
            <a:pPr algn="ctr" indent="0" marL="0">
              <a:buNone/>
            </a:pPr>
            <a:r>
              <a:rPr lang="en-US" sz="1250" b="1" dirty="0">
                <a:solidFill>
                  <a:srgbClr val="0F172A"/>
                </a:solidFill>
                <a:latin typeface="Calibri" pitchFamily="34" charset="0"/>
                <a:ea typeface="Calibri" pitchFamily="34" charset="-122"/>
                <a:cs typeface="Calibri" pitchFamily="34" charset="-120"/>
              </a:rPr>
              <a:t>Selected</a:t>
            </a:r>
            <a:endParaRPr lang="en-US" sz="1250" dirty="0"/>
          </a:p>
        </p:txBody>
      </p:sp>
      <p:sp>
        <p:nvSpPr>
          <p:cNvPr id="20" name="Text 17"/>
          <p:cNvSpPr/>
          <p:nvPr/>
        </p:nvSpPr>
        <p:spPr>
          <a:xfrm>
            <a:off x="9619488" y="2057400"/>
            <a:ext cx="164592" cy="786384"/>
          </a:xfrm>
          <a:prstGeom prst="rect">
            <a:avLst/>
          </a:prstGeom>
          <a:noFill/>
          <a:ln/>
        </p:spPr>
        <p:txBody>
          <a:bodyPr wrap="square" lIns="0" tIns="0" rIns="0" bIns="0" rtlCol="0" anchor="ctr"/>
          <a:lstStyle/>
          <a:p>
            <a:pPr algn="ctr" indent="0" marL="0">
              <a:buNone/>
            </a:pPr>
            <a:r>
              <a:rPr lang="en-US" sz="1800" b="1" dirty="0">
                <a:solidFill>
                  <a:srgbClr val="9AA9BE"/>
                </a:solidFill>
                <a:latin typeface="Calibri" pitchFamily="34" charset="0"/>
                <a:ea typeface="Calibri" pitchFamily="34" charset="-122"/>
                <a:cs typeface="Calibri" pitchFamily="34" charset="-120"/>
              </a:rPr>
              <a:t>›</a:t>
            </a:r>
            <a:endParaRPr lang="en-US" sz="1800" dirty="0"/>
          </a:p>
        </p:txBody>
      </p:sp>
      <p:sp>
        <p:nvSpPr>
          <p:cNvPr id="21" name="Shape 18"/>
          <p:cNvSpPr/>
          <p:nvPr/>
        </p:nvSpPr>
        <p:spPr>
          <a:xfrm>
            <a:off x="9784080" y="2057400"/>
            <a:ext cx="1664208" cy="786384"/>
          </a:xfrm>
          <a:prstGeom prst="roundRect">
            <a:avLst>
              <a:gd name="adj" fmla="val 10465"/>
            </a:avLst>
          </a:prstGeom>
          <a:solidFill>
            <a:srgbClr val="1A3884"/>
          </a:solidFill>
          <a:ln w="12700">
            <a:solidFill>
              <a:srgbClr val="1A3884"/>
            </a:solidFill>
            <a:prstDash val="solid"/>
          </a:ln>
          <a:effectLst>
            <a:outerShdw sx="100000" sy="100000" kx="0" ky="0" algn="bl" rotWithShape="0" blurRad="127000" dist="25400" dir="5400000">
              <a:srgbClr val="0E2136">
                <a:alpha val="10000"/>
              </a:srgbClr>
            </a:outerShdw>
          </a:effectLst>
        </p:spPr>
      </p:sp>
      <p:sp>
        <p:nvSpPr>
          <p:cNvPr id="22" name="Text 19"/>
          <p:cNvSpPr/>
          <p:nvPr/>
        </p:nvSpPr>
        <p:spPr>
          <a:xfrm>
            <a:off x="9857232" y="2057400"/>
            <a:ext cx="1517904" cy="7863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Placed</a:t>
            </a:r>
            <a:endParaRPr lang="en-US" sz="1250" dirty="0"/>
          </a:p>
        </p:txBody>
      </p:sp>
      <p:sp>
        <p:nvSpPr>
          <p:cNvPr id="23" name="Shape 20"/>
          <p:cNvSpPr/>
          <p:nvPr/>
        </p:nvSpPr>
        <p:spPr>
          <a:xfrm>
            <a:off x="640080" y="3154680"/>
            <a:ext cx="3520440" cy="2331720"/>
          </a:xfrm>
          <a:prstGeom prst="roundRect">
            <a:avLst>
              <a:gd name="adj" fmla="val 3529"/>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4" name="Text 21"/>
          <p:cNvSpPr/>
          <p:nvPr/>
        </p:nvSpPr>
        <p:spPr>
          <a:xfrm>
            <a:off x="932688" y="3364992"/>
            <a:ext cx="292608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For recruiters</a:t>
            </a:r>
            <a:endParaRPr lang="en-US" sz="1500" dirty="0"/>
          </a:p>
        </p:txBody>
      </p:sp>
      <p:sp>
        <p:nvSpPr>
          <p:cNvPr id="25" name="Text 22"/>
          <p:cNvSpPr/>
          <p:nvPr/>
        </p:nvSpPr>
        <p:spPr>
          <a:xfrm>
            <a:off x="932688" y="3703320"/>
            <a:ext cx="2926080" cy="169164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Post jobs platform-wide or to chosen colleges</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Run job fairs with digital passes and a floor map</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Screen applicants against a match score</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Move candidates through the pipeline with automatic emails</a:t>
            </a:r>
            <a:endParaRPr lang="en-US" sz="1150" dirty="0"/>
          </a:p>
        </p:txBody>
      </p:sp>
      <p:sp>
        <p:nvSpPr>
          <p:cNvPr id="26" name="Shape 23"/>
          <p:cNvSpPr/>
          <p:nvPr/>
        </p:nvSpPr>
        <p:spPr>
          <a:xfrm>
            <a:off x="4416552" y="3154680"/>
            <a:ext cx="3520440" cy="2331720"/>
          </a:xfrm>
          <a:prstGeom prst="roundRect">
            <a:avLst>
              <a:gd name="adj" fmla="val 3529"/>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7" name="Text 24"/>
          <p:cNvSpPr/>
          <p:nvPr/>
        </p:nvSpPr>
        <p:spPr>
          <a:xfrm>
            <a:off x="4709160" y="3364992"/>
            <a:ext cx="292608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For the college</a:t>
            </a:r>
            <a:endParaRPr lang="en-US" sz="1500" dirty="0"/>
          </a:p>
        </p:txBody>
      </p:sp>
      <p:sp>
        <p:nvSpPr>
          <p:cNvPr id="28" name="Text 25"/>
          <p:cNvSpPr/>
          <p:nvPr/>
        </p:nvSpPr>
        <p:spPr>
          <a:xfrm>
            <a:off x="4709160" y="3703320"/>
            <a:ext cx="2926080" cy="169164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 placement office view of every drive and every student</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Company and recruiter directory</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Student progress and readiness before a drive</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Funnel and time-to-hire reporting</a:t>
            </a:r>
            <a:endParaRPr lang="en-US" sz="1150" dirty="0"/>
          </a:p>
        </p:txBody>
      </p:sp>
      <p:sp>
        <p:nvSpPr>
          <p:cNvPr id="29" name="Shape 26"/>
          <p:cNvSpPr/>
          <p:nvPr/>
        </p:nvSpPr>
        <p:spPr>
          <a:xfrm>
            <a:off x="8193024" y="3154680"/>
            <a:ext cx="3520440" cy="2331720"/>
          </a:xfrm>
          <a:prstGeom prst="roundRect">
            <a:avLst>
              <a:gd name="adj" fmla="val 3529"/>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0" name="Text 27"/>
          <p:cNvSpPr/>
          <p:nvPr/>
        </p:nvSpPr>
        <p:spPr>
          <a:xfrm>
            <a:off x="8485632" y="3364992"/>
            <a:ext cx="2926080" cy="292608"/>
          </a:xfrm>
          <a:prstGeom prst="rect">
            <a:avLst/>
          </a:prstGeom>
          <a:noFill/>
          <a:ln/>
        </p:spPr>
        <p:txBody>
          <a:bodyPr wrap="square" lIns="0" tIns="0" rIns="0" bIns="0" rtlCol="0" anchor="ctr"/>
          <a:lstStyle/>
          <a:p>
            <a:pPr indent="0" marL="0">
              <a:buNone/>
            </a:pPr>
            <a:r>
              <a:rPr lang="en-US" sz="1500" b="1" dirty="0">
                <a:solidFill>
                  <a:srgbClr val="1A3884"/>
                </a:solidFill>
                <a:latin typeface="Calibri" pitchFamily="34" charset="0"/>
                <a:ea typeface="Calibri" pitchFamily="34" charset="-122"/>
                <a:cs typeface="Calibri" pitchFamily="34" charset="-120"/>
              </a:rPr>
              <a:t>For the student</a:t>
            </a:r>
            <a:endParaRPr lang="en-US" sz="1500" dirty="0"/>
          </a:p>
        </p:txBody>
      </p:sp>
      <p:sp>
        <p:nvSpPr>
          <p:cNvPr id="31" name="Text 28"/>
          <p:cNvSpPr/>
          <p:nvPr/>
        </p:nvSpPr>
        <p:spPr>
          <a:xfrm>
            <a:off x="8485632" y="3703320"/>
            <a:ext cx="2926080" cy="169164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Jobs and fairs filtered to what they are eligible for</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Application status visible at every stage</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Interview preparation and prep kit</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 verified profile, not a self-written claim</a:t>
            </a:r>
            <a:endParaRPr lang="en-US" sz="1150" dirty="0"/>
          </a:p>
        </p:txBody>
      </p:sp>
      <p:sp>
        <p:nvSpPr>
          <p:cNvPr id="32" name="Text 29"/>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33" name="Text 30"/>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ENGAGEMENT &amp; CARE</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Around the learning</a:t>
            </a:r>
            <a:endParaRPr lang="en-US" sz="3200" dirty="0"/>
          </a:p>
        </p:txBody>
      </p:sp>
      <p:sp>
        <p:nvSpPr>
          <p:cNvPr id="5" name="Text 2"/>
          <p:cNvSpPr/>
          <p:nvPr/>
        </p:nvSpPr>
        <p:spPr>
          <a:xfrm>
            <a:off x="640080" y="1481328"/>
            <a:ext cx="10881360" cy="365760"/>
          </a:xfrm>
          <a:prstGeom prst="rect">
            <a:avLst/>
          </a:prstGeom>
          <a:noFill/>
          <a:ln/>
        </p:spPr>
        <p:txBody>
          <a:bodyPr wrap="square" lIns="0" tIns="0" rIns="0" bIns="0" rtlCol="0" anchor="t"/>
          <a:lstStyle/>
          <a:p>
            <a:pPr algn="l" indent="0" marL="0">
              <a:lnSpc>
                <a:spcPct val="118000"/>
              </a:lnSpc>
              <a:buNone/>
            </a:pPr>
            <a:r>
              <a:rPr lang="en-US" sz="1400" dirty="0">
                <a:solidFill>
                  <a:srgbClr val="64748B"/>
                </a:solidFill>
                <a:latin typeface="Calibri" pitchFamily="34" charset="0"/>
                <a:ea typeface="Calibri" pitchFamily="34" charset="-122"/>
                <a:cs typeface="Calibri" pitchFamily="34" charset="-120"/>
              </a:rPr>
              <a:t>A student who stops logging in is the real failure mode. These are the systems that catch that early.</a:t>
            </a:r>
            <a:endParaRPr lang="en-US" sz="1400" dirty="0"/>
          </a:p>
        </p:txBody>
      </p:sp>
      <p:sp>
        <p:nvSpPr>
          <p:cNvPr id="6" name="Shape 3"/>
          <p:cNvSpPr/>
          <p:nvPr/>
        </p:nvSpPr>
        <p:spPr>
          <a:xfrm>
            <a:off x="640080" y="2103120"/>
            <a:ext cx="3520440" cy="1463040"/>
          </a:xfrm>
          <a:prstGeom prst="roundRect">
            <a:avLst>
              <a:gd name="adj" fmla="val 562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Shape 4"/>
          <p:cNvSpPr/>
          <p:nvPr/>
        </p:nvSpPr>
        <p:spPr>
          <a:xfrm>
            <a:off x="932688" y="2377440"/>
            <a:ext cx="128016" cy="128016"/>
          </a:xfrm>
          <a:prstGeom prst="ellipse">
            <a:avLst/>
          </a:prstGeom>
          <a:solidFill>
            <a:srgbClr val="1A3884"/>
          </a:solidFill>
          <a:ln w="12700">
            <a:solidFill>
              <a:srgbClr val="1A3884"/>
            </a:solidFill>
            <a:prstDash val="solid"/>
          </a:ln>
        </p:spPr>
      </p:sp>
      <p:sp>
        <p:nvSpPr>
          <p:cNvPr id="8" name="Text 5"/>
          <p:cNvSpPr/>
          <p:nvPr/>
        </p:nvSpPr>
        <p:spPr>
          <a:xfrm>
            <a:off x="932688" y="2377440"/>
            <a:ext cx="128016" cy="128016"/>
          </a:xfrm>
          <a:prstGeom prst="rect">
            <a:avLst/>
          </a:prstGeom>
          <a:noFill/>
          <a:ln/>
        </p:spPr>
        <p:txBody>
          <a:bodyPr wrap="square" lIns="0" tIns="0" rIns="0" bIns="0" rtlCol="0" anchor="ctr"/>
          <a:lstStyle/>
          <a:p>
            <a:pPr algn="ctr" indent="0" marL="0">
              <a:buNone/>
            </a:pPr>
            <a:endParaRPr lang="en-US" sz="1300" dirty="0"/>
          </a:p>
        </p:txBody>
      </p:sp>
      <p:sp>
        <p:nvSpPr>
          <p:cNvPr id="9" name="Text 6"/>
          <p:cNvSpPr/>
          <p:nvPr/>
        </p:nvSpPr>
        <p:spPr>
          <a:xfrm>
            <a:off x="1170432" y="2322576"/>
            <a:ext cx="274320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Community</a:t>
            </a:r>
            <a:endParaRPr lang="en-US" sz="1500" dirty="0"/>
          </a:p>
        </p:txBody>
      </p:sp>
      <p:sp>
        <p:nvSpPr>
          <p:cNvPr id="10" name="Text 7"/>
          <p:cNvSpPr/>
          <p:nvPr/>
        </p:nvSpPr>
        <p:spPr>
          <a:xfrm>
            <a:off x="932688" y="2761488"/>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64748B"/>
                </a:solidFill>
                <a:latin typeface="Calibri" pitchFamily="34" charset="0"/>
                <a:ea typeface="Calibri" pitchFamily="34" charset="-122"/>
                <a:cs typeface="Calibri" pitchFamily="34" charset="-120"/>
              </a:rPr>
              <a:t>Moderated posts, replies, likes and mentions, with a reporting queue behind them.</a:t>
            </a:r>
            <a:endParaRPr lang="en-US" sz="1150" dirty="0"/>
          </a:p>
        </p:txBody>
      </p:sp>
      <p:sp>
        <p:nvSpPr>
          <p:cNvPr id="11" name="Shape 8"/>
          <p:cNvSpPr/>
          <p:nvPr/>
        </p:nvSpPr>
        <p:spPr>
          <a:xfrm>
            <a:off x="4416552" y="2103120"/>
            <a:ext cx="3520440" cy="1463040"/>
          </a:xfrm>
          <a:prstGeom prst="roundRect">
            <a:avLst>
              <a:gd name="adj" fmla="val 562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2" name="Shape 9"/>
          <p:cNvSpPr/>
          <p:nvPr/>
        </p:nvSpPr>
        <p:spPr>
          <a:xfrm>
            <a:off x="4709160" y="2377440"/>
            <a:ext cx="128016" cy="128016"/>
          </a:xfrm>
          <a:prstGeom prst="ellipse">
            <a:avLst/>
          </a:prstGeom>
          <a:solidFill>
            <a:srgbClr val="1A3884"/>
          </a:solidFill>
          <a:ln w="12700">
            <a:solidFill>
              <a:srgbClr val="1A3884"/>
            </a:solidFill>
            <a:prstDash val="solid"/>
          </a:ln>
        </p:spPr>
      </p:sp>
      <p:sp>
        <p:nvSpPr>
          <p:cNvPr id="13" name="Text 10"/>
          <p:cNvSpPr/>
          <p:nvPr/>
        </p:nvSpPr>
        <p:spPr>
          <a:xfrm>
            <a:off x="4709160" y="2377440"/>
            <a:ext cx="128016" cy="128016"/>
          </a:xfrm>
          <a:prstGeom prst="rect">
            <a:avLst/>
          </a:prstGeom>
          <a:noFill/>
          <a:ln/>
        </p:spPr>
        <p:txBody>
          <a:bodyPr wrap="square" lIns="0" tIns="0" rIns="0" bIns="0" rtlCol="0" anchor="ctr"/>
          <a:lstStyle/>
          <a:p>
            <a:pPr algn="ctr" indent="0" marL="0">
              <a:buNone/>
            </a:pPr>
            <a:endParaRPr lang="en-US" sz="1300" dirty="0"/>
          </a:p>
        </p:txBody>
      </p:sp>
      <p:sp>
        <p:nvSpPr>
          <p:cNvPr id="14" name="Text 11"/>
          <p:cNvSpPr/>
          <p:nvPr/>
        </p:nvSpPr>
        <p:spPr>
          <a:xfrm>
            <a:off x="4946904" y="2322576"/>
            <a:ext cx="274320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Groups &amp; chat</a:t>
            </a:r>
            <a:endParaRPr lang="en-US" sz="1500" dirty="0"/>
          </a:p>
        </p:txBody>
      </p:sp>
      <p:sp>
        <p:nvSpPr>
          <p:cNvPr id="15" name="Text 12"/>
          <p:cNvSpPr/>
          <p:nvPr/>
        </p:nvSpPr>
        <p:spPr>
          <a:xfrm>
            <a:off x="4709160" y="2761488"/>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64748B"/>
                </a:solidFill>
                <a:latin typeface="Calibri" pitchFamily="34" charset="0"/>
                <a:ea typeface="Calibri" pitchFamily="34" charset="-122"/>
                <a:cs typeface="Calibri" pitchFamily="34" charset="-120"/>
              </a:rPr>
              <a:t>Student groups with their own conversation and shared tasks.</a:t>
            </a:r>
            <a:endParaRPr lang="en-US" sz="1150" dirty="0"/>
          </a:p>
        </p:txBody>
      </p:sp>
      <p:sp>
        <p:nvSpPr>
          <p:cNvPr id="16" name="Shape 13"/>
          <p:cNvSpPr/>
          <p:nvPr/>
        </p:nvSpPr>
        <p:spPr>
          <a:xfrm>
            <a:off x="8193024" y="2103120"/>
            <a:ext cx="3520440" cy="1463040"/>
          </a:xfrm>
          <a:prstGeom prst="roundRect">
            <a:avLst>
              <a:gd name="adj" fmla="val 562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7" name="Shape 14"/>
          <p:cNvSpPr/>
          <p:nvPr/>
        </p:nvSpPr>
        <p:spPr>
          <a:xfrm>
            <a:off x="8485632" y="2377440"/>
            <a:ext cx="128016" cy="128016"/>
          </a:xfrm>
          <a:prstGeom prst="ellipse">
            <a:avLst/>
          </a:prstGeom>
          <a:solidFill>
            <a:srgbClr val="1A3884"/>
          </a:solidFill>
          <a:ln w="12700">
            <a:solidFill>
              <a:srgbClr val="1A3884"/>
            </a:solidFill>
            <a:prstDash val="solid"/>
          </a:ln>
        </p:spPr>
      </p:sp>
      <p:sp>
        <p:nvSpPr>
          <p:cNvPr id="18" name="Text 15"/>
          <p:cNvSpPr/>
          <p:nvPr/>
        </p:nvSpPr>
        <p:spPr>
          <a:xfrm>
            <a:off x="8485632" y="2377440"/>
            <a:ext cx="128016" cy="128016"/>
          </a:xfrm>
          <a:prstGeom prst="rect">
            <a:avLst/>
          </a:prstGeom>
          <a:noFill/>
          <a:ln/>
        </p:spPr>
        <p:txBody>
          <a:bodyPr wrap="square" lIns="0" tIns="0" rIns="0" bIns="0" rtlCol="0" anchor="ctr"/>
          <a:lstStyle/>
          <a:p>
            <a:pPr algn="ctr" indent="0" marL="0">
              <a:buNone/>
            </a:pPr>
            <a:endParaRPr lang="en-US" sz="1300" dirty="0"/>
          </a:p>
        </p:txBody>
      </p:sp>
      <p:sp>
        <p:nvSpPr>
          <p:cNvPr id="19" name="Text 16"/>
          <p:cNvSpPr/>
          <p:nvPr/>
        </p:nvSpPr>
        <p:spPr>
          <a:xfrm>
            <a:off x="8723376" y="2322576"/>
            <a:ext cx="274320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MindCare sessions</a:t>
            </a:r>
            <a:endParaRPr lang="en-US" sz="1500" dirty="0"/>
          </a:p>
        </p:txBody>
      </p:sp>
      <p:sp>
        <p:nvSpPr>
          <p:cNvPr id="20" name="Text 17"/>
          <p:cNvSpPr/>
          <p:nvPr/>
        </p:nvSpPr>
        <p:spPr>
          <a:xfrm>
            <a:off x="8485632" y="2761488"/>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64748B"/>
                </a:solidFill>
                <a:latin typeface="Calibri" pitchFamily="34" charset="0"/>
                <a:ea typeface="Calibri" pitchFamily="34" charset="-122"/>
                <a:cs typeface="Calibri" pitchFamily="34" charset="-120"/>
              </a:rPr>
              <a:t>Booked sessions with certified coaches across academic, career and wellbeing needs.</a:t>
            </a:r>
            <a:endParaRPr lang="en-US" sz="1150" dirty="0"/>
          </a:p>
        </p:txBody>
      </p:sp>
      <p:sp>
        <p:nvSpPr>
          <p:cNvPr id="21" name="Shape 18"/>
          <p:cNvSpPr/>
          <p:nvPr/>
        </p:nvSpPr>
        <p:spPr>
          <a:xfrm>
            <a:off x="640080" y="3794760"/>
            <a:ext cx="3520440" cy="1463040"/>
          </a:xfrm>
          <a:prstGeom prst="roundRect">
            <a:avLst>
              <a:gd name="adj" fmla="val 562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2" name="Shape 19"/>
          <p:cNvSpPr/>
          <p:nvPr/>
        </p:nvSpPr>
        <p:spPr>
          <a:xfrm>
            <a:off x="932688" y="4069080"/>
            <a:ext cx="128016" cy="128016"/>
          </a:xfrm>
          <a:prstGeom prst="ellipse">
            <a:avLst/>
          </a:prstGeom>
          <a:solidFill>
            <a:srgbClr val="1A3884"/>
          </a:solidFill>
          <a:ln w="12700">
            <a:solidFill>
              <a:srgbClr val="1A3884"/>
            </a:solidFill>
            <a:prstDash val="solid"/>
          </a:ln>
        </p:spPr>
      </p:sp>
      <p:sp>
        <p:nvSpPr>
          <p:cNvPr id="23" name="Text 20"/>
          <p:cNvSpPr/>
          <p:nvPr/>
        </p:nvSpPr>
        <p:spPr>
          <a:xfrm>
            <a:off x="932688" y="4069080"/>
            <a:ext cx="128016" cy="128016"/>
          </a:xfrm>
          <a:prstGeom prst="rect">
            <a:avLst/>
          </a:prstGeom>
          <a:noFill/>
          <a:ln/>
        </p:spPr>
        <p:txBody>
          <a:bodyPr wrap="square" lIns="0" tIns="0" rIns="0" bIns="0" rtlCol="0" anchor="ctr"/>
          <a:lstStyle/>
          <a:p>
            <a:pPr algn="ctr" indent="0" marL="0">
              <a:buNone/>
            </a:pPr>
            <a:endParaRPr lang="en-US" sz="1300" dirty="0"/>
          </a:p>
        </p:txBody>
      </p:sp>
      <p:sp>
        <p:nvSpPr>
          <p:cNvPr id="24" name="Text 21"/>
          <p:cNvSpPr/>
          <p:nvPr/>
        </p:nvSpPr>
        <p:spPr>
          <a:xfrm>
            <a:off x="1170432" y="4014216"/>
            <a:ext cx="274320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Escalations</a:t>
            </a:r>
            <a:endParaRPr lang="en-US" sz="1500" dirty="0"/>
          </a:p>
        </p:txBody>
      </p:sp>
      <p:sp>
        <p:nvSpPr>
          <p:cNvPr id="25" name="Text 22"/>
          <p:cNvSpPr/>
          <p:nvPr/>
        </p:nvSpPr>
        <p:spPr>
          <a:xfrm>
            <a:off x="932688" y="4453128"/>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64748B"/>
                </a:solidFill>
                <a:latin typeface="Calibri" pitchFamily="34" charset="0"/>
                <a:ea typeface="Calibri" pitchFamily="34" charset="-122"/>
                <a:cs typeface="Calibri" pitchFamily="34" charset="-120"/>
              </a:rPr>
              <a:t>Red-flag tracking so a struggling student reaches a coach, not a report.</a:t>
            </a:r>
            <a:endParaRPr lang="en-US" sz="1150" dirty="0"/>
          </a:p>
        </p:txBody>
      </p:sp>
      <p:sp>
        <p:nvSpPr>
          <p:cNvPr id="26" name="Shape 23"/>
          <p:cNvSpPr/>
          <p:nvPr/>
        </p:nvSpPr>
        <p:spPr>
          <a:xfrm>
            <a:off x="4416552" y="3794760"/>
            <a:ext cx="3520440" cy="1463040"/>
          </a:xfrm>
          <a:prstGeom prst="roundRect">
            <a:avLst>
              <a:gd name="adj" fmla="val 562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7" name="Shape 24"/>
          <p:cNvSpPr/>
          <p:nvPr/>
        </p:nvSpPr>
        <p:spPr>
          <a:xfrm>
            <a:off x="4709160" y="4069080"/>
            <a:ext cx="128016" cy="128016"/>
          </a:xfrm>
          <a:prstGeom prst="ellipse">
            <a:avLst/>
          </a:prstGeom>
          <a:solidFill>
            <a:srgbClr val="1A3884"/>
          </a:solidFill>
          <a:ln w="12700">
            <a:solidFill>
              <a:srgbClr val="1A3884"/>
            </a:solidFill>
            <a:prstDash val="solid"/>
          </a:ln>
        </p:spPr>
      </p:sp>
      <p:sp>
        <p:nvSpPr>
          <p:cNvPr id="28" name="Text 25"/>
          <p:cNvSpPr/>
          <p:nvPr/>
        </p:nvSpPr>
        <p:spPr>
          <a:xfrm>
            <a:off x="4709160" y="4069080"/>
            <a:ext cx="128016" cy="128016"/>
          </a:xfrm>
          <a:prstGeom prst="rect">
            <a:avLst/>
          </a:prstGeom>
          <a:noFill/>
          <a:ln/>
        </p:spPr>
        <p:txBody>
          <a:bodyPr wrap="square" lIns="0" tIns="0" rIns="0" bIns="0" rtlCol="0" anchor="ctr"/>
          <a:lstStyle/>
          <a:p>
            <a:pPr algn="ctr" indent="0" marL="0">
              <a:buNone/>
            </a:pPr>
            <a:endParaRPr lang="en-US" sz="1300" dirty="0"/>
          </a:p>
        </p:txBody>
      </p:sp>
      <p:sp>
        <p:nvSpPr>
          <p:cNvPr id="29" name="Text 26"/>
          <p:cNvSpPr/>
          <p:nvPr/>
        </p:nvSpPr>
        <p:spPr>
          <a:xfrm>
            <a:off x="4946904" y="4014216"/>
            <a:ext cx="274320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Support &amp; grievances</a:t>
            </a:r>
            <a:endParaRPr lang="en-US" sz="1500" dirty="0"/>
          </a:p>
        </p:txBody>
      </p:sp>
      <p:sp>
        <p:nvSpPr>
          <p:cNvPr id="30" name="Text 27"/>
          <p:cNvSpPr/>
          <p:nvPr/>
        </p:nvSpPr>
        <p:spPr>
          <a:xfrm>
            <a:off x="4709160" y="4453128"/>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64748B"/>
                </a:solidFill>
                <a:latin typeface="Calibri" pitchFamily="34" charset="0"/>
                <a:ea typeface="Calibri" pitchFamily="34" charset="-122"/>
                <a:cs typeface="Calibri" pitchFamily="34" charset="-120"/>
              </a:rPr>
              <a:t>Ticketing and a formal grievance channel, both with an audit trail.</a:t>
            </a:r>
            <a:endParaRPr lang="en-US" sz="1150" dirty="0"/>
          </a:p>
        </p:txBody>
      </p:sp>
      <p:sp>
        <p:nvSpPr>
          <p:cNvPr id="31" name="Shape 28"/>
          <p:cNvSpPr/>
          <p:nvPr/>
        </p:nvSpPr>
        <p:spPr>
          <a:xfrm>
            <a:off x="8193024" y="3794760"/>
            <a:ext cx="3520440" cy="1463040"/>
          </a:xfrm>
          <a:prstGeom prst="roundRect">
            <a:avLst>
              <a:gd name="adj" fmla="val 5625"/>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2" name="Shape 29"/>
          <p:cNvSpPr/>
          <p:nvPr/>
        </p:nvSpPr>
        <p:spPr>
          <a:xfrm>
            <a:off x="8485632" y="4069080"/>
            <a:ext cx="128016" cy="128016"/>
          </a:xfrm>
          <a:prstGeom prst="ellipse">
            <a:avLst/>
          </a:prstGeom>
          <a:solidFill>
            <a:srgbClr val="1A3884"/>
          </a:solidFill>
          <a:ln w="12700">
            <a:solidFill>
              <a:srgbClr val="1A3884"/>
            </a:solidFill>
            <a:prstDash val="solid"/>
          </a:ln>
        </p:spPr>
      </p:sp>
      <p:sp>
        <p:nvSpPr>
          <p:cNvPr id="33" name="Text 30"/>
          <p:cNvSpPr/>
          <p:nvPr/>
        </p:nvSpPr>
        <p:spPr>
          <a:xfrm>
            <a:off x="8485632" y="4069080"/>
            <a:ext cx="128016" cy="128016"/>
          </a:xfrm>
          <a:prstGeom prst="rect">
            <a:avLst/>
          </a:prstGeom>
          <a:noFill/>
          <a:ln/>
        </p:spPr>
        <p:txBody>
          <a:bodyPr wrap="square" lIns="0" tIns="0" rIns="0" bIns="0" rtlCol="0" anchor="ctr"/>
          <a:lstStyle/>
          <a:p>
            <a:pPr algn="ctr" indent="0" marL="0">
              <a:buNone/>
            </a:pPr>
            <a:endParaRPr lang="en-US" sz="1300" dirty="0"/>
          </a:p>
        </p:txBody>
      </p:sp>
      <p:sp>
        <p:nvSpPr>
          <p:cNvPr id="34" name="Text 31"/>
          <p:cNvSpPr/>
          <p:nvPr/>
        </p:nvSpPr>
        <p:spPr>
          <a:xfrm>
            <a:off x="8723376" y="4014216"/>
            <a:ext cx="274320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Motivation systems</a:t>
            </a:r>
            <a:endParaRPr lang="en-US" sz="1500" dirty="0"/>
          </a:p>
        </p:txBody>
      </p:sp>
      <p:sp>
        <p:nvSpPr>
          <p:cNvPr id="35" name="Text 32"/>
          <p:cNvSpPr/>
          <p:nvPr/>
        </p:nvSpPr>
        <p:spPr>
          <a:xfrm>
            <a:off x="8485632" y="4453128"/>
            <a:ext cx="2926080" cy="914400"/>
          </a:xfrm>
          <a:prstGeom prst="rect">
            <a:avLst/>
          </a:prstGeom>
          <a:noFill/>
          <a:ln/>
        </p:spPr>
        <p:txBody>
          <a:bodyPr wrap="square" lIns="0" tIns="0" rIns="0" bIns="0" rtlCol="0" anchor="t"/>
          <a:lstStyle/>
          <a:p>
            <a:pPr algn="l" indent="0" marL="0">
              <a:lnSpc>
                <a:spcPct val="120000"/>
              </a:lnSpc>
              <a:buNone/>
            </a:pPr>
            <a:r>
              <a:rPr lang="en-US" sz="1150" dirty="0">
                <a:solidFill>
                  <a:srgbClr val="64748B"/>
                </a:solidFill>
                <a:latin typeface="Calibri" pitchFamily="34" charset="0"/>
                <a:ea typeface="Calibri" pitchFamily="34" charset="-122"/>
                <a:cs typeface="Calibri" pitchFamily="34" charset="-120"/>
              </a:rPr>
              <a:t>Badges, XP levels, streaks, vision boards and to-do tracking.</a:t>
            </a:r>
            <a:endParaRPr lang="en-US" sz="1150" dirty="0"/>
          </a:p>
        </p:txBody>
      </p:sp>
      <p:sp>
        <p:nvSpPr>
          <p:cNvPr id="36" name="Text 33"/>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37" name="Text 34"/>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AI FEATURES</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The SMAART Toolkit</a:t>
            </a:r>
            <a:endParaRPr lang="en-US" sz="3200" dirty="0"/>
          </a:p>
        </p:txBody>
      </p:sp>
      <p:sp>
        <p:nvSpPr>
          <p:cNvPr id="5" name="Text 2"/>
          <p:cNvSpPr/>
          <p:nvPr/>
        </p:nvSpPr>
        <p:spPr>
          <a:xfrm>
            <a:off x="640080" y="1481328"/>
            <a:ext cx="10881360" cy="365760"/>
          </a:xfrm>
          <a:prstGeom prst="rect">
            <a:avLst/>
          </a:prstGeom>
          <a:noFill/>
          <a:ln/>
        </p:spPr>
        <p:txBody>
          <a:bodyPr wrap="square" lIns="0" tIns="0" rIns="0" bIns="0" rtlCol="0" anchor="t"/>
          <a:lstStyle/>
          <a:p>
            <a:pPr algn="l" indent="0" marL="0">
              <a:lnSpc>
                <a:spcPct val="118000"/>
              </a:lnSpc>
              <a:buNone/>
            </a:pPr>
            <a:r>
              <a:rPr lang="en-US" sz="1400" dirty="0">
                <a:solidFill>
                  <a:srgbClr val="64748B"/>
                </a:solidFill>
                <a:latin typeface="Calibri" pitchFamily="34" charset="0"/>
                <a:ea typeface="Calibri" pitchFamily="34" charset="-122"/>
                <a:cs typeface="Calibri" pitchFamily="34" charset="-120"/>
              </a:rPr>
              <a:t>AI is used where it saves a student real time — and never as the thing that decides whether they pass.</a:t>
            </a:r>
            <a:endParaRPr lang="en-US" sz="1400" dirty="0"/>
          </a:p>
        </p:txBody>
      </p:sp>
      <p:sp>
        <p:nvSpPr>
          <p:cNvPr id="6" name="Shape 3"/>
          <p:cNvSpPr/>
          <p:nvPr/>
        </p:nvSpPr>
        <p:spPr>
          <a:xfrm>
            <a:off x="640080" y="2057400"/>
            <a:ext cx="5440680" cy="1143000"/>
          </a:xfrm>
          <a:prstGeom prst="roundRect">
            <a:avLst>
              <a:gd name="adj" fmla="val 72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Shape 4"/>
          <p:cNvSpPr/>
          <p:nvPr/>
        </p:nvSpPr>
        <p:spPr>
          <a:xfrm>
            <a:off x="914400" y="2386584"/>
            <a:ext cx="457200" cy="457200"/>
          </a:xfrm>
          <a:prstGeom prst="ellipse">
            <a:avLst/>
          </a:prstGeom>
          <a:solidFill>
            <a:srgbClr val="1A3884"/>
          </a:solidFill>
          <a:ln w="12700">
            <a:solidFill>
              <a:srgbClr val="1A3884"/>
            </a:solidFill>
            <a:prstDash val="solid"/>
          </a:ln>
        </p:spPr>
      </p:sp>
      <p:sp>
        <p:nvSpPr>
          <p:cNvPr id="8" name="Text 5"/>
          <p:cNvSpPr/>
          <p:nvPr/>
        </p:nvSpPr>
        <p:spPr>
          <a:xfrm>
            <a:off x="914400" y="23865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508760" y="2240280"/>
            <a:ext cx="4297680" cy="27432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AI Career Coach</a:t>
            </a:r>
            <a:endParaRPr lang="en-US" sz="1450" dirty="0"/>
          </a:p>
        </p:txBody>
      </p:sp>
      <p:sp>
        <p:nvSpPr>
          <p:cNvPr id="10" name="Text 7"/>
          <p:cNvSpPr/>
          <p:nvPr/>
        </p:nvSpPr>
        <p:spPr>
          <a:xfrm>
            <a:off x="1508760" y="2551176"/>
            <a:ext cx="4206240" cy="566928"/>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A career conversation available at any hour, grounded in the student's own profile and results.</a:t>
            </a:r>
            <a:endParaRPr lang="en-US" sz="1150" dirty="0"/>
          </a:p>
        </p:txBody>
      </p:sp>
      <p:sp>
        <p:nvSpPr>
          <p:cNvPr id="11" name="Shape 8"/>
          <p:cNvSpPr/>
          <p:nvPr/>
        </p:nvSpPr>
        <p:spPr>
          <a:xfrm>
            <a:off x="6336792" y="2057400"/>
            <a:ext cx="5440680" cy="1143000"/>
          </a:xfrm>
          <a:prstGeom prst="roundRect">
            <a:avLst>
              <a:gd name="adj" fmla="val 72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2" name="Shape 9"/>
          <p:cNvSpPr/>
          <p:nvPr/>
        </p:nvSpPr>
        <p:spPr>
          <a:xfrm>
            <a:off x="6611112" y="2386584"/>
            <a:ext cx="457200" cy="457200"/>
          </a:xfrm>
          <a:prstGeom prst="ellipse">
            <a:avLst/>
          </a:prstGeom>
          <a:solidFill>
            <a:srgbClr val="1A3884"/>
          </a:solidFill>
          <a:ln w="12700">
            <a:solidFill>
              <a:srgbClr val="1A3884"/>
            </a:solidFill>
            <a:prstDash val="solid"/>
          </a:ln>
        </p:spPr>
      </p:sp>
      <p:sp>
        <p:nvSpPr>
          <p:cNvPr id="13" name="Text 10"/>
          <p:cNvSpPr/>
          <p:nvPr/>
        </p:nvSpPr>
        <p:spPr>
          <a:xfrm>
            <a:off x="6611112" y="23865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7205472" y="2240280"/>
            <a:ext cx="4297680" cy="27432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Profile analysis</a:t>
            </a:r>
            <a:endParaRPr lang="en-US" sz="1450" dirty="0"/>
          </a:p>
        </p:txBody>
      </p:sp>
      <p:sp>
        <p:nvSpPr>
          <p:cNvPr id="15" name="Text 12"/>
          <p:cNvSpPr/>
          <p:nvPr/>
        </p:nvSpPr>
        <p:spPr>
          <a:xfrm>
            <a:off x="7205472" y="2551176"/>
            <a:ext cx="4206240" cy="566928"/>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Strengths, gaps and suggested roles read from assessments, courses and history.</a:t>
            </a:r>
            <a:endParaRPr lang="en-US" sz="1150" dirty="0"/>
          </a:p>
        </p:txBody>
      </p:sp>
      <p:sp>
        <p:nvSpPr>
          <p:cNvPr id="16" name="Shape 13"/>
          <p:cNvSpPr/>
          <p:nvPr/>
        </p:nvSpPr>
        <p:spPr>
          <a:xfrm>
            <a:off x="640080" y="3383280"/>
            <a:ext cx="5440680" cy="1143000"/>
          </a:xfrm>
          <a:prstGeom prst="roundRect">
            <a:avLst>
              <a:gd name="adj" fmla="val 72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7" name="Shape 14"/>
          <p:cNvSpPr/>
          <p:nvPr/>
        </p:nvSpPr>
        <p:spPr>
          <a:xfrm>
            <a:off x="914400" y="3712464"/>
            <a:ext cx="457200" cy="457200"/>
          </a:xfrm>
          <a:prstGeom prst="ellipse">
            <a:avLst/>
          </a:prstGeom>
          <a:solidFill>
            <a:srgbClr val="1A3884"/>
          </a:solidFill>
          <a:ln w="12700">
            <a:solidFill>
              <a:srgbClr val="1A3884"/>
            </a:solidFill>
            <a:prstDash val="solid"/>
          </a:ln>
        </p:spPr>
      </p:sp>
      <p:sp>
        <p:nvSpPr>
          <p:cNvPr id="18" name="Text 15"/>
          <p:cNvSpPr/>
          <p:nvPr/>
        </p:nvSpPr>
        <p:spPr>
          <a:xfrm>
            <a:off x="914400" y="37124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508760" y="3566160"/>
            <a:ext cx="4297680" cy="27432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Skill gap &amp; learning plan</a:t>
            </a:r>
            <a:endParaRPr lang="en-US" sz="1450" dirty="0"/>
          </a:p>
        </p:txBody>
      </p:sp>
      <p:sp>
        <p:nvSpPr>
          <p:cNvPr id="20" name="Text 17"/>
          <p:cNvSpPr/>
          <p:nvPr/>
        </p:nvSpPr>
        <p:spPr>
          <a:xfrm>
            <a:off x="1508760" y="3877056"/>
            <a:ext cx="4206240" cy="566928"/>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The distance between the student now and the role they want, turned into a dated plan.</a:t>
            </a:r>
            <a:endParaRPr lang="en-US" sz="1150" dirty="0"/>
          </a:p>
        </p:txBody>
      </p:sp>
      <p:sp>
        <p:nvSpPr>
          <p:cNvPr id="21" name="Shape 18"/>
          <p:cNvSpPr/>
          <p:nvPr/>
        </p:nvSpPr>
        <p:spPr>
          <a:xfrm>
            <a:off x="6336792" y="3383280"/>
            <a:ext cx="5440680" cy="1143000"/>
          </a:xfrm>
          <a:prstGeom prst="roundRect">
            <a:avLst>
              <a:gd name="adj" fmla="val 72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2" name="Shape 19"/>
          <p:cNvSpPr/>
          <p:nvPr/>
        </p:nvSpPr>
        <p:spPr>
          <a:xfrm>
            <a:off x="6611112" y="3712464"/>
            <a:ext cx="457200" cy="457200"/>
          </a:xfrm>
          <a:prstGeom prst="ellipse">
            <a:avLst/>
          </a:prstGeom>
          <a:solidFill>
            <a:srgbClr val="1A3884"/>
          </a:solidFill>
          <a:ln w="12700">
            <a:solidFill>
              <a:srgbClr val="1A3884"/>
            </a:solidFill>
            <a:prstDash val="solid"/>
          </a:ln>
        </p:spPr>
      </p:sp>
      <p:sp>
        <p:nvSpPr>
          <p:cNvPr id="23" name="Text 20"/>
          <p:cNvSpPr/>
          <p:nvPr/>
        </p:nvSpPr>
        <p:spPr>
          <a:xfrm>
            <a:off x="6611112" y="37124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p:nvPr/>
        </p:nvSpPr>
        <p:spPr>
          <a:xfrm>
            <a:off x="7205472" y="3566160"/>
            <a:ext cx="4297680" cy="27432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Resume builder</a:t>
            </a:r>
            <a:endParaRPr lang="en-US" sz="1450" dirty="0"/>
          </a:p>
        </p:txBody>
      </p:sp>
      <p:sp>
        <p:nvSpPr>
          <p:cNvPr id="25" name="Text 22"/>
          <p:cNvSpPr/>
          <p:nvPr/>
        </p:nvSpPr>
        <p:spPr>
          <a:xfrm>
            <a:off x="7205472" y="3877056"/>
            <a:ext cx="4206240" cy="566928"/>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ATS-aware wording and structure, with a verification link employers can check.</a:t>
            </a:r>
            <a:endParaRPr lang="en-US" sz="1150" dirty="0"/>
          </a:p>
        </p:txBody>
      </p:sp>
      <p:sp>
        <p:nvSpPr>
          <p:cNvPr id="26" name="Shape 23"/>
          <p:cNvSpPr/>
          <p:nvPr/>
        </p:nvSpPr>
        <p:spPr>
          <a:xfrm>
            <a:off x="640080" y="4709160"/>
            <a:ext cx="5440680" cy="1143000"/>
          </a:xfrm>
          <a:prstGeom prst="roundRect">
            <a:avLst>
              <a:gd name="adj" fmla="val 72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7" name="Shape 24"/>
          <p:cNvSpPr/>
          <p:nvPr/>
        </p:nvSpPr>
        <p:spPr>
          <a:xfrm>
            <a:off x="914400" y="5038344"/>
            <a:ext cx="457200" cy="457200"/>
          </a:xfrm>
          <a:prstGeom prst="ellipse">
            <a:avLst/>
          </a:prstGeom>
          <a:solidFill>
            <a:srgbClr val="1A3884"/>
          </a:solidFill>
          <a:ln w="12700">
            <a:solidFill>
              <a:srgbClr val="1A3884"/>
            </a:solidFill>
            <a:prstDash val="solid"/>
          </a:ln>
        </p:spPr>
      </p:sp>
      <p:sp>
        <p:nvSpPr>
          <p:cNvPr id="28" name="Text 25"/>
          <p:cNvSpPr/>
          <p:nvPr/>
        </p:nvSpPr>
        <p:spPr>
          <a:xfrm>
            <a:off x="914400" y="50383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6"/>
          <p:cNvSpPr/>
          <p:nvPr/>
        </p:nvSpPr>
        <p:spPr>
          <a:xfrm>
            <a:off x="1508760" y="4892040"/>
            <a:ext cx="4297680" cy="27432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Career intelligence</a:t>
            </a:r>
            <a:endParaRPr lang="en-US" sz="1450" dirty="0"/>
          </a:p>
        </p:txBody>
      </p:sp>
      <p:sp>
        <p:nvSpPr>
          <p:cNvPr id="30" name="Text 27"/>
          <p:cNvSpPr/>
          <p:nvPr/>
        </p:nvSpPr>
        <p:spPr>
          <a:xfrm>
            <a:off x="1508760" y="5202936"/>
            <a:ext cx="4206240" cy="566928"/>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Salary, demand and progression modelling over a curated market dataset.</a:t>
            </a:r>
            <a:endParaRPr lang="en-US" sz="1150" dirty="0"/>
          </a:p>
        </p:txBody>
      </p:sp>
      <p:sp>
        <p:nvSpPr>
          <p:cNvPr id="31" name="Shape 28"/>
          <p:cNvSpPr/>
          <p:nvPr/>
        </p:nvSpPr>
        <p:spPr>
          <a:xfrm>
            <a:off x="6336792" y="4709160"/>
            <a:ext cx="5440680" cy="1143000"/>
          </a:xfrm>
          <a:prstGeom prst="roundRect">
            <a:avLst>
              <a:gd name="adj" fmla="val 7200"/>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32" name="Shape 29"/>
          <p:cNvSpPr/>
          <p:nvPr/>
        </p:nvSpPr>
        <p:spPr>
          <a:xfrm>
            <a:off x="6611112" y="5038344"/>
            <a:ext cx="457200" cy="457200"/>
          </a:xfrm>
          <a:prstGeom prst="ellipse">
            <a:avLst/>
          </a:prstGeom>
          <a:solidFill>
            <a:srgbClr val="1A3884"/>
          </a:solidFill>
          <a:ln w="12700">
            <a:solidFill>
              <a:srgbClr val="1A3884"/>
            </a:solidFill>
            <a:prstDash val="solid"/>
          </a:ln>
        </p:spPr>
      </p:sp>
      <p:sp>
        <p:nvSpPr>
          <p:cNvPr id="33" name="Text 30"/>
          <p:cNvSpPr/>
          <p:nvPr/>
        </p:nvSpPr>
        <p:spPr>
          <a:xfrm>
            <a:off x="6611112" y="50383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1"/>
          <p:cNvSpPr/>
          <p:nvPr/>
        </p:nvSpPr>
        <p:spPr>
          <a:xfrm>
            <a:off x="7205472" y="4892040"/>
            <a:ext cx="4297680" cy="27432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Everyday tools</a:t>
            </a:r>
            <a:endParaRPr lang="en-US" sz="1450" dirty="0"/>
          </a:p>
        </p:txBody>
      </p:sp>
      <p:sp>
        <p:nvSpPr>
          <p:cNvPr id="35" name="Text 32"/>
          <p:cNvSpPr/>
          <p:nvPr/>
        </p:nvSpPr>
        <p:spPr>
          <a:xfrm>
            <a:off x="7205472" y="5202936"/>
            <a:ext cx="4206240" cy="566928"/>
          </a:xfrm>
          <a:prstGeom prst="rect">
            <a:avLst/>
          </a:prstGeom>
          <a:noFill/>
          <a:ln/>
        </p:spPr>
        <p:txBody>
          <a:bodyPr wrap="square" lIns="0" tIns="0" rIns="0" bIns="0" rtlCol="0" anchor="t"/>
          <a:lstStyle/>
          <a:p>
            <a:pPr algn="l" indent="0" marL="0">
              <a:lnSpc>
                <a:spcPct val="115000"/>
              </a:lnSpc>
              <a:buNone/>
            </a:pPr>
            <a:r>
              <a:rPr lang="en-US" sz="1150" dirty="0">
                <a:solidFill>
                  <a:srgbClr val="64748B"/>
                </a:solidFill>
                <a:latin typeface="Calibri" pitchFamily="34" charset="0"/>
                <a:ea typeface="Calibri" pitchFamily="34" charset="-122"/>
                <a:cs typeface="Calibri" pitchFamily="34" charset="-120"/>
              </a:rPr>
              <a:t>Global library, dictionary and thesaurus, CGPA calculator, notes and flashcards.</a:t>
            </a:r>
            <a:endParaRPr lang="en-US" sz="1150" dirty="0"/>
          </a:p>
        </p:txBody>
      </p:sp>
      <p:sp>
        <p:nvSpPr>
          <p:cNvPr id="36" name="Text 33"/>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37" name="Text 34"/>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TECHNOLOGY</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How it is built</a:t>
            </a:r>
            <a:endParaRPr lang="en-US" sz="3200" dirty="0"/>
          </a:p>
        </p:txBody>
      </p:sp>
      <p:sp>
        <p:nvSpPr>
          <p:cNvPr id="5" name="Shape 2"/>
          <p:cNvSpPr/>
          <p:nvPr/>
        </p:nvSpPr>
        <p:spPr>
          <a:xfrm>
            <a:off x="640080" y="1627632"/>
            <a:ext cx="10908792" cy="868680"/>
          </a:xfrm>
          <a:prstGeom prst="roundRect">
            <a:avLst>
              <a:gd name="adj" fmla="val 9474"/>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6" name="Text 3"/>
          <p:cNvSpPr/>
          <p:nvPr/>
        </p:nvSpPr>
        <p:spPr>
          <a:xfrm>
            <a:off x="960120" y="1627632"/>
            <a:ext cx="1828800" cy="8686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Browser</a:t>
            </a:r>
            <a:endParaRPr lang="en-US" sz="1400" dirty="0"/>
          </a:p>
        </p:txBody>
      </p:sp>
      <p:sp>
        <p:nvSpPr>
          <p:cNvPr id="7" name="Text 4"/>
          <p:cNvSpPr/>
          <p:nvPr/>
        </p:nvSpPr>
        <p:spPr>
          <a:xfrm>
            <a:off x="2834640" y="1627632"/>
            <a:ext cx="8503920" cy="86868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Student dashboard — React 19 + Vite  |  Admin panel — React</a:t>
            </a:r>
            <a:endParaRPr lang="en-US" sz="1250" dirty="0"/>
          </a:p>
        </p:txBody>
      </p:sp>
      <p:sp>
        <p:nvSpPr>
          <p:cNvPr id="8" name="Shape 5"/>
          <p:cNvSpPr/>
          <p:nvPr/>
        </p:nvSpPr>
        <p:spPr>
          <a:xfrm>
            <a:off x="640080" y="2660904"/>
            <a:ext cx="10908792" cy="868680"/>
          </a:xfrm>
          <a:prstGeom prst="roundRect">
            <a:avLst>
              <a:gd name="adj" fmla="val 9474"/>
            </a:avLst>
          </a:prstGeom>
          <a:solidFill>
            <a:srgbClr val="EEF2FB"/>
          </a:solidFill>
          <a:ln w="12700">
            <a:solidFill>
              <a:srgbClr val="D3DEF3"/>
            </a:solidFill>
            <a:prstDash val="solid"/>
          </a:ln>
          <a:effectLst>
            <a:outerShdw sx="100000" sy="100000" kx="0" ky="0" algn="bl" rotWithShape="0" blurRad="127000" dist="25400" dir="5400000">
              <a:srgbClr val="0E2136">
                <a:alpha val="10000"/>
              </a:srgbClr>
            </a:outerShdw>
          </a:effectLst>
        </p:spPr>
      </p:sp>
      <p:sp>
        <p:nvSpPr>
          <p:cNvPr id="9" name="Text 6"/>
          <p:cNvSpPr/>
          <p:nvPr/>
        </p:nvSpPr>
        <p:spPr>
          <a:xfrm>
            <a:off x="960120" y="2660904"/>
            <a:ext cx="1828800" cy="8686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Edge</a:t>
            </a:r>
            <a:endParaRPr lang="en-US" sz="1400" dirty="0"/>
          </a:p>
        </p:txBody>
      </p:sp>
      <p:sp>
        <p:nvSpPr>
          <p:cNvPr id="10" name="Text 7"/>
          <p:cNvSpPr/>
          <p:nvPr/>
        </p:nvSpPr>
        <p:spPr>
          <a:xfrm>
            <a:off x="2834640" y="2660904"/>
            <a:ext cx="8503920" cy="86868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One Nginx proxy holds ports 80 and 443, terminates HTTPS and routes by hostname</a:t>
            </a:r>
            <a:endParaRPr lang="en-US" sz="1250" dirty="0"/>
          </a:p>
        </p:txBody>
      </p:sp>
      <p:sp>
        <p:nvSpPr>
          <p:cNvPr id="11" name="Shape 8"/>
          <p:cNvSpPr/>
          <p:nvPr/>
        </p:nvSpPr>
        <p:spPr>
          <a:xfrm>
            <a:off x="640080" y="3694176"/>
            <a:ext cx="10908792" cy="868680"/>
          </a:xfrm>
          <a:prstGeom prst="roundRect">
            <a:avLst>
              <a:gd name="adj" fmla="val 9474"/>
            </a:avLst>
          </a:prstGeom>
          <a:solidFill>
            <a:srgbClr val="1A3884"/>
          </a:solidFill>
          <a:ln w="12700">
            <a:solidFill>
              <a:srgbClr val="1A3884"/>
            </a:solidFill>
            <a:prstDash val="solid"/>
          </a:ln>
          <a:effectLst>
            <a:outerShdw sx="100000" sy="100000" kx="0" ky="0" algn="bl" rotWithShape="0" blurRad="127000" dist="25400" dir="5400000">
              <a:srgbClr val="0E2136">
                <a:alpha val="10000"/>
              </a:srgbClr>
            </a:outerShdw>
          </a:effectLst>
        </p:spPr>
      </p:sp>
      <p:sp>
        <p:nvSpPr>
          <p:cNvPr id="12" name="Text 9"/>
          <p:cNvSpPr/>
          <p:nvPr/>
        </p:nvSpPr>
        <p:spPr>
          <a:xfrm>
            <a:off x="960120" y="3694176"/>
            <a:ext cx="182880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Application</a:t>
            </a:r>
            <a:endParaRPr lang="en-US" sz="1400" dirty="0"/>
          </a:p>
        </p:txBody>
      </p:sp>
      <p:sp>
        <p:nvSpPr>
          <p:cNvPr id="13" name="Text 10"/>
          <p:cNvSpPr/>
          <p:nvPr/>
        </p:nvSpPr>
        <p:spPr>
          <a:xfrm>
            <a:off x="2834640" y="3694176"/>
            <a:ext cx="8503920" cy="868680"/>
          </a:xfrm>
          <a:prstGeom prst="rect">
            <a:avLst/>
          </a:prstGeom>
          <a:noFill/>
          <a:ln/>
        </p:spPr>
        <p:txBody>
          <a:bodyPr wrap="square" lIns="0" tIns="0" rIns="0" bIns="0" rtlCol="0" anchor="ctr"/>
          <a:lstStyle/>
          <a:p>
            <a:pPr indent="0" marL="0">
              <a:buNone/>
            </a:pPr>
            <a:r>
              <a:rPr lang="en-US" sz="1250" dirty="0">
                <a:solidFill>
                  <a:srgbClr val="D5DEEE"/>
                </a:solidFill>
                <a:latin typeface="Calibri" pitchFamily="34" charset="0"/>
                <a:ea typeface="Calibri" pitchFamily="34" charset="-122"/>
                <a:cs typeface="Calibri" pitchFamily="34" charset="-120"/>
              </a:rPr>
              <a:t>Two Node.js + Express services  ·  JWT authentication  ·  role-based access  ·  Socket.IO</a:t>
            </a:r>
            <a:endParaRPr lang="en-US" sz="1250" dirty="0"/>
          </a:p>
        </p:txBody>
      </p:sp>
      <p:sp>
        <p:nvSpPr>
          <p:cNvPr id="14" name="Shape 11"/>
          <p:cNvSpPr/>
          <p:nvPr/>
        </p:nvSpPr>
        <p:spPr>
          <a:xfrm>
            <a:off x="640080" y="4727448"/>
            <a:ext cx="10908792" cy="868680"/>
          </a:xfrm>
          <a:prstGeom prst="roundRect">
            <a:avLst>
              <a:gd name="adj" fmla="val 9474"/>
            </a:avLst>
          </a:prstGeom>
          <a:solidFill>
            <a:srgbClr val="0E2136"/>
          </a:solidFill>
          <a:ln w="12700">
            <a:solidFill>
              <a:srgbClr val="0E2136"/>
            </a:solidFill>
            <a:prstDash val="solid"/>
          </a:ln>
          <a:effectLst>
            <a:outerShdw sx="100000" sy="100000" kx="0" ky="0" algn="bl" rotWithShape="0" blurRad="127000" dist="25400" dir="5400000">
              <a:srgbClr val="0E2136">
                <a:alpha val="10000"/>
              </a:srgbClr>
            </a:outerShdw>
          </a:effectLst>
        </p:spPr>
      </p:sp>
      <p:sp>
        <p:nvSpPr>
          <p:cNvPr id="15" name="Text 12"/>
          <p:cNvSpPr/>
          <p:nvPr/>
        </p:nvSpPr>
        <p:spPr>
          <a:xfrm>
            <a:off x="960120" y="4727448"/>
            <a:ext cx="182880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p:txBody>
      </p:sp>
      <p:sp>
        <p:nvSpPr>
          <p:cNvPr id="16" name="Text 13"/>
          <p:cNvSpPr/>
          <p:nvPr/>
        </p:nvSpPr>
        <p:spPr>
          <a:xfrm>
            <a:off x="2834640" y="4727448"/>
            <a:ext cx="8503920" cy="868680"/>
          </a:xfrm>
          <a:prstGeom prst="rect">
            <a:avLst/>
          </a:prstGeom>
          <a:noFill/>
          <a:ln/>
        </p:spPr>
        <p:txBody>
          <a:bodyPr wrap="square" lIns="0" tIns="0" rIns="0" bIns="0" rtlCol="0" anchor="ctr"/>
          <a:lstStyle/>
          <a:p>
            <a:pPr indent="0" marL="0">
              <a:buNone/>
            </a:pPr>
            <a:r>
              <a:rPr lang="en-US" sz="1250" dirty="0">
                <a:solidFill>
                  <a:srgbClr val="D5DEEE"/>
                </a:solidFill>
                <a:latin typeface="Calibri" pitchFamily="34" charset="0"/>
                <a:ea typeface="Calibri" pitchFamily="34" charset="-122"/>
                <a:cs typeface="Calibri" pitchFamily="34" charset="-120"/>
              </a:rPr>
              <a:t>MongoDB Atlas (shared)  ·  Cloudinary for media  ·  local volume for uploads</a:t>
            </a:r>
            <a:endParaRPr lang="en-US" sz="1250" dirty="0"/>
          </a:p>
        </p:txBody>
      </p:sp>
      <p:sp>
        <p:nvSpPr>
          <p:cNvPr id="17" name="Shape 14"/>
          <p:cNvSpPr/>
          <p:nvPr/>
        </p:nvSpPr>
        <p:spPr>
          <a:xfrm>
            <a:off x="640080" y="5742432"/>
            <a:ext cx="3520440" cy="566928"/>
          </a:xfrm>
          <a:prstGeom prst="roundRect">
            <a:avLst>
              <a:gd name="adj" fmla="val 1451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8" name="Text 15"/>
          <p:cNvSpPr/>
          <p:nvPr/>
        </p:nvSpPr>
        <p:spPr>
          <a:xfrm>
            <a:off x="841248" y="5742432"/>
            <a:ext cx="868680" cy="566928"/>
          </a:xfrm>
          <a:prstGeom prst="rect">
            <a:avLst/>
          </a:prstGeom>
          <a:noFill/>
          <a:ln/>
        </p:spPr>
        <p:txBody>
          <a:bodyPr wrap="square" lIns="0" tIns="0" rIns="0" bIns="0" rtlCol="0" anchor="ctr"/>
          <a:lstStyle/>
          <a:p>
            <a:pPr indent="0" marL="0">
              <a:buNone/>
            </a:pPr>
            <a:r>
              <a:rPr lang="en-US" sz="1150" b="1" dirty="0">
                <a:solidFill>
                  <a:srgbClr val="1A3884"/>
                </a:solidFill>
                <a:latin typeface="Calibri" pitchFamily="34" charset="0"/>
                <a:ea typeface="Calibri" pitchFamily="34" charset="-122"/>
                <a:cs typeface="Calibri" pitchFamily="34" charset="-120"/>
              </a:rPr>
              <a:t>Stack</a:t>
            </a:r>
            <a:endParaRPr lang="en-US" sz="1150" dirty="0"/>
          </a:p>
        </p:txBody>
      </p:sp>
      <p:sp>
        <p:nvSpPr>
          <p:cNvPr id="19" name="Text 16"/>
          <p:cNvSpPr/>
          <p:nvPr/>
        </p:nvSpPr>
        <p:spPr>
          <a:xfrm>
            <a:off x="1600200" y="5742432"/>
            <a:ext cx="246888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MERN — MongoDB, Express, React, Node.js</a:t>
            </a:r>
            <a:endParaRPr lang="en-US" sz="950" dirty="0"/>
          </a:p>
        </p:txBody>
      </p:sp>
      <p:sp>
        <p:nvSpPr>
          <p:cNvPr id="20" name="Shape 17"/>
          <p:cNvSpPr/>
          <p:nvPr/>
        </p:nvSpPr>
        <p:spPr>
          <a:xfrm>
            <a:off x="4416552" y="5742432"/>
            <a:ext cx="3520440" cy="566928"/>
          </a:xfrm>
          <a:prstGeom prst="roundRect">
            <a:avLst>
              <a:gd name="adj" fmla="val 1451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1" name="Text 18"/>
          <p:cNvSpPr/>
          <p:nvPr/>
        </p:nvSpPr>
        <p:spPr>
          <a:xfrm>
            <a:off x="4617720" y="5742432"/>
            <a:ext cx="868680" cy="566928"/>
          </a:xfrm>
          <a:prstGeom prst="rect">
            <a:avLst/>
          </a:prstGeom>
          <a:noFill/>
          <a:ln/>
        </p:spPr>
        <p:txBody>
          <a:bodyPr wrap="square" lIns="0" tIns="0" rIns="0" bIns="0" rtlCol="0" anchor="ctr"/>
          <a:lstStyle/>
          <a:p>
            <a:pPr indent="0" marL="0">
              <a:buNone/>
            </a:pPr>
            <a:r>
              <a:rPr lang="en-US" sz="1150" b="1" dirty="0">
                <a:solidFill>
                  <a:srgbClr val="1A3884"/>
                </a:solidFill>
                <a:latin typeface="Calibri" pitchFamily="34" charset="0"/>
                <a:ea typeface="Calibri" pitchFamily="34" charset="-122"/>
                <a:cs typeface="Calibri" pitchFamily="34" charset="-120"/>
              </a:rPr>
              <a:t>Security</a:t>
            </a:r>
            <a:endParaRPr lang="en-US" sz="1150" dirty="0"/>
          </a:p>
        </p:txBody>
      </p:sp>
      <p:sp>
        <p:nvSpPr>
          <p:cNvPr id="22" name="Text 19"/>
          <p:cNvSpPr/>
          <p:nvPr/>
        </p:nvSpPr>
        <p:spPr>
          <a:xfrm>
            <a:off x="5376672" y="5742432"/>
            <a:ext cx="246888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JWT, one active session per account, rate limiting, OTP login, audit logs</a:t>
            </a:r>
            <a:endParaRPr lang="en-US" sz="950" dirty="0"/>
          </a:p>
        </p:txBody>
      </p:sp>
      <p:sp>
        <p:nvSpPr>
          <p:cNvPr id="23" name="Shape 20"/>
          <p:cNvSpPr/>
          <p:nvPr/>
        </p:nvSpPr>
        <p:spPr>
          <a:xfrm>
            <a:off x="8193024" y="5742432"/>
            <a:ext cx="3520440" cy="566928"/>
          </a:xfrm>
          <a:prstGeom prst="roundRect">
            <a:avLst>
              <a:gd name="adj" fmla="val 14516"/>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4" name="Text 21"/>
          <p:cNvSpPr/>
          <p:nvPr/>
        </p:nvSpPr>
        <p:spPr>
          <a:xfrm>
            <a:off x="8394192" y="5742432"/>
            <a:ext cx="868680" cy="566928"/>
          </a:xfrm>
          <a:prstGeom prst="rect">
            <a:avLst/>
          </a:prstGeom>
          <a:noFill/>
          <a:ln/>
        </p:spPr>
        <p:txBody>
          <a:bodyPr wrap="square" lIns="0" tIns="0" rIns="0" bIns="0" rtlCol="0" anchor="ctr"/>
          <a:lstStyle/>
          <a:p>
            <a:pPr indent="0" marL="0">
              <a:buNone/>
            </a:pPr>
            <a:r>
              <a:rPr lang="en-US" sz="1150" b="1" dirty="0">
                <a:solidFill>
                  <a:srgbClr val="1A3884"/>
                </a:solidFill>
                <a:latin typeface="Calibri" pitchFamily="34" charset="0"/>
                <a:ea typeface="Calibri" pitchFamily="34" charset="-122"/>
                <a:cs typeface="Calibri" pitchFamily="34" charset="-120"/>
              </a:rPr>
              <a:t>AI</a:t>
            </a:r>
            <a:endParaRPr lang="en-US" sz="1150" dirty="0"/>
          </a:p>
        </p:txBody>
      </p:sp>
      <p:sp>
        <p:nvSpPr>
          <p:cNvPr id="25" name="Text 22"/>
          <p:cNvSpPr/>
          <p:nvPr/>
        </p:nvSpPr>
        <p:spPr>
          <a:xfrm>
            <a:off x="9153144" y="5742432"/>
            <a:ext cx="2468880" cy="56692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OpenRouter models for coaching; in-browser models for proctoring</a:t>
            </a:r>
            <a:endParaRPr lang="en-US" sz="950" dirty="0"/>
          </a:p>
        </p:txBody>
      </p:sp>
      <p:sp>
        <p:nvSpPr>
          <p:cNvPr id="26" name="Text 23"/>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27" name="Text 24"/>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DELIVERY</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How a change reaches students</a:t>
            </a:r>
            <a:endParaRPr lang="en-US" sz="3200" dirty="0"/>
          </a:p>
        </p:txBody>
      </p:sp>
      <p:sp>
        <p:nvSpPr>
          <p:cNvPr id="5" name="Text 2"/>
          <p:cNvSpPr/>
          <p:nvPr/>
        </p:nvSpPr>
        <p:spPr>
          <a:xfrm>
            <a:off x="640080" y="1481328"/>
            <a:ext cx="10881360" cy="365760"/>
          </a:xfrm>
          <a:prstGeom prst="rect">
            <a:avLst/>
          </a:prstGeom>
          <a:noFill/>
          <a:ln/>
        </p:spPr>
        <p:txBody>
          <a:bodyPr wrap="square" lIns="0" tIns="0" rIns="0" bIns="0" rtlCol="0" anchor="t"/>
          <a:lstStyle/>
          <a:p>
            <a:pPr algn="l" indent="0" marL="0">
              <a:lnSpc>
                <a:spcPct val="118000"/>
              </a:lnSpc>
              <a:buNone/>
            </a:pPr>
            <a:r>
              <a:rPr lang="en-US" sz="1400" dirty="0">
                <a:solidFill>
                  <a:srgbClr val="64748B"/>
                </a:solidFill>
                <a:latin typeface="Calibri" pitchFamily="34" charset="0"/>
                <a:ea typeface="Calibri" pitchFamily="34" charset="-122"/>
                <a:cs typeface="Calibri" pitchFamily="34" charset="-120"/>
              </a:rPr>
              <a:t>Pushing code does not put it live. Images are built automatically; a person decides when students see them.</a:t>
            </a:r>
            <a:endParaRPr lang="en-US" sz="1400" dirty="0"/>
          </a:p>
        </p:txBody>
      </p:sp>
      <p:sp>
        <p:nvSpPr>
          <p:cNvPr id="6" name="Shape 3"/>
          <p:cNvSpPr/>
          <p:nvPr/>
        </p:nvSpPr>
        <p:spPr>
          <a:xfrm>
            <a:off x="640080" y="2011680"/>
            <a:ext cx="7315200" cy="676656"/>
          </a:xfrm>
          <a:prstGeom prst="roundRect">
            <a:avLst>
              <a:gd name="adj" fmla="val 12162"/>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7" name="Shape 4"/>
          <p:cNvSpPr/>
          <p:nvPr/>
        </p:nvSpPr>
        <p:spPr>
          <a:xfrm>
            <a:off x="841248" y="2139696"/>
            <a:ext cx="420624" cy="420624"/>
          </a:xfrm>
          <a:prstGeom prst="ellipse">
            <a:avLst/>
          </a:prstGeom>
          <a:solidFill>
            <a:srgbClr val="1A3884"/>
          </a:solidFill>
          <a:ln w="12700">
            <a:solidFill>
              <a:srgbClr val="1A3884"/>
            </a:solidFill>
            <a:prstDash val="solid"/>
          </a:ln>
        </p:spPr>
      </p:sp>
      <p:sp>
        <p:nvSpPr>
          <p:cNvPr id="8" name="Text 5"/>
          <p:cNvSpPr/>
          <p:nvPr/>
        </p:nvSpPr>
        <p:spPr>
          <a:xfrm>
            <a:off x="841248" y="21396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389888" y="2011680"/>
            <a:ext cx="2011680" cy="6766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Push to main</a:t>
            </a:r>
            <a:endParaRPr lang="en-US" sz="1300" dirty="0"/>
          </a:p>
        </p:txBody>
      </p:sp>
      <p:sp>
        <p:nvSpPr>
          <p:cNvPr id="10" name="Text 7"/>
          <p:cNvSpPr/>
          <p:nvPr/>
        </p:nvSpPr>
        <p:spPr>
          <a:xfrm>
            <a:off x="3383280" y="2011680"/>
            <a:ext cx="4251960" cy="67665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developer merges. Nothing on the live site changes.</a:t>
            </a:r>
            <a:endParaRPr lang="en-US" sz="1100" dirty="0"/>
          </a:p>
        </p:txBody>
      </p:sp>
      <p:sp>
        <p:nvSpPr>
          <p:cNvPr id="11" name="Shape 8"/>
          <p:cNvSpPr/>
          <p:nvPr/>
        </p:nvSpPr>
        <p:spPr>
          <a:xfrm>
            <a:off x="640080" y="2798064"/>
            <a:ext cx="7315200" cy="676656"/>
          </a:xfrm>
          <a:prstGeom prst="roundRect">
            <a:avLst>
              <a:gd name="adj" fmla="val 12162"/>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2" name="Shape 9"/>
          <p:cNvSpPr/>
          <p:nvPr/>
        </p:nvSpPr>
        <p:spPr>
          <a:xfrm>
            <a:off x="841248" y="2926080"/>
            <a:ext cx="420624" cy="420624"/>
          </a:xfrm>
          <a:prstGeom prst="ellipse">
            <a:avLst/>
          </a:prstGeom>
          <a:solidFill>
            <a:srgbClr val="1A3884"/>
          </a:solidFill>
          <a:ln w="12700">
            <a:solidFill>
              <a:srgbClr val="1A3884"/>
            </a:solidFill>
            <a:prstDash val="solid"/>
          </a:ln>
        </p:spPr>
      </p:sp>
      <p:sp>
        <p:nvSpPr>
          <p:cNvPr id="13" name="Text 10"/>
          <p:cNvSpPr/>
          <p:nvPr/>
        </p:nvSpPr>
        <p:spPr>
          <a:xfrm>
            <a:off x="841248" y="29260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p:nvPr/>
        </p:nvSpPr>
        <p:spPr>
          <a:xfrm>
            <a:off x="1389888" y="2798064"/>
            <a:ext cx="2011680" cy="6766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Build in CI</a:t>
            </a:r>
            <a:endParaRPr lang="en-US" sz="1300" dirty="0"/>
          </a:p>
        </p:txBody>
      </p:sp>
      <p:sp>
        <p:nvSpPr>
          <p:cNvPr id="15" name="Text 12"/>
          <p:cNvSpPr/>
          <p:nvPr/>
        </p:nvSpPr>
        <p:spPr>
          <a:xfrm>
            <a:off x="3383280" y="2798064"/>
            <a:ext cx="4251960" cy="67665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GitHub Actions builds both applications and pushes the images to the registry, tagged with the exact commit.</a:t>
            </a:r>
            <a:endParaRPr lang="en-US" sz="1100" dirty="0"/>
          </a:p>
        </p:txBody>
      </p:sp>
      <p:sp>
        <p:nvSpPr>
          <p:cNvPr id="16" name="Shape 13"/>
          <p:cNvSpPr/>
          <p:nvPr/>
        </p:nvSpPr>
        <p:spPr>
          <a:xfrm>
            <a:off x="640080" y="3584448"/>
            <a:ext cx="7315200" cy="676656"/>
          </a:xfrm>
          <a:prstGeom prst="roundRect">
            <a:avLst>
              <a:gd name="adj" fmla="val 12162"/>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7" name="Shape 14"/>
          <p:cNvSpPr/>
          <p:nvPr/>
        </p:nvSpPr>
        <p:spPr>
          <a:xfrm>
            <a:off x="841248" y="3712464"/>
            <a:ext cx="420624" cy="420624"/>
          </a:xfrm>
          <a:prstGeom prst="ellipse">
            <a:avLst/>
          </a:prstGeom>
          <a:solidFill>
            <a:srgbClr val="1A3884"/>
          </a:solidFill>
          <a:ln w="12700">
            <a:solidFill>
              <a:srgbClr val="1A3884"/>
            </a:solidFill>
            <a:prstDash val="solid"/>
          </a:ln>
        </p:spPr>
      </p:sp>
      <p:sp>
        <p:nvSpPr>
          <p:cNvPr id="18" name="Text 15"/>
          <p:cNvSpPr/>
          <p:nvPr/>
        </p:nvSpPr>
        <p:spPr>
          <a:xfrm>
            <a:off x="841248" y="37124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1389888" y="3584448"/>
            <a:ext cx="2011680" cy="6766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Check the build</a:t>
            </a:r>
            <a:endParaRPr lang="en-US" sz="1300" dirty="0"/>
          </a:p>
        </p:txBody>
      </p:sp>
      <p:sp>
        <p:nvSpPr>
          <p:cNvPr id="20" name="Text 17"/>
          <p:cNvSpPr/>
          <p:nvPr/>
        </p:nvSpPr>
        <p:spPr>
          <a:xfrm>
            <a:off x="3383280" y="3584448"/>
            <a:ext cx="4251960" cy="67665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Green means it compiles and the tests pass. Red never reaches the server.</a:t>
            </a:r>
            <a:endParaRPr lang="en-US" sz="1100" dirty="0"/>
          </a:p>
        </p:txBody>
      </p:sp>
      <p:sp>
        <p:nvSpPr>
          <p:cNvPr id="21" name="Shape 18"/>
          <p:cNvSpPr/>
          <p:nvPr/>
        </p:nvSpPr>
        <p:spPr>
          <a:xfrm>
            <a:off x="640080" y="4370832"/>
            <a:ext cx="7315200" cy="676656"/>
          </a:xfrm>
          <a:prstGeom prst="roundRect">
            <a:avLst>
              <a:gd name="adj" fmla="val 12162"/>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2" name="Shape 19"/>
          <p:cNvSpPr/>
          <p:nvPr/>
        </p:nvSpPr>
        <p:spPr>
          <a:xfrm>
            <a:off x="841248" y="4498848"/>
            <a:ext cx="420624" cy="420624"/>
          </a:xfrm>
          <a:prstGeom prst="ellipse">
            <a:avLst/>
          </a:prstGeom>
          <a:solidFill>
            <a:srgbClr val="1A3884"/>
          </a:solidFill>
          <a:ln w="12700">
            <a:solidFill>
              <a:srgbClr val="1A3884"/>
            </a:solidFill>
            <a:prstDash val="solid"/>
          </a:ln>
        </p:spPr>
      </p:sp>
      <p:sp>
        <p:nvSpPr>
          <p:cNvPr id="23" name="Text 20"/>
          <p:cNvSpPr/>
          <p:nvPr/>
        </p:nvSpPr>
        <p:spPr>
          <a:xfrm>
            <a:off x="841248" y="4498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p:nvPr/>
        </p:nvSpPr>
        <p:spPr>
          <a:xfrm>
            <a:off x="1389888" y="4370832"/>
            <a:ext cx="2011680" cy="6766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Click Deploy</a:t>
            </a:r>
            <a:endParaRPr lang="en-US" sz="1300" dirty="0"/>
          </a:p>
        </p:txBody>
      </p:sp>
      <p:sp>
        <p:nvSpPr>
          <p:cNvPr id="25" name="Text 22"/>
          <p:cNvSpPr/>
          <p:nvPr/>
        </p:nvSpPr>
        <p:spPr>
          <a:xfrm>
            <a:off x="3383280" y="4370832"/>
            <a:ext cx="4251960" cy="67665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One manual workflow pulls the images onto the server and swaps the containers.</a:t>
            </a:r>
            <a:endParaRPr lang="en-US" sz="1100" dirty="0"/>
          </a:p>
        </p:txBody>
      </p:sp>
      <p:sp>
        <p:nvSpPr>
          <p:cNvPr id="26" name="Shape 23"/>
          <p:cNvSpPr/>
          <p:nvPr/>
        </p:nvSpPr>
        <p:spPr>
          <a:xfrm>
            <a:off x="640080" y="5157216"/>
            <a:ext cx="7315200" cy="676656"/>
          </a:xfrm>
          <a:prstGeom prst="roundRect">
            <a:avLst>
              <a:gd name="adj" fmla="val 12162"/>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27" name="Shape 24"/>
          <p:cNvSpPr/>
          <p:nvPr/>
        </p:nvSpPr>
        <p:spPr>
          <a:xfrm>
            <a:off x="841248" y="5285232"/>
            <a:ext cx="420624" cy="420624"/>
          </a:xfrm>
          <a:prstGeom prst="ellipse">
            <a:avLst/>
          </a:prstGeom>
          <a:solidFill>
            <a:srgbClr val="1A3884"/>
          </a:solidFill>
          <a:ln w="12700">
            <a:solidFill>
              <a:srgbClr val="1A3884"/>
            </a:solidFill>
            <a:prstDash val="solid"/>
          </a:ln>
        </p:spPr>
      </p:sp>
      <p:sp>
        <p:nvSpPr>
          <p:cNvPr id="28" name="Text 25"/>
          <p:cNvSpPr/>
          <p:nvPr/>
        </p:nvSpPr>
        <p:spPr>
          <a:xfrm>
            <a:off x="841248" y="52852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p:nvPr/>
        </p:nvSpPr>
        <p:spPr>
          <a:xfrm>
            <a:off x="1389888" y="5157216"/>
            <a:ext cx="2011680" cy="6766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Verified or rolled back</a:t>
            </a:r>
            <a:endParaRPr lang="en-US" sz="1300" dirty="0"/>
          </a:p>
        </p:txBody>
      </p:sp>
      <p:sp>
        <p:nvSpPr>
          <p:cNvPr id="30" name="Text 27"/>
          <p:cNvSpPr/>
          <p:nvPr/>
        </p:nvSpPr>
        <p:spPr>
          <a:xfrm>
            <a:off x="3383280" y="5157216"/>
            <a:ext cx="4251960" cy="67665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The deploy health-checks both sites and the database, and restores the previous version by itself if anything fails.</a:t>
            </a:r>
            <a:endParaRPr lang="en-US" sz="1100" dirty="0"/>
          </a:p>
        </p:txBody>
      </p:sp>
      <p:sp>
        <p:nvSpPr>
          <p:cNvPr id="31" name="Shape 28"/>
          <p:cNvSpPr/>
          <p:nvPr/>
        </p:nvSpPr>
        <p:spPr>
          <a:xfrm>
            <a:off x="8229600" y="2011680"/>
            <a:ext cx="3319272" cy="3840480"/>
          </a:xfrm>
          <a:prstGeom prst="roundRect">
            <a:avLst>
              <a:gd name="adj" fmla="val 2479"/>
            </a:avLst>
          </a:prstGeom>
          <a:solidFill>
            <a:srgbClr val="0E2136"/>
          </a:solidFill>
          <a:ln w="12700">
            <a:solidFill>
              <a:srgbClr val="0E2136"/>
            </a:solidFill>
            <a:prstDash val="solid"/>
          </a:ln>
          <a:effectLst>
            <a:outerShdw sx="100000" sy="100000" kx="0" ky="0" algn="bl" rotWithShape="0" blurRad="127000" dist="25400" dir="5400000">
              <a:srgbClr val="0E2136">
                <a:alpha val="10000"/>
              </a:srgbClr>
            </a:outerShdw>
          </a:effectLst>
        </p:spPr>
      </p:sp>
      <p:sp>
        <p:nvSpPr>
          <p:cNvPr id="32" name="Text 29"/>
          <p:cNvSpPr/>
          <p:nvPr/>
        </p:nvSpPr>
        <p:spPr>
          <a:xfrm>
            <a:off x="8522208" y="2240280"/>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numbers</a:t>
            </a:r>
            <a:endParaRPr lang="en-US" sz="1500" dirty="0"/>
          </a:p>
        </p:txBody>
      </p:sp>
      <p:sp>
        <p:nvSpPr>
          <p:cNvPr id="33" name="Text 30"/>
          <p:cNvSpPr/>
          <p:nvPr/>
        </p:nvSpPr>
        <p:spPr>
          <a:xfrm>
            <a:off x="8522208" y="2697480"/>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~50 sec</a:t>
            </a:r>
            <a:endParaRPr lang="en-US" sz="2400" dirty="0"/>
          </a:p>
        </p:txBody>
      </p:sp>
      <p:sp>
        <p:nvSpPr>
          <p:cNvPr id="34" name="Text 31"/>
          <p:cNvSpPr/>
          <p:nvPr/>
        </p:nvSpPr>
        <p:spPr>
          <a:xfrm>
            <a:off x="8522208" y="3063240"/>
            <a:ext cx="274320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a full deploy</a:t>
            </a:r>
            <a:endParaRPr lang="en-US" sz="1100" dirty="0"/>
          </a:p>
        </p:txBody>
      </p:sp>
      <p:sp>
        <p:nvSpPr>
          <p:cNvPr id="35" name="Text 32"/>
          <p:cNvSpPr/>
          <p:nvPr/>
        </p:nvSpPr>
        <p:spPr>
          <a:xfrm>
            <a:off x="8522208" y="3474720"/>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~30 sec</a:t>
            </a:r>
            <a:endParaRPr lang="en-US" sz="2400" dirty="0"/>
          </a:p>
        </p:txBody>
      </p:sp>
      <p:sp>
        <p:nvSpPr>
          <p:cNvPr id="36" name="Text 33"/>
          <p:cNvSpPr/>
          <p:nvPr/>
        </p:nvSpPr>
        <p:spPr>
          <a:xfrm>
            <a:off x="8522208" y="3840480"/>
            <a:ext cx="274320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of downtime</a:t>
            </a:r>
            <a:endParaRPr lang="en-US" sz="1100" dirty="0"/>
          </a:p>
        </p:txBody>
      </p:sp>
      <p:sp>
        <p:nvSpPr>
          <p:cNvPr id="37" name="Text 34"/>
          <p:cNvSpPr/>
          <p:nvPr/>
        </p:nvSpPr>
        <p:spPr>
          <a:xfrm>
            <a:off x="8522208" y="4251960"/>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20 checks</a:t>
            </a:r>
            <a:endParaRPr lang="en-US" sz="2400" dirty="0"/>
          </a:p>
        </p:txBody>
      </p:sp>
      <p:sp>
        <p:nvSpPr>
          <p:cNvPr id="38" name="Text 35"/>
          <p:cNvSpPr/>
          <p:nvPr/>
        </p:nvSpPr>
        <p:spPr>
          <a:xfrm>
            <a:off x="8522208" y="4617720"/>
            <a:ext cx="274320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before it is accepted</a:t>
            </a:r>
            <a:endParaRPr lang="en-US" sz="1100" dirty="0"/>
          </a:p>
        </p:txBody>
      </p:sp>
      <p:sp>
        <p:nvSpPr>
          <p:cNvPr id="39" name="Text 36"/>
          <p:cNvSpPr/>
          <p:nvPr/>
        </p:nvSpPr>
        <p:spPr>
          <a:xfrm>
            <a:off x="8522208" y="5029200"/>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1 click</a:t>
            </a:r>
            <a:endParaRPr lang="en-US" sz="2400" dirty="0"/>
          </a:p>
        </p:txBody>
      </p:sp>
      <p:sp>
        <p:nvSpPr>
          <p:cNvPr id="40" name="Text 37"/>
          <p:cNvSpPr/>
          <p:nvPr/>
        </p:nvSpPr>
        <p:spPr>
          <a:xfrm>
            <a:off x="8522208" y="5394960"/>
            <a:ext cx="2743200" cy="237744"/>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to roll back</a:t>
            </a:r>
            <a:endParaRPr lang="en-US" sz="1100" dirty="0"/>
          </a:p>
        </p:txBody>
      </p:sp>
      <p:sp>
        <p:nvSpPr>
          <p:cNvPr id="41" name="Text 38"/>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42" name="Text 39"/>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navy.png">    </p:cNvPr>
          <p:cNvPicPr>
            <a:picLocks noChangeAspect="1"/>
          </p:cNvPicPr>
          <p:nvPr/>
        </p:nvPicPr>
        <p:blipFill>
          <a:blip r:embed="rId1"/>
          <a:stretch>
            <a:fillRect/>
          </a:stretch>
        </p:blipFill>
        <p:spPr>
          <a:xfrm>
            <a:off x="10634472" y="384048"/>
            <a:ext cx="1143000" cy="292608"/>
          </a:xfrm>
          <a:prstGeom prst="rect">
            <a:avLst/>
          </a:prstGeom>
        </p:spPr>
      </p:pic>
      <p:sp>
        <p:nvSpPr>
          <p:cNvPr id="3" name="Text 0"/>
          <p:cNvSpPr/>
          <p:nvPr/>
        </p:nvSpPr>
        <p:spPr>
          <a:xfrm>
            <a:off x="640080" y="365760"/>
            <a:ext cx="7315200" cy="256032"/>
          </a:xfrm>
          <a:prstGeom prst="rect">
            <a:avLst/>
          </a:prstGeom>
          <a:noFill/>
          <a:ln/>
        </p:spPr>
        <p:txBody>
          <a:bodyPr wrap="square" lIns="0" tIns="0" rIns="0" bIns="0" rtlCol="0" anchor="ctr"/>
          <a:lstStyle/>
          <a:p>
            <a:pPr indent="0" marL="0">
              <a:buNone/>
            </a:pPr>
            <a:r>
              <a:rPr lang="en-US" sz="1100" b="1" spc="200" kern="0" dirty="0">
                <a:solidFill>
                  <a:srgbClr val="1A3884"/>
                </a:solidFill>
                <a:latin typeface="Calibri" pitchFamily="34" charset="0"/>
                <a:ea typeface="Calibri" pitchFamily="34" charset="-122"/>
                <a:cs typeface="Calibri" pitchFamily="34" charset="-120"/>
              </a:rPr>
              <a:t>STATUS</a:t>
            </a:r>
            <a:endParaRPr lang="en-US" sz="1100" dirty="0"/>
          </a:p>
        </p:txBody>
      </p:sp>
      <p:sp>
        <p:nvSpPr>
          <p:cNvPr id="4" name="Text 1"/>
          <p:cNvSpPr/>
          <p:nvPr/>
        </p:nvSpPr>
        <p:spPr>
          <a:xfrm>
            <a:off x="640080" y="640080"/>
            <a:ext cx="9692640" cy="658368"/>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Where the project stands today</a:t>
            </a:r>
            <a:endParaRPr lang="en-US" sz="3200" dirty="0"/>
          </a:p>
        </p:txBody>
      </p:sp>
      <p:sp>
        <p:nvSpPr>
          <p:cNvPr id="5" name="Shape 2"/>
          <p:cNvSpPr/>
          <p:nvPr/>
        </p:nvSpPr>
        <p:spPr>
          <a:xfrm>
            <a:off x="640080" y="1572768"/>
            <a:ext cx="2578608" cy="1207008"/>
          </a:xfrm>
          <a:prstGeom prst="roundRect">
            <a:avLst>
              <a:gd name="adj" fmla="val 6818"/>
            </a:avLst>
          </a:prstGeom>
          <a:solidFill>
            <a:srgbClr val="1A3884"/>
          </a:solidFill>
          <a:ln w="12700">
            <a:solidFill>
              <a:srgbClr val="1A3884"/>
            </a:solidFill>
            <a:prstDash val="solid"/>
          </a:ln>
          <a:effectLst>
            <a:outerShdw sx="100000" sy="100000" kx="0" ky="0" algn="bl" rotWithShape="0" blurRad="127000" dist="25400" dir="5400000">
              <a:srgbClr val="0E2136">
                <a:alpha val="10000"/>
              </a:srgbClr>
            </a:outerShdw>
          </a:effectLst>
        </p:spPr>
      </p:sp>
      <p:sp>
        <p:nvSpPr>
          <p:cNvPr id="6" name="Text 3"/>
          <p:cNvSpPr/>
          <p:nvPr/>
        </p:nvSpPr>
        <p:spPr>
          <a:xfrm>
            <a:off x="877824" y="1737360"/>
            <a:ext cx="2148840" cy="3474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Live</a:t>
            </a:r>
            <a:endParaRPr lang="en-US" sz="2000" dirty="0"/>
          </a:p>
        </p:txBody>
      </p:sp>
      <p:sp>
        <p:nvSpPr>
          <p:cNvPr id="7" name="Text 4"/>
          <p:cNvSpPr/>
          <p:nvPr/>
        </p:nvSpPr>
        <p:spPr>
          <a:xfrm>
            <a:off x="877824" y="2103120"/>
            <a:ext cx="2148840" cy="566928"/>
          </a:xfrm>
          <a:prstGeom prst="rect">
            <a:avLst/>
          </a:prstGeom>
          <a:noFill/>
          <a:ln/>
        </p:spPr>
        <p:txBody>
          <a:bodyPr wrap="square" lIns="0" tIns="0" rIns="0" bIns="0" rtlCol="0" anchor="t"/>
          <a:lstStyle/>
          <a:p>
            <a:pPr algn="l" indent="0" marL="0">
              <a:lnSpc>
                <a:spcPct val="112000"/>
              </a:lnSpc>
              <a:buNone/>
            </a:pPr>
            <a:r>
              <a:rPr lang="en-US" sz="1050" dirty="0">
                <a:solidFill>
                  <a:srgbClr val="D5DEEE"/>
                </a:solidFill>
                <a:latin typeface="Calibri" pitchFamily="34" charset="0"/>
                <a:ea typeface="Calibri" pitchFamily="34" charset="-122"/>
                <a:cs typeface="Calibri" pitchFamily="34" charset="-120"/>
              </a:rPr>
              <a:t>Both sites in production since 22 August 2026</a:t>
            </a:r>
            <a:endParaRPr lang="en-US" sz="1050" dirty="0"/>
          </a:p>
        </p:txBody>
      </p:sp>
      <p:sp>
        <p:nvSpPr>
          <p:cNvPr id="8" name="Shape 5"/>
          <p:cNvSpPr/>
          <p:nvPr/>
        </p:nvSpPr>
        <p:spPr>
          <a:xfrm>
            <a:off x="3438144" y="1572768"/>
            <a:ext cx="2578608" cy="1207008"/>
          </a:xfrm>
          <a:prstGeom prst="roundRect">
            <a:avLst>
              <a:gd name="adj" fmla="val 6818"/>
            </a:avLst>
          </a:prstGeom>
          <a:solidFill>
            <a:srgbClr val="1A3884"/>
          </a:solidFill>
          <a:ln w="12700">
            <a:solidFill>
              <a:srgbClr val="1A3884"/>
            </a:solidFill>
            <a:prstDash val="solid"/>
          </a:ln>
          <a:effectLst>
            <a:outerShdw sx="100000" sy="100000" kx="0" ky="0" algn="bl" rotWithShape="0" blurRad="127000" dist="25400" dir="5400000">
              <a:srgbClr val="0E2136">
                <a:alpha val="10000"/>
              </a:srgbClr>
            </a:outerShdw>
          </a:effectLst>
        </p:spPr>
      </p:sp>
      <p:sp>
        <p:nvSpPr>
          <p:cNvPr id="9" name="Text 6"/>
          <p:cNvSpPr/>
          <p:nvPr/>
        </p:nvSpPr>
        <p:spPr>
          <a:xfrm>
            <a:off x="3675888" y="1737360"/>
            <a:ext cx="2148840" cy="3474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HTTPS</a:t>
            </a:r>
            <a:endParaRPr lang="en-US" sz="2000" dirty="0"/>
          </a:p>
        </p:txBody>
      </p:sp>
      <p:sp>
        <p:nvSpPr>
          <p:cNvPr id="10" name="Text 7"/>
          <p:cNvSpPr/>
          <p:nvPr/>
        </p:nvSpPr>
        <p:spPr>
          <a:xfrm>
            <a:off x="3675888" y="2103120"/>
            <a:ext cx="2148840" cy="566928"/>
          </a:xfrm>
          <a:prstGeom prst="rect">
            <a:avLst/>
          </a:prstGeom>
          <a:noFill/>
          <a:ln/>
        </p:spPr>
        <p:txBody>
          <a:bodyPr wrap="square" lIns="0" tIns="0" rIns="0" bIns="0" rtlCol="0" anchor="t"/>
          <a:lstStyle/>
          <a:p>
            <a:pPr algn="l" indent="0" marL="0">
              <a:lnSpc>
                <a:spcPct val="112000"/>
              </a:lnSpc>
              <a:buNone/>
            </a:pPr>
            <a:r>
              <a:rPr lang="en-US" sz="1050" dirty="0">
                <a:solidFill>
                  <a:srgbClr val="D5DEEE"/>
                </a:solidFill>
                <a:latin typeface="Calibri" pitchFamily="34" charset="0"/>
                <a:ea typeface="Calibri" pitchFamily="34" charset="-122"/>
                <a:cs typeface="Calibri" pitchFamily="34" charset="-120"/>
              </a:rPr>
              <a:t>Certificates issued and renewed automatically</a:t>
            </a:r>
            <a:endParaRPr lang="en-US" sz="1050" dirty="0"/>
          </a:p>
        </p:txBody>
      </p:sp>
      <p:sp>
        <p:nvSpPr>
          <p:cNvPr id="11" name="Shape 8"/>
          <p:cNvSpPr/>
          <p:nvPr/>
        </p:nvSpPr>
        <p:spPr>
          <a:xfrm>
            <a:off x="6236208" y="1572768"/>
            <a:ext cx="2578608" cy="1207008"/>
          </a:xfrm>
          <a:prstGeom prst="roundRect">
            <a:avLst>
              <a:gd name="adj" fmla="val 6818"/>
            </a:avLst>
          </a:prstGeom>
          <a:solidFill>
            <a:srgbClr val="1A3884"/>
          </a:solidFill>
          <a:ln w="12700">
            <a:solidFill>
              <a:srgbClr val="1A3884"/>
            </a:solidFill>
            <a:prstDash val="solid"/>
          </a:ln>
          <a:effectLst>
            <a:outerShdw sx="100000" sy="100000" kx="0" ky="0" algn="bl" rotWithShape="0" blurRad="127000" dist="25400" dir="5400000">
              <a:srgbClr val="0E2136">
                <a:alpha val="10000"/>
              </a:srgbClr>
            </a:outerShdw>
          </a:effectLst>
        </p:spPr>
      </p:sp>
      <p:sp>
        <p:nvSpPr>
          <p:cNvPr id="12" name="Text 9"/>
          <p:cNvSpPr/>
          <p:nvPr/>
        </p:nvSpPr>
        <p:spPr>
          <a:xfrm>
            <a:off x="6473952" y="1737360"/>
            <a:ext cx="2148840" cy="3474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Automated</a:t>
            </a:r>
            <a:endParaRPr lang="en-US" sz="2000" dirty="0"/>
          </a:p>
        </p:txBody>
      </p:sp>
      <p:sp>
        <p:nvSpPr>
          <p:cNvPr id="13" name="Text 10"/>
          <p:cNvSpPr/>
          <p:nvPr/>
        </p:nvSpPr>
        <p:spPr>
          <a:xfrm>
            <a:off x="6473952" y="2103120"/>
            <a:ext cx="2148840" cy="566928"/>
          </a:xfrm>
          <a:prstGeom prst="rect">
            <a:avLst/>
          </a:prstGeom>
          <a:noFill/>
          <a:ln/>
        </p:spPr>
        <p:txBody>
          <a:bodyPr wrap="square" lIns="0" tIns="0" rIns="0" bIns="0" rtlCol="0" anchor="t"/>
          <a:lstStyle/>
          <a:p>
            <a:pPr algn="l" indent="0" marL="0">
              <a:lnSpc>
                <a:spcPct val="112000"/>
              </a:lnSpc>
              <a:buNone/>
            </a:pPr>
            <a:r>
              <a:rPr lang="en-US" sz="1050" dirty="0">
                <a:solidFill>
                  <a:srgbClr val="D5DEEE"/>
                </a:solidFill>
                <a:latin typeface="Calibri" pitchFamily="34" charset="0"/>
                <a:ea typeface="Calibri" pitchFamily="34" charset="-122"/>
                <a:cs typeface="Calibri" pitchFamily="34" charset="-120"/>
              </a:rPr>
              <a:t>Build, test, deploy, health check and rollback</a:t>
            </a:r>
            <a:endParaRPr lang="en-US" sz="1050" dirty="0"/>
          </a:p>
        </p:txBody>
      </p:sp>
      <p:sp>
        <p:nvSpPr>
          <p:cNvPr id="14" name="Shape 11"/>
          <p:cNvSpPr/>
          <p:nvPr/>
        </p:nvSpPr>
        <p:spPr>
          <a:xfrm>
            <a:off x="9034272" y="1572768"/>
            <a:ext cx="2578608" cy="1207008"/>
          </a:xfrm>
          <a:prstGeom prst="roundRect">
            <a:avLst>
              <a:gd name="adj" fmla="val 6818"/>
            </a:avLst>
          </a:prstGeom>
          <a:solidFill>
            <a:srgbClr val="1A3884"/>
          </a:solidFill>
          <a:ln w="12700">
            <a:solidFill>
              <a:srgbClr val="1A3884"/>
            </a:solidFill>
            <a:prstDash val="solid"/>
          </a:ln>
          <a:effectLst>
            <a:outerShdw sx="100000" sy="100000" kx="0" ky="0" algn="bl" rotWithShape="0" blurRad="127000" dist="25400" dir="5400000">
              <a:srgbClr val="0E2136">
                <a:alpha val="10000"/>
              </a:srgbClr>
            </a:outerShdw>
          </a:effectLst>
        </p:spPr>
      </p:sp>
      <p:sp>
        <p:nvSpPr>
          <p:cNvPr id="15" name="Text 12"/>
          <p:cNvSpPr/>
          <p:nvPr/>
        </p:nvSpPr>
        <p:spPr>
          <a:xfrm>
            <a:off x="9272016" y="1737360"/>
            <a:ext cx="2148840" cy="3474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Audited</a:t>
            </a:r>
            <a:endParaRPr lang="en-US" sz="2000" dirty="0"/>
          </a:p>
        </p:txBody>
      </p:sp>
      <p:sp>
        <p:nvSpPr>
          <p:cNvPr id="16" name="Text 13"/>
          <p:cNvSpPr/>
          <p:nvPr/>
        </p:nvSpPr>
        <p:spPr>
          <a:xfrm>
            <a:off x="9272016" y="2103120"/>
            <a:ext cx="2148840" cy="566928"/>
          </a:xfrm>
          <a:prstGeom prst="rect">
            <a:avLst/>
          </a:prstGeom>
          <a:noFill/>
          <a:ln/>
        </p:spPr>
        <p:txBody>
          <a:bodyPr wrap="square" lIns="0" tIns="0" rIns="0" bIns="0" rtlCol="0" anchor="t"/>
          <a:lstStyle/>
          <a:p>
            <a:pPr algn="l" indent="0" marL="0">
              <a:lnSpc>
                <a:spcPct val="112000"/>
              </a:lnSpc>
              <a:buNone/>
            </a:pPr>
            <a:r>
              <a:rPr lang="en-US" sz="1050" dirty="0">
                <a:solidFill>
                  <a:srgbClr val="D5DEEE"/>
                </a:solidFill>
                <a:latin typeface="Calibri" pitchFamily="34" charset="0"/>
                <a:ea typeface="Calibri" pitchFamily="34" charset="-122"/>
                <a:cs typeface="Calibri" pitchFamily="34" charset="-120"/>
              </a:rPr>
              <a:t>Pre-launch security review completed and remediated</a:t>
            </a:r>
            <a:endParaRPr lang="en-US" sz="1050" dirty="0"/>
          </a:p>
        </p:txBody>
      </p:sp>
      <p:sp>
        <p:nvSpPr>
          <p:cNvPr id="17" name="Shape 14"/>
          <p:cNvSpPr/>
          <p:nvPr/>
        </p:nvSpPr>
        <p:spPr>
          <a:xfrm>
            <a:off x="640080" y="2971800"/>
            <a:ext cx="5394960" cy="2880360"/>
          </a:xfrm>
          <a:prstGeom prst="roundRect">
            <a:avLst>
              <a:gd name="adj" fmla="val 2857"/>
            </a:avLst>
          </a:prstGeom>
          <a:solidFill>
            <a:srgbClr val="FFFFFF"/>
          </a:solidFill>
          <a:ln w="12700">
            <a:solidFill>
              <a:srgbClr val="E2E8F0"/>
            </a:solidFill>
            <a:prstDash val="solid"/>
          </a:ln>
          <a:effectLst>
            <a:outerShdw sx="100000" sy="100000" kx="0" ky="0" algn="bl" rotWithShape="0" blurRad="127000" dist="25400" dir="5400000">
              <a:srgbClr val="0E2136">
                <a:alpha val="10000"/>
              </a:srgbClr>
            </a:outerShdw>
          </a:effectLst>
        </p:spPr>
      </p:sp>
      <p:sp>
        <p:nvSpPr>
          <p:cNvPr id="18" name="Text 15"/>
          <p:cNvSpPr/>
          <p:nvPr/>
        </p:nvSpPr>
        <p:spPr>
          <a:xfrm>
            <a:off x="932688" y="3182112"/>
            <a:ext cx="475488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Built and running</a:t>
            </a:r>
            <a:endParaRPr lang="en-US" sz="1600" dirty="0"/>
          </a:p>
        </p:txBody>
      </p:sp>
      <p:sp>
        <p:nvSpPr>
          <p:cNvPr id="19" name="Text 16"/>
          <p:cNvSpPr/>
          <p:nvPr/>
        </p:nvSpPr>
        <p:spPr>
          <a:xfrm>
            <a:off x="932688" y="3566160"/>
            <a:ext cx="4846320" cy="2194560"/>
          </a:xfrm>
          <a:prstGeom prst="rect">
            <a:avLst/>
          </a:prstGeom>
          <a:noFill/>
          <a:ln/>
        </p:spPr>
        <p:txBody>
          <a:bodyPr wrap="square" lIns="0" tIns="0" rIns="0" bIns="0" rtlCol="0" anchor="ctr"/>
          <a:lstStyle/>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Registration, OTP login and the full student profile</a:t>
            </a:r>
            <a:endParaRPr lang="en-US" sz="1150" dirty="0"/>
          </a:p>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Baseline and stage assessments with AI proctoring</a:t>
            </a:r>
            <a:endParaRPr lang="en-US" sz="1150" dirty="0"/>
          </a:p>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The complete course catalogue, player and progress engine</a:t>
            </a:r>
            <a:endParaRPr lang="en-US" sz="1150" dirty="0"/>
          </a:p>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Placement, job fairs and the applicant pipeline</a:t>
            </a:r>
            <a:endParaRPr lang="en-US" sz="1150" dirty="0"/>
          </a:p>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Community, groups, moderation, tickets and grievances</a:t>
            </a:r>
            <a:endParaRPr lang="en-US" sz="1150" dirty="0"/>
          </a:p>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Skills passport, badges, certificates and public verification</a:t>
            </a:r>
            <a:endParaRPr lang="en-US" sz="1150" dirty="0"/>
          </a:p>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College, student and platform analytics</a:t>
            </a:r>
            <a:endParaRPr lang="en-US" sz="1150" dirty="0"/>
          </a:p>
          <a:p>
            <a:pPr marL="342900" indent="-342900">
              <a:lnSpc>
                <a:spcPct val="115000"/>
              </a:lnSpc>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Containerised hosting with automated deployment</a:t>
            </a:r>
            <a:endParaRPr lang="en-US" sz="1150" dirty="0"/>
          </a:p>
        </p:txBody>
      </p:sp>
      <p:sp>
        <p:nvSpPr>
          <p:cNvPr id="20" name="Shape 17"/>
          <p:cNvSpPr/>
          <p:nvPr/>
        </p:nvSpPr>
        <p:spPr>
          <a:xfrm>
            <a:off x="6355080" y="2971800"/>
            <a:ext cx="5193792" cy="2880360"/>
          </a:xfrm>
          <a:prstGeom prst="roundRect">
            <a:avLst>
              <a:gd name="adj" fmla="val 2857"/>
            </a:avLst>
          </a:prstGeom>
          <a:solidFill>
            <a:srgbClr val="EEF2FB"/>
          </a:solidFill>
          <a:ln w="12700">
            <a:solidFill>
              <a:srgbClr val="D3DEF3"/>
            </a:solidFill>
            <a:prstDash val="solid"/>
          </a:ln>
          <a:effectLst>
            <a:outerShdw sx="100000" sy="100000" kx="0" ky="0" algn="bl" rotWithShape="0" blurRad="127000" dist="25400" dir="5400000">
              <a:srgbClr val="0E2136">
                <a:alpha val="10000"/>
              </a:srgbClr>
            </a:outerShdw>
          </a:effectLst>
        </p:spPr>
      </p:sp>
      <p:sp>
        <p:nvSpPr>
          <p:cNvPr id="21" name="Text 18"/>
          <p:cNvSpPr/>
          <p:nvPr/>
        </p:nvSpPr>
        <p:spPr>
          <a:xfrm>
            <a:off x="6647688" y="3182112"/>
            <a:ext cx="457200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Next on the roadmap</a:t>
            </a:r>
            <a:endParaRPr lang="en-US" sz="1600" dirty="0"/>
          </a:p>
        </p:txBody>
      </p:sp>
      <p:sp>
        <p:nvSpPr>
          <p:cNvPr id="22" name="Text 19"/>
          <p:cNvSpPr/>
          <p:nvPr/>
        </p:nvSpPr>
        <p:spPr>
          <a:xfrm>
            <a:off x="6647688" y="3566160"/>
            <a:ext cx="4663440" cy="146304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The mobile application, already scaffolded in the repository</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Deeper career-intelligence reporting for colleges</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Wider automated end-to-end test coverage before each release</a:t>
            </a:r>
            <a:endParaRPr lang="en-US" sz="1150" dirty="0"/>
          </a:p>
          <a:p>
            <a:pPr marL="342900" indent="-342900">
              <a:lnSpc>
                <a:spcPct val="115000"/>
              </a:lnSpc>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Scaling the single server to multiple instances as intake grows</a:t>
            </a:r>
            <a:endParaRPr lang="en-US" sz="1150" dirty="0"/>
          </a:p>
        </p:txBody>
      </p:sp>
      <p:sp>
        <p:nvSpPr>
          <p:cNvPr id="23" name="Text 20"/>
          <p:cNvSpPr/>
          <p:nvPr/>
        </p:nvSpPr>
        <p:spPr>
          <a:xfrm>
            <a:off x="6647688" y="5257800"/>
            <a:ext cx="4663440" cy="365760"/>
          </a:xfrm>
          <a:prstGeom prst="rect">
            <a:avLst/>
          </a:prstGeom>
          <a:noFill/>
          <a:ln/>
        </p:spPr>
        <p:txBody>
          <a:bodyPr wrap="square" lIns="0" tIns="0" rIns="0" bIns="0" rtlCol="0" anchor="t"/>
          <a:lstStyle/>
          <a:p>
            <a:pPr algn="l" indent="0" marL="0">
              <a:lnSpc>
                <a:spcPct val="118000"/>
              </a:lnSpc>
              <a:buNone/>
            </a:pPr>
            <a:r>
              <a:rPr lang="en-US" sz="1150" b="1" dirty="0">
                <a:solidFill>
                  <a:srgbClr val="1A3884"/>
                </a:solidFill>
                <a:latin typeface="Calibri" pitchFamily="34" charset="0"/>
                <a:ea typeface="Calibri" pitchFamily="34" charset="-122"/>
                <a:cs typeface="Calibri" pitchFamily="34" charset="-120"/>
              </a:rPr>
              <a:t>Nothing on this list blocks a college from going live today.</a:t>
            </a:r>
            <a:endParaRPr lang="en-US" sz="1150" dirty="0"/>
          </a:p>
        </p:txBody>
      </p:sp>
      <p:sp>
        <p:nvSpPr>
          <p:cNvPr id="24" name="Text 21"/>
          <p:cNvSpPr/>
          <p:nvPr/>
        </p:nvSpPr>
        <p:spPr>
          <a:xfrm>
            <a:off x="640080" y="6355080"/>
            <a:ext cx="54864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SMAART Institute  ·  Platform Overview</a:t>
            </a:r>
            <a:endParaRPr lang="en-US" sz="900" dirty="0"/>
          </a:p>
        </p:txBody>
      </p:sp>
      <p:sp>
        <p:nvSpPr>
          <p:cNvPr id="25" name="Text 22"/>
          <p:cNvSpPr/>
          <p:nvPr/>
        </p:nvSpPr>
        <p:spPr>
          <a:xfrm>
            <a:off x="10972800" y="6355080"/>
            <a:ext cx="576072"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2136"/>
        </a:solidFill>
      </p:bgPr>
    </p:bg>
    <p:spTree>
      <p:nvGrpSpPr>
        <p:cNvPr id="1" name=""/>
        <p:cNvGrpSpPr/>
        <p:nvPr/>
      </p:nvGrpSpPr>
      <p:grpSpPr>
        <a:xfrm>
          <a:off x="0" y="0"/>
          <a:ext cx="0" cy="0"/>
          <a:chOff x="0" y="0"/>
          <a:chExt cx="0" cy="0"/>
        </a:xfrm>
      </p:grpSpPr>
      <p:pic>
        <p:nvPicPr>
          <p:cNvPr id="2" name="Image 0" descr="/home/user/SMAART-INSTITUE-USERDASHBOARD/My Project Document/assets/smaart-logo-white.png">    </p:cNvPr>
          <p:cNvPicPr>
            <a:picLocks noChangeAspect="1"/>
          </p:cNvPicPr>
          <p:nvPr/>
        </p:nvPicPr>
        <p:blipFill>
          <a:blip r:embed="rId1"/>
          <a:stretch>
            <a:fillRect/>
          </a:stretch>
        </p:blipFill>
        <p:spPr>
          <a:xfrm>
            <a:off x="822960" y="2103120"/>
            <a:ext cx="3291840" cy="841248"/>
          </a:xfrm>
          <a:prstGeom prst="rect">
            <a:avLst/>
          </a:prstGeom>
        </p:spPr>
      </p:pic>
      <p:sp>
        <p:nvSpPr>
          <p:cNvPr id="3" name="Text 0"/>
          <p:cNvSpPr/>
          <p:nvPr/>
        </p:nvSpPr>
        <p:spPr>
          <a:xfrm>
            <a:off x="822960" y="3154680"/>
            <a:ext cx="7498080" cy="822960"/>
          </a:xfrm>
          <a:prstGeom prst="rect">
            <a:avLst/>
          </a:prstGeom>
          <a:noFill/>
          <a:ln/>
        </p:spPr>
        <p:txBody>
          <a:bodyPr wrap="square" lIns="0" tIns="0" rIns="0" bIns="0" rtlCol="0" anchor="ctr"/>
          <a:lstStyle/>
          <a:p>
            <a:pPr indent="0" marL="0">
              <a:lnSpc>
                <a:spcPct val="112000"/>
              </a:lnSpc>
              <a:buNone/>
            </a:pPr>
            <a:r>
              <a:rPr lang="en-US" sz="2700" b="1" dirty="0">
                <a:solidFill>
                  <a:srgbClr val="FFFFFF"/>
                </a:solidFill>
                <a:latin typeface="Calibri" pitchFamily="34" charset="0"/>
                <a:ea typeface="Calibri" pitchFamily="34" charset="-122"/>
                <a:cs typeface="Calibri" pitchFamily="34" charset="-120"/>
              </a:rPr>
              <a:t>One student record, from first login to first offer.</a:t>
            </a:r>
            <a:endParaRPr lang="en-US" sz="2700" dirty="0"/>
          </a:p>
        </p:txBody>
      </p:sp>
      <p:sp>
        <p:nvSpPr>
          <p:cNvPr id="4" name="Text 1"/>
          <p:cNvSpPr/>
          <p:nvPr/>
        </p:nvSpPr>
        <p:spPr>
          <a:xfrm>
            <a:off x="822960" y="4069080"/>
            <a:ext cx="5486400" cy="365760"/>
          </a:xfrm>
          <a:prstGeom prst="rect">
            <a:avLst/>
          </a:prstGeom>
          <a:noFill/>
          <a:ln/>
        </p:spPr>
        <p:txBody>
          <a:bodyPr wrap="square" lIns="0" tIns="0" rIns="0" bIns="0" rtlCol="0" anchor="ctr"/>
          <a:lstStyle/>
          <a:p>
            <a:pPr indent="0" marL="0">
              <a:buNone/>
            </a:pPr>
            <a:r>
              <a:rPr lang="en-US" sz="1500" dirty="0">
                <a:solidFill>
                  <a:srgbClr val="8FA3BF"/>
                </a:solidFill>
                <a:latin typeface="Calibri" pitchFamily="34" charset="0"/>
                <a:ea typeface="Calibri" pitchFamily="34" charset="-122"/>
                <a:cs typeface="Calibri" pitchFamily="34" charset="-120"/>
              </a:rPr>
              <a:t>Thank you.</a:t>
            </a:r>
            <a:endParaRPr lang="en-US" sz="1500" dirty="0"/>
          </a:p>
        </p:txBody>
      </p:sp>
      <p:sp>
        <p:nvSpPr>
          <p:cNvPr id="5" name="Shape 2"/>
          <p:cNvSpPr/>
          <p:nvPr/>
        </p:nvSpPr>
        <p:spPr>
          <a:xfrm>
            <a:off x="8138160" y="2103120"/>
            <a:ext cx="3410712" cy="2331720"/>
          </a:xfrm>
          <a:prstGeom prst="roundRect">
            <a:avLst>
              <a:gd name="adj" fmla="val 3529"/>
            </a:avLst>
          </a:prstGeom>
          <a:solidFill>
            <a:srgbClr val="002147"/>
          </a:solidFill>
          <a:ln w="12700">
            <a:solidFill>
              <a:srgbClr val="1E3A5F"/>
            </a:solidFill>
            <a:prstDash val="solid"/>
          </a:ln>
        </p:spPr>
      </p:sp>
      <p:sp>
        <p:nvSpPr>
          <p:cNvPr id="6" name="Text 3"/>
          <p:cNvSpPr/>
          <p:nvPr/>
        </p:nvSpPr>
        <p:spPr>
          <a:xfrm>
            <a:off x="8430768" y="2331720"/>
            <a:ext cx="2834640" cy="256032"/>
          </a:xfrm>
          <a:prstGeom prst="rect">
            <a:avLst/>
          </a:prstGeom>
          <a:noFill/>
          <a:ln/>
        </p:spPr>
        <p:txBody>
          <a:bodyPr wrap="square" lIns="0" tIns="0" rIns="0" bIns="0" rtlCol="0" anchor="ctr"/>
          <a:lstStyle/>
          <a:p>
            <a:pPr indent="0" marL="0">
              <a:buNone/>
            </a:pPr>
            <a:r>
              <a:rPr lang="en-US" sz="1100" b="1" spc="200" kern="0" dirty="0">
                <a:solidFill>
                  <a:srgbClr val="7FA0D8"/>
                </a:solidFill>
                <a:latin typeface="Calibri" pitchFamily="34" charset="0"/>
                <a:ea typeface="Calibri" pitchFamily="34" charset="-122"/>
                <a:cs typeface="Calibri" pitchFamily="34" charset="-120"/>
              </a:rPr>
              <a:t>Visit</a:t>
            </a:r>
            <a:endParaRPr lang="en-US" sz="1100" dirty="0"/>
          </a:p>
        </p:txBody>
      </p:sp>
      <p:sp>
        <p:nvSpPr>
          <p:cNvPr id="7" name="Text 4"/>
          <p:cNvSpPr/>
          <p:nvPr/>
        </p:nvSpPr>
        <p:spPr>
          <a:xfrm>
            <a:off x="8430768" y="2651760"/>
            <a:ext cx="29260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smaartinstitute.com</a:t>
            </a:r>
            <a:endParaRPr lang="en-US" sz="1500" dirty="0"/>
          </a:p>
        </p:txBody>
      </p:sp>
      <p:sp>
        <p:nvSpPr>
          <p:cNvPr id="8" name="Text 5"/>
          <p:cNvSpPr/>
          <p:nvPr/>
        </p:nvSpPr>
        <p:spPr>
          <a:xfrm>
            <a:off x="8430768" y="2926080"/>
            <a:ext cx="2926080" cy="237744"/>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Students, coaches and recruiters</a:t>
            </a:r>
            <a:endParaRPr lang="en-US" sz="1050" dirty="0"/>
          </a:p>
        </p:txBody>
      </p:sp>
      <p:sp>
        <p:nvSpPr>
          <p:cNvPr id="9" name="Text 6"/>
          <p:cNvSpPr/>
          <p:nvPr/>
        </p:nvSpPr>
        <p:spPr>
          <a:xfrm>
            <a:off x="8430768" y="3383280"/>
            <a:ext cx="29260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admin.smaartinstitute.com</a:t>
            </a:r>
            <a:endParaRPr lang="en-US" sz="1500" dirty="0"/>
          </a:p>
        </p:txBody>
      </p:sp>
      <p:sp>
        <p:nvSpPr>
          <p:cNvPr id="10" name="Text 7"/>
          <p:cNvSpPr/>
          <p:nvPr/>
        </p:nvSpPr>
        <p:spPr>
          <a:xfrm>
            <a:off x="8430768" y="3657600"/>
            <a:ext cx="2926080" cy="237744"/>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Colleges and the platform team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SMAART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SMAART Institute — Platform Overview</dc:title>
  <dc:subject>PptxGenJS Presentation</dc:subject>
  <dc:creator>SMAART Institute</dc:creator>
  <cp:lastModifiedBy>SMAART Institute</cp:lastModifiedBy>
  <cp:revision>1</cp:revision>
  <dcterms:created xsi:type="dcterms:W3CDTF">2026-08-24T01:34:59Z</dcterms:created>
  <dcterms:modified xsi:type="dcterms:W3CDTF">2026-08-24T01:34:59Z</dcterms:modified>
</cp:coreProperties>
</file>